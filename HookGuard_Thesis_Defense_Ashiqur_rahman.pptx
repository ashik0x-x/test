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71" r:id="rId6"/>
    <p:sldId id="260" r:id="rId7"/>
    <p:sldId id="261" r:id="rId8"/>
    <p:sldId id="272" r:id="rId9"/>
    <p:sldId id="262" r:id="rId10"/>
    <p:sldId id="263" r:id="rId11"/>
    <p:sldId id="277" r:id="rId12"/>
    <p:sldId id="264" r:id="rId13"/>
    <p:sldId id="273" r:id="rId14"/>
    <p:sldId id="265" r:id="rId15"/>
    <p:sldId id="274" r:id="rId16"/>
    <p:sldId id="275" r:id="rId17"/>
    <p:sldId id="266" r:id="rId18"/>
    <p:sldId id="276" r:id="rId19"/>
    <p:sldId id="267" r:id="rId20"/>
    <p:sldId id="268" r:id="rId21"/>
    <p:sldId id="269" r:id="rId22"/>
    <p:sldId id="270" r:id="rId2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5" d="100"/>
          <a:sy n="55" d="100"/>
        </p:scale>
        <p:origin x="65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Detection (TPR)</c:v>
                </c:pt>
              </c:strCache>
            </c:strRef>
          </c:tx>
          <c:spPr>
            <a:solidFill>
              <a:srgbClr val="1200FF"/>
            </a:solidFill>
          </c:spPr>
          <c:invertIfNegative val="1"/>
          <c:dLbls>
            <c:numFmt formatCode="0.0%" sourceLinked="0"/>
            <c:spPr>
              <a:noFill/>
              <a:ln>
                <a:noFill/>
              </a:ln>
              <a:effectLst/>
            </c:spPr>
            <c:txPr>
              <a:bodyPr/>
              <a:lstStyle/>
              <a:p>
                <a:pPr>
                  <a:defRPr sz="1050">
                    <a:solidFill>
                      <a:srgbClr val="10101B"/>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Shell only</c:v>
                </c:pt>
                <c:pt idx="1">
                  <c:v>ML only</c:v>
                </c:pt>
                <c:pt idx="2">
                  <c:v>Shell + ML</c:v>
                </c:pt>
                <c:pt idx="3">
                  <c:v>Full pipeline</c:v>
                </c:pt>
              </c:strCache>
            </c:strRef>
          </c:cat>
          <c:val>
            <c:numRef>
              <c:f>Sheet1!$B$2:$B$5</c:f>
              <c:numCache>
                <c:formatCode>General</c:formatCode>
                <c:ptCount val="4"/>
                <c:pt idx="0">
                  <c:v>0.4</c:v>
                </c:pt>
                <c:pt idx="1">
                  <c:v>0.6</c:v>
                </c:pt>
                <c:pt idx="2">
                  <c:v>0.6</c:v>
                </c:pt>
                <c:pt idx="3">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E31-4FE6-9B68-70D513F38B32}"/>
            </c:ext>
          </c:extLst>
        </c:ser>
        <c:ser>
          <c:idx val="1"/>
          <c:order val="1"/>
          <c:tx>
            <c:strRef>
              <c:f>Sheet1!$C$1</c:f>
              <c:strCache>
                <c:ptCount val="1"/>
                <c:pt idx="0">
                  <c:v>False positives (FPR)</c:v>
                </c:pt>
              </c:strCache>
            </c:strRef>
          </c:tx>
          <c:spPr>
            <a:solidFill>
              <a:srgbClr val="D95D45"/>
            </a:solidFill>
          </c:spPr>
          <c:invertIfNegative val="1"/>
          <c:dLbls>
            <c:numFmt formatCode="0.0%" sourceLinked="0"/>
            <c:spPr>
              <a:noFill/>
              <a:ln>
                <a:noFill/>
              </a:ln>
              <a:effectLst/>
            </c:spPr>
            <c:txPr>
              <a:bodyPr/>
              <a:lstStyle/>
              <a:p>
                <a:pPr>
                  <a:defRPr sz="1050">
                    <a:solidFill>
                      <a:srgbClr val="10101B"/>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Shell only</c:v>
                </c:pt>
                <c:pt idx="1">
                  <c:v>ML only</c:v>
                </c:pt>
                <c:pt idx="2">
                  <c:v>Shell + ML</c:v>
                </c:pt>
                <c:pt idx="3">
                  <c:v>Full pipeline</c:v>
                </c:pt>
              </c:strCache>
            </c:strRef>
          </c:cat>
          <c:val>
            <c:numRef>
              <c:f>Sheet1!$C$2:$C$5</c:f>
              <c:numCache>
                <c:formatCode>General</c:formatCode>
                <c:ptCount val="4"/>
                <c:pt idx="0">
                  <c:v>0.64300000000000002</c:v>
                </c:pt>
                <c:pt idx="1">
                  <c:v>0</c:v>
                </c:pt>
                <c:pt idx="2">
                  <c:v>0.64300000000000002</c:v>
                </c:pt>
                <c:pt idx="3">
                  <c:v>7.0999999999999994E-2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E31-4FE6-9B68-70D513F38B32}"/>
            </c:ext>
          </c:extLst>
        </c:ser>
        <c:dLbls>
          <c:dLblPos val="outEnd"/>
          <c:showLegendKey val="0"/>
          <c:showVal val="1"/>
          <c:showCatName val="0"/>
          <c:showSerName val="0"/>
          <c:showPercent val="0"/>
          <c:showBubbleSize val="0"/>
        </c:dLbls>
        <c:gapWidth val="70"/>
        <c:overlap val="-8"/>
        <c:axId val="-2068027336"/>
        <c:axId val="-2113994440"/>
      </c:barChart>
      <c:catAx>
        <c:axId val="-2068027336"/>
        <c:scaling>
          <c:orientation val="minMax"/>
        </c:scaling>
        <c:delete val="0"/>
        <c:axPos val="b"/>
        <c:numFmt formatCode="General" sourceLinked="0"/>
        <c:majorTickMark val="none"/>
        <c:minorTickMark val="none"/>
        <c:tickLblPos val="nextTo"/>
        <c:spPr>
          <a:ln w="10160">
            <a:solidFill>
              <a:srgbClr val="E1E3F0"/>
            </a:solidFill>
          </a:ln>
        </c:spPr>
        <c:txPr>
          <a:bodyPr/>
          <a:lstStyle/>
          <a:p>
            <a:pPr>
              <a:defRPr sz="1150">
                <a:solidFill>
                  <a:srgbClr val="10101B"/>
                </a:solidFill>
                <a:latin typeface="Arial"/>
              </a:defRPr>
            </a:pPr>
            <a:endParaRPr lang="en-US"/>
          </a:p>
        </c:txPr>
        <c:crossAx val="-2113994440"/>
        <c:crosses val="autoZero"/>
        <c:auto val="1"/>
        <c:lblAlgn val="ctr"/>
        <c:lblOffset val="100"/>
        <c:noMultiLvlLbl val="0"/>
      </c:catAx>
      <c:valAx>
        <c:axId val="-2113994440"/>
        <c:scaling>
          <c:orientation val="minMax"/>
          <c:max val="1"/>
          <c:min val="0"/>
        </c:scaling>
        <c:delete val="0"/>
        <c:axPos val="l"/>
        <c:majorGridlines>
          <c:spPr>
            <a:ln w="8255">
              <a:solidFill>
                <a:srgbClr val="E1E3F0"/>
              </a:solidFill>
            </a:ln>
          </c:spPr>
        </c:majorGridlines>
        <c:numFmt formatCode="0%" sourceLinked="0"/>
        <c:majorTickMark val="out"/>
        <c:minorTickMark val="none"/>
        <c:tickLblPos val="nextTo"/>
        <c:spPr>
          <a:ln>
            <a:solidFill>
              <a:srgbClr val="E1E3F0"/>
            </a:solidFill>
          </a:ln>
        </c:spPr>
        <c:txPr>
          <a:bodyPr/>
          <a:lstStyle/>
          <a:p>
            <a:pPr>
              <a:defRPr sz="1100">
                <a:solidFill>
                  <a:srgbClr val="4A4A5C"/>
                </a:solidFill>
                <a:latin typeface="Arial"/>
              </a:defRPr>
            </a:pPr>
            <a:endParaRPr lang="en-US"/>
          </a:p>
        </c:txPr>
        <c:crossAx val="-2068027336"/>
        <c:crosses val="autoZero"/>
        <c:crossBetween val="between"/>
        <c:majorUnit val="0.2"/>
      </c:valAx>
    </c:plotArea>
    <c:legend>
      <c:legendPos val="t"/>
      <c:overlay val="0"/>
      <c:txPr>
        <a:bodyPr/>
        <a:lstStyle/>
        <a:p>
          <a:pPr>
            <a:defRPr sz="1150">
              <a:latin typeface="Arial"/>
            </a:defRPr>
          </a:pPr>
          <a:endParaRPr lang="en-US"/>
        </a:p>
      </c:txPr>
    </c:legend>
    <c:plotVisOnly val="1"/>
    <c:dispBlanksAs val="gap"/>
    <c:showDLblsOverMax val="1"/>
  </c:chart>
  <c:txPr>
    <a:bodyPr/>
    <a:lstStyle/>
    <a:p>
      <a:pPr>
        <a:defRPr sz="1200">
          <a:solidFill>
            <a:srgbClr val="4A4A5C"/>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Recall</c:v>
                </c:pt>
              </c:strCache>
            </c:strRef>
          </c:tx>
          <c:spPr>
            <a:solidFill>
              <a:srgbClr val="4A4A5C"/>
            </a:solidFill>
          </c:spPr>
          <c:invertIfNegative val="1"/>
          <c:dPt>
            <c:idx val="0"/>
            <c:invertIfNegative val="1"/>
            <c:bubble3D val="0"/>
            <c:extLst>
              <c:ext xmlns:c16="http://schemas.microsoft.com/office/drawing/2014/chart" uri="{C3380CC4-5D6E-409C-BE32-E72D297353CC}">
                <c16:uniqueId val="{00000001-42E3-4019-AFD9-91BA63425251}"/>
              </c:ext>
            </c:extLst>
          </c:dPt>
          <c:dPt>
            <c:idx val="1"/>
            <c:invertIfNegative val="1"/>
            <c:bubble3D val="0"/>
            <c:spPr>
              <a:solidFill>
                <a:srgbClr val="D95D45"/>
              </a:solidFill>
            </c:spPr>
            <c:extLst>
              <c:ext xmlns:c16="http://schemas.microsoft.com/office/drawing/2014/chart" uri="{C3380CC4-5D6E-409C-BE32-E72D297353CC}">
                <c16:uniqueId val="{00000003-42E3-4019-AFD9-91BA63425251}"/>
              </c:ext>
            </c:extLst>
          </c:dPt>
          <c:dPt>
            <c:idx val="2"/>
            <c:invertIfNegative val="1"/>
            <c:bubble3D val="0"/>
            <c:spPr>
              <a:solidFill>
                <a:srgbClr val="1200FF"/>
              </a:solidFill>
            </c:spPr>
            <c:extLst>
              <c:ext xmlns:c16="http://schemas.microsoft.com/office/drawing/2014/chart" uri="{C3380CC4-5D6E-409C-BE32-E72D297353CC}">
                <c16:uniqueId val="{00000005-42E3-4019-AFD9-91BA63425251}"/>
              </c:ext>
            </c:extLst>
          </c:dPt>
          <c:dLbls>
            <c:numFmt formatCode="0.0%" sourceLinked="0"/>
            <c:spPr>
              <a:noFill/>
              <a:ln>
                <a:noFill/>
              </a:ln>
              <a:effectLst/>
            </c:spPr>
            <c:txPr>
              <a:bodyPr/>
              <a:lstStyle/>
              <a:p>
                <a:pPr>
                  <a:defRPr sz="1050">
                    <a:solidFill>
                      <a:srgbClr val="10101B"/>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GuardDog
originals (26)</c:v>
                </c:pt>
                <c:pt idx="1">
                  <c:v>GuardDog
mutants (78)</c:v>
                </c:pt>
                <c:pt idx="2">
                  <c:v>HookGuard
mutants (78)</c:v>
                </c:pt>
              </c:strCache>
            </c:strRef>
          </c:cat>
          <c:val>
            <c:numRef>
              <c:f>Sheet1!$B$2:$B$4</c:f>
              <c:numCache>
                <c:formatCode>General</c:formatCode>
                <c:ptCount val="3"/>
                <c:pt idx="0">
                  <c:v>0.61499999999999999</c:v>
                </c:pt>
                <c:pt idx="1">
                  <c:v>0.23100000000000001</c:v>
                </c:pt>
                <c:pt idx="2">
                  <c:v>0.98699999999999999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42E3-4019-AFD9-91BA63425251}"/>
            </c:ext>
          </c:extLst>
        </c:ser>
        <c:dLbls>
          <c:dLblPos val="outEnd"/>
          <c:showLegendKey val="0"/>
          <c:showVal val="1"/>
          <c:showCatName val="0"/>
          <c:showSerName val="0"/>
          <c:showPercent val="0"/>
          <c:showBubbleSize val="0"/>
        </c:dLbls>
        <c:gapWidth val="70"/>
        <c:overlap val="-8"/>
        <c:axId val="-2068027336"/>
        <c:axId val="-2113994440"/>
      </c:barChart>
      <c:catAx>
        <c:axId val="-2068027336"/>
        <c:scaling>
          <c:orientation val="minMax"/>
        </c:scaling>
        <c:delete val="0"/>
        <c:axPos val="b"/>
        <c:numFmt formatCode="General" sourceLinked="0"/>
        <c:majorTickMark val="none"/>
        <c:minorTickMark val="none"/>
        <c:tickLblPos val="nextTo"/>
        <c:spPr>
          <a:ln w="10160">
            <a:solidFill>
              <a:srgbClr val="E1E3F0"/>
            </a:solidFill>
          </a:ln>
        </c:spPr>
        <c:txPr>
          <a:bodyPr/>
          <a:lstStyle/>
          <a:p>
            <a:pPr>
              <a:defRPr sz="1150">
                <a:solidFill>
                  <a:srgbClr val="10101B"/>
                </a:solidFill>
                <a:latin typeface="Arial"/>
              </a:defRPr>
            </a:pPr>
            <a:endParaRPr lang="en-US"/>
          </a:p>
        </c:txPr>
        <c:crossAx val="-2113994440"/>
        <c:crosses val="autoZero"/>
        <c:auto val="1"/>
        <c:lblAlgn val="ctr"/>
        <c:lblOffset val="100"/>
        <c:noMultiLvlLbl val="0"/>
      </c:catAx>
      <c:valAx>
        <c:axId val="-2113994440"/>
        <c:scaling>
          <c:orientation val="minMax"/>
          <c:max val="1"/>
          <c:min val="0"/>
        </c:scaling>
        <c:delete val="0"/>
        <c:axPos val="l"/>
        <c:majorGridlines>
          <c:spPr>
            <a:ln w="8255">
              <a:solidFill>
                <a:srgbClr val="E1E3F0"/>
              </a:solidFill>
            </a:ln>
          </c:spPr>
        </c:majorGridlines>
        <c:numFmt formatCode="0%" sourceLinked="0"/>
        <c:majorTickMark val="out"/>
        <c:minorTickMark val="none"/>
        <c:tickLblPos val="nextTo"/>
        <c:spPr>
          <a:ln>
            <a:solidFill>
              <a:srgbClr val="E1E3F0"/>
            </a:solidFill>
          </a:ln>
        </c:spPr>
        <c:txPr>
          <a:bodyPr/>
          <a:lstStyle/>
          <a:p>
            <a:pPr>
              <a:defRPr sz="1100">
                <a:solidFill>
                  <a:srgbClr val="4A4A5C"/>
                </a:solidFill>
                <a:latin typeface="Arial"/>
              </a:defRPr>
            </a:pPr>
            <a:endParaRPr lang="en-US"/>
          </a:p>
        </c:txPr>
        <c:crossAx val="-2068027336"/>
        <c:crosses val="autoZero"/>
        <c:crossBetween val="between"/>
        <c:majorUnit val="0.2"/>
      </c:valAx>
    </c:plotArea>
    <c:plotVisOnly val="1"/>
    <c:dispBlanksAs val="gap"/>
    <c:showDLblsOverMax val="1"/>
  </c:chart>
  <c:txPr>
    <a:bodyPr/>
    <a:lstStyle/>
    <a:p>
      <a:pPr>
        <a:defRPr sz="1200">
          <a:solidFill>
            <a:srgbClr val="4A4A5C"/>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8454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the committee. Introduce yourself and the title. HookGuard is an install-time gate for npm: it combines static analysis, machine learning, canary deception, Docker, and eBPF kernel monitoring, and it keeps evidence for every verdict.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outline in one breath. The deck follows the thesis: threat, gap, questions, design, implementation, experiments, evidence, limits, and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 the context: npm install executes lifecycle hooks with the developer's privileges. Payloads have moved into package.json hooks and native build paths. Keep the scope explicit: install phase, Linux host. The right panel shows the exposure chain.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the gap in one sentence, then the supporting points. The key distinction is capability versus intent. The result is not another score; it is a usable blocking decision with evidence.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Each question maps to a specific result later. RQ1 is the low-FPR claim; RQ2 asks whether canary deception adds intent evidence, and the honest answer is that the PoC case studies and the Docker+strace pilot support the dynamic path, but we did not isolate a canary-only ablation. RQ3 is the eBPF observation and kill path; the 98.7% figure is pipeline recall under mutation, not an eBPF-only metric. RQ4 is the executed comparison.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objective maps to a result: analysis to the gap, design to the seven layers, implementation to the artifact, and evaluation to the six corpora and the ablation.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only the most relevant works and group them by approach. GuardDog is the strongest conventional baseline but misses intent. SAP drifts. Packj and MalOSS use ptrace. Socket is known-bad only. eBPF monitors lack npm semantics. That is the gap.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Four contributions carry the thesis. The architectural novelty is the coupling: intent evidence from canaries, observation and enforcement from eBPF, and a reviewable evidence chain, all in one install-time gate.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left to right through the pipeline. The design is not seven independent votes: each layer answers a different question. The risk gate keeps the expensive dynamic path reserved for packages that need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 to the two paths. L1 and L2 produce static evidence, L3 decides whether the package needs dynamic confirmation, and the fast path goes directly to L7. On the dynamic path, L4 lays six canaries before install, L5 runs the install as uid 65534, and L6 observes the run with four eBPF programs and can SIGKILL a kill-marked access. L4, L5 and L6 all report to L7; fusion then produces the verdict and its evidence record. The key architectural point is that the dynamic path does not bypass fusion.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Mention only the decisions the committee will ask about: the feature contract prevents silent column drift; canaries are injected into the container so their paths are realistic; the kernel kill is deliberately narrow and gated.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Explain the evidential role of each corpus. The real-world evidence is q2 and the Guo holdout. The generated corpora are regression checks only. All baselines were run on the same tarballs under an offline protocol.</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the headline: the full pipeline detects all five PoC samples at 7.1% FPR. Static-only floods benign packages; ML-only misses two but has disclosed leakage. Dynamic verification is what makes the pipeline usable.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key comparison. GuardDog has higher recall on both real corpora, but HookGuard holds a sub-percent blocking FPR. On q2 the FPR is 0.34% versus 7.9%, roughly 23 times lower; the 7.4 times figure belongs to the Guo holdout, 1.36% versus 10.1%. The q2 paired strict difference is not significant (p = 0.12); the Guo paired difference is significant (p = 0.003). The failure modes are asymmetric, which is why composition works: review-only alerting in front of a blocking gate.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mutation study is the strongest evidence for the dynamic layers: a one-line encoding erases most of GuardDog's recall but leaves HookGuard's kernel-observed behavior intact. Also state the scope limit honestly: 0 of 9 require-time samples.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Highlight the row where HookGuard wins: evidence and the blocking false-positive rate. It is not the highest-recall tool. Note that the 6.1% is Packj's offline static component, not a dynamic result; Packj_dynamic and MalOSS were not rerun on q2. Tetragon enforces; Bomfather observes builds. The practical posture is layered: review alerting in front of a blocking gate.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Be explicit about the boundaries. The biggest is install-phase scope: HookGuard catches 34/35 hook carriers but 0/9 require-time samples. The ML leakage and generated-corpus duplication are disclosed, and the generated F1 is excluded from every claim.</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the loop back to the research questions: the gate is usable because FPR is low, the canaries add intent evidence, eBPF observes and enforces, and the comparison is asymmetric. Every verdict retains an evidence record; dynamic verdicts add syscall chains. End with the claim boundary: install-hook malware on Linux, evidenced by these corpora.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read these aloud. Keep them for committee reference. The full bibliography is in the thesis and the paper.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this brief and sincere. Thank the supervisor, examiners, department, family, and peers.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questions from the committee. Keep the evidence tables and the thesis open for reference.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00FF"/>
        </a:solidFill>
        <a:effectLst/>
      </p:bgPr>
    </p:bg>
    <p:spTree>
      <p:nvGrpSpPr>
        <p:cNvPr id="1" name=""/>
        <p:cNvGrpSpPr/>
        <p:nvPr/>
      </p:nvGrpSpPr>
      <p:grpSpPr>
        <a:xfrm>
          <a:off x="0" y="0"/>
          <a:ext cx="0" cy="0"/>
          <a:chOff x="0" y="0"/>
          <a:chExt cx="0" cy="0"/>
        </a:xfrm>
      </p:grpSpPr>
      <p:sp>
        <p:nvSpPr>
          <p:cNvPr id="2" name="Shape 0"/>
          <p:cNvSpPr/>
          <p:nvPr/>
        </p:nvSpPr>
        <p:spPr>
          <a:xfrm>
            <a:off x="14097000" y="-1714500"/>
            <a:ext cx="5905500" cy="5905500"/>
          </a:xfrm>
          <a:prstGeom prst="ellipse">
            <a:avLst/>
          </a:prstGeom>
          <a:solidFill>
            <a:srgbClr val="FFFFFF">
              <a:alpha val="6000"/>
            </a:srgbClr>
          </a:solidFill>
          <a:ln/>
        </p:spPr>
        <p:txBody>
          <a:bodyPr/>
          <a:lstStyle/>
          <a:p>
            <a:endParaRPr/>
          </a:p>
        </p:txBody>
      </p:sp>
      <p:sp>
        <p:nvSpPr>
          <p:cNvPr id="3" name="Shape 1"/>
          <p:cNvSpPr/>
          <p:nvPr/>
        </p:nvSpPr>
        <p:spPr>
          <a:xfrm>
            <a:off x="-1333501" y="7810500"/>
            <a:ext cx="4572000" cy="4572000"/>
          </a:xfrm>
          <a:prstGeom prst="ellipse">
            <a:avLst/>
          </a:prstGeom>
          <a:solidFill>
            <a:srgbClr val="FFFFFF">
              <a:alpha val="5000"/>
            </a:srgbClr>
          </a:solidFill>
          <a:ln/>
        </p:spPr>
        <p:txBody>
          <a:bodyPr/>
          <a:lstStyle/>
          <a:p>
            <a:endParaRPr/>
          </a:p>
        </p:txBody>
      </p:sp>
      <p:pic>
        <p:nvPicPr>
          <p:cNvPr id="4" name="Image 0" descr="preencoded.png"/>
          <p:cNvPicPr>
            <a:picLocks noChangeAspect="1"/>
          </p:cNvPicPr>
          <p:nvPr/>
        </p:nvPicPr>
        <p:blipFill>
          <a:blip r:embed="rId3"/>
          <a:stretch>
            <a:fillRect/>
          </a:stretch>
        </p:blipFill>
        <p:spPr>
          <a:xfrm>
            <a:off x="1047750" y="800100"/>
            <a:ext cx="1279446" cy="704850"/>
          </a:xfrm>
          <a:prstGeom prst="rect">
            <a:avLst/>
          </a:prstGeom>
        </p:spPr>
      </p:pic>
      <p:sp>
        <p:nvSpPr>
          <p:cNvPr id="5" name="Text 2"/>
          <p:cNvSpPr/>
          <p:nvPr/>
        </p:nvSpPr>
        <p:spPr>
          <a:xfrm>
            <a:off x="1047750" y="3308271"/>
            <a:ext cx="16344900" cy="312420"/>
          </a:xfrm>
          <a:prstGeom prst="rect">
            <a:avLst/>
          </a:prstGeom>
          <a:noFill/>
          <a:ln/>
        </p:spPr>
        <p:txBody>
          <a:bodyPr wrap="none" lIns="25400" tIns="25400" rIns="25400" bIns="25400" rtlCol="0" anchor="t">
            <a:noAutofit/>
          </a:bodyPr>
          <a:lstStyle/>
          <a:p>
            <a:pPr marL="0" indent="0" algn="l">
              <a:buNone/>
            </a:pPr>
            <a:r>
              <a:rPr lang="en-US" sz="1650" kern="0" spc="263" dirty="0">
                <a:solidFill>
                  <a:srgbClr val="FFFFFF">
                    <a:alpha val="72000"/>
                  </a:srgbClr>
                </a:solidFill>
                <a:latin typeface="Arial" pitchFamily="34" charset="0"/>
                <a:ea typeface="Arial" pitchFamily="34" charset="-122"/>
                <a:cs typeface="Arial" pitchFamily="34" charset="-120"/>
              </a:rPr>
              <a:t>DEPARTMENT OF COMPUTER SCIENCE &amp; ENGINEERING · UTTARA UNIVERSITY</a:t>
            </a:r>
            <a:endParaRPr lang="en-US" sz="1875" dirty="0"/>
          </a:p>
        </p:txBody>
      </p:sp>
      <p:sp>
        <p:nvSpPr>
          <p:cNvPr id="6" name="Text 3"/>
          <p:cNvSpPr/>
          <p:nvPr/>
        </p:nvSpPr>
        <p:spPr>
          <a:xfrm>
            <a:off x="1047750" y="3868341"/>
            <a:ext cx="15304770" cy="1807369"/>
          </a:xfrm>
          <a:prstGeom prst="rect">
            <a:avLst/>
          </a:prstGeom>
          <a:noFill/>
          <a:ln/>
        </p:spPr>
        <p:txBody>
          <a:bodyPr wrap="square" lIns="25400" tIns="25400" rIns="25400" bIns="25400" rtlCol="0" anchor="t">
            <a:normAutofit/>
          </a:bodyPr>
          <a:lstStyle/>
          <a:p>
            <a:pPr marL="0" indent="0" algn="l">
              <a:lnSpc>
                <a:spcPct val="76887"/>
              </a:lnSpc>
              <a:buNone/>
            </a:pPr>
            <a:r>
              <a:rPr lang="en-US" sz="4800" b="1" kern="0" spc="-64" dirty="0">
                <a:solidFill>
                  <a:srgbClr val="FFFFFF"/>
                </a:solidFill>
                <a:latin typeface="Arial" pitchFamily="34" charset="0"/>
                <a:ea typeface="Arial" pitchFamily="34" charset="-122"/>
                <a:cs typeface="Arial" pitchFamily="34" charset="-120"/>
              </a:rPr>
              <a:t>HookGuard: Runtime-Verified Detection of npm Malicious Packages</a:t>
            </a:r>
            <a:endParaRPr lang="en-US" sz="6450" b="1" dirty="0"/>
          </a:p>
        </p:txBody>
      </p:sp>
      <p:sp>
        <p:nvSpPr>
          <p:cNvPr id="7" name="Text 4"/>
          <p:cNvSpPr/>
          <p:nvPr/>
        </p:nvSpPr>
        <p:spPr>
          <a:xfrm>
            <a:off x="1687473" y="6506830"/>
            <a:ext cx="12573000" cy="544830"/>
          </a:xfrm>
          <a:prstGeom prst="rect">
            <a:avLst/>
          </a:prstGeom>
          <a:noFill/>
          <a:ln/>
        </p:spPr>
        <p:txBody>
          <a:bodyPr wrap="square" lIns="25400" tIns="25400" rIns="25400" bIns="25400" rtlCol="0" anchor="t">
            <a:normAutofit/>
          </a:bodyPr>
          <a:lstStyle/>
          <a:p>
            <a:pPr marL="0" indent="0" algn="l">
              <a:lnSpc>
                <a:spcPct val="120909"/>
              </a:lnSpc>
              <a:buNone/>
            </a:pPr>
            <a:r>
              <a:rPr lang="en-US" sz="1900" dirty="0">
                <a:solidFill>
                  <a:srgbClr val="FFFFFF">
                    <a:alpha val="82000"/>
                  </a:srgbClr>
                </a:solidFill>
                <a:latin typeface="Arial" pitchFamily="34" charset="0"/>
                <a:ea typeface="Arial" pitchFamily="34" charset="-122"/>
                <a:cs typeface="Arial" pitchFamily="34" charset="-120"/>
              </a:rPr>
              <a:t>via multi-layer behavioral-chain verification — static analysis, ML, canary deception, and eBPF kernel enforcement</a:t>
            </a:r>
            <a:endParaRPr lang="en-US" sz="2850" dirty="0"/>
          </a:p>
        </p:txBody>
      </p:sp>
      <p:sp>
        <p:nvSpPr>
          <p:cNvPr id="8" name="Shape 5"/>
          <p:cNvSpPr/>
          <p:nvPr/>
        </p:nvSpPr>
        <p:spPr>
          <a:xfrm>
            <a:off x="1047750" y="8233410"/>
            <a:ext cx="16192500" cy="9525"/>
          </a:xfrm>
          <a:prstGeom prst="rect">
            <a:avLst/>
          </a:prstGeom>
          <a:solidFill>
            <a:srgbClr val="FFFFFF">
              <a:alpha val="22000"/>
            </a:srgbClr>
          </a:solidFill>
          <a:ln/>
        </p:spPr>
        <p:txBody>
          <a:bodyPr/>
          <a:lstStyle/>
          <a:p>
            <a:endParaRPr/>
          </a:p>
        </p:txBody>
      </p:sp>
      <p:sp>
        <p:nvSpPr>
          <p:cNvPr id="9" name="Text 6"/>
          <p:cNvSpPr/>
          <p:nvPr/>
        </p:nvSpPr>
        <p:spPr>
          <a:xfrm>
            <a:off x="946246" y="8485823"/>
            <a:ext cx="5488245" cy="281940"/>
          </a:xfrm>
          <a:prstGeom prst="rect">
            <a:avLst/>
          </a:prstGeom>
          <a:noFill/>
          <a:ln/>
        </p:spPr>
        <p:txBody>
          <a:bodyPr wrap="square" lIns="25400" tIns="25400" rIns="25400" bIns="25400" rtlCol="0" anchor="t">
            <a:normAutofit lnSpcReduction="10000"/>
          </a:bodyPr>
          <a:lstStyle/>
          <a:p>
            <a:pPr marL="0" indent="0" algn="l">
              <a:buNone/>
            </a:pPr>
            <a:r>
              <a:rPr lang="en-US" sz="1650" kern="0" spc="0" dirty="0">
                <a:solidFill>
                  <a:srgbClr val="FFFFFF">
                    <a:alpha val="62000"/>
                  </a:srgbClr>
                </a:solidFill>
                <a:latin typeface="Arial" pitchFamily="34" charset="0"/>
                <a:ea typeface="Arial" pitchFamily="34" charset="-122"/>
                <a:cs typeface="Arial" pitchFamily="34" charset="-120"/>
              </a:rPr>
              <a:t>PRESENTED BY</a:t>
            </a:r>
            <a:endParaRPr lang="en-US" sz="1650" dirty="0"/>
          </a:p>
        </p:txBody>
      </p:sp>
      <p:sp>
        <p:nvSpPr>
          <p:cNvPr id="10" name="Text 7"/>
          <p:cNvSpPr/>
          <p:nvPr/>
        </p:nvSpPr>
        <p:spPr>
          <a:xfrm>
            <a:off x="946247" y="8808980"/>
            <a:ext cx="5488245" cy="36576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FFFFFF"/>
                </a:solidFill>
                <a:latin typeface="Arial" pitchFamily="34" charset="0"/>
                <a:ea typeface="Arial" pitchFamily="34" charset="-122"/>
                <a:cs typeface="Arial" pitchFamily="34" charset="-120"/>
              </a:rPr>
              <a:t>[</a:t>
            </a:r>
            <a:r>
              <a:rPr lang="en-US" sz="2250" b="1" dirty="0" err="1">
                <a:solidFill>
                  <a:srgbClr val="FFFFFF"/>
                </a:solidFill>
                <a:latin typeface="Arial" pitchFamily="34" charset="0"/>
                <a:ea typeface="Arial" pitchFamily="34" charset="-122"/>
                <a:cs typeface="Arial" pitchFamily="34" charset="-120"/>
              </a:rPr>
              <a:t>Ashiqur</a:t>
            </a:r>
            <a:r>
              <a:rPr lang="en-US" sz="2250" b="1" dirty="0">
                <a:solidFill>
                  <a:srgbClr val="FFFFFF"/>
                </a:solidFill>
                <a:latin typeface="Arial" pitchFamily="34" charset="0"/>
                <a:ea typeface="Arial" pitchFamily="34" charset="-122"/>
                <a:cs typeface="Arial" pitchFamily="34" charset="-120"/>
              </a:rPr>
              <a:t> Rahman Bhuiyan , Ayesha Akter ]</a:t>
            </a:r>
            <a:endParaRPr lang="en-US" sz="2250" dirty="0"/>
          </a:p>
        </p:txBody>
      </p:sp>
      <p:sp>
        <p:nvSpPr>
          <p:cNvPr id="11" name="Text 8"/>
          <p:cNvSpPr/>
          <p:nvPr/>
        </p:nvSpPr>
        <p:spPr>
          <a:xfrm>
            <a:off x="967704" y="9257175"/>
            <a:ext cx="5697683" cy="365760"/>
          </a:xfrm>
          <a:prstGeom prst="rect">
            <a:avLst/>
          </a:prstGeom>
          <a:noFill/>
          <a:ln/>
        </p:spPr>
        <p:txBody>
          <a:bodyPr wrap="square" lIns="25400" tIns="25400" rIns="25400" bIns="25400" rtlCol="0" anchor="t">
            <a:noAutofit/>
          </a:bodyPr>
          <a:lstStyle/>
          <a:p>
            <a:pPr marL="0" indent="0" algn="l">
              <a:buNone/>
            </a:pPr>
            <a:r>
              <a:rPr lang="en-US" b="1" dirty="0">
                <a:solidFill>
                  <a:srgbClr val="FFFFFF">
                    <a:alpha val="78000"/>
                  </a:srgbClr>
                </a:solidFill>
                <a:latin typeface="Arial" pitchFamily="34" charset="0"/>
                <a:ea typeface="Arial" pitchFamily="34" charset="-122"/>
                <a:cs typeface="Arial" pitchFamily="34" charset="-120"/>
              </a:rPr>
              <a:t>ID: [2223081147 , 2223081110] · B.Sc. in Computer Science &amp; Engineering</a:t>
            </a:r>
            <a:endParaRPr lang="en-US" b="1" dirty="0"/>
          </a:p>
        </p:txBody>
      </p:sp>
      <p:sp>
        <p:nvSpPr>
          <p:cNvPr id="12" name="Text 9"/>
          <p:cNvSpPr/>
          <p:nvPr/>
        </p:nvSpPr>
        <p:spPr>
          <a:xfrm>
            <a:off x="6799064" y="8500110"/>
            <a:ext cx="3203234" cy="281940"/>
          </a:xfrm>
          <a:prstGeom prst="rect">
            <a:avLst/>
          </a:prstGeom>
          <a:noFill/>
          <a:ln/>
        </p:spPr>
        <p:txBody>
          <a:bodyPr wrap="square" lIns="25400" tIns="25400" rIns="25400" bIns="25400" rtlCol="0" anchor="t">
            <a:normAutofit lnSpcReduction="10000"/>
          </a:bodyPr>
          <a:lstStyle/>
          <a:p>
            <a:pPr marL="0" indent="0" algn="l">
              <a:buNone/>
            </a:pPr>
            <a:r>
              <a:rPr lang="en-US" sz="1650" kern="0" spc="0" dirty="0">
                <a:solidFill>
                  <a:srgbClr val="FFFFFF">
                    <a:alpha val="62000"/>
                  </a:srgbClr>
                </a:solidFill>
                <a:latin typeface="Arial" pitchFamily="34" charset="0"/>
                <a:ea typeface="Arial" pitchFamily="34" charset="-122"/>
                <a:cs typeface="Arial" pitchFamily="34" charset="-120"/>
              </a:rPr>
              <a:t>SUPERVISED BY</a:t>
            </a:r>
            <a:endParaRPr lang="en-US" sz="1650" dirty="0"/>
          </a:p>
        </p:txBody>
      </p:sp>
      <p:sp>
        <p:nvSpPr>
          <p:cNvPr id="13" name="Text 10"/>
          <p:cNvSpPr/>
          <p:nvPr/>
        </p:nvSpPr>
        <p:spPr>
          <a:xfrm>
            <a:off x="6799064" y="8843009"/>
            <a:ext cx="3203234" cy="365760"/>
          </a:xfrm>
          <a:prstGeom prst="rect">
            <a:avLst/>
          </a:prstGeom>
          <a:noFill/>
          <a:ln/>
        </p:spPr>
        <p:txBody>
          <a:bodyPr wrap="square" lIns="25400" tIns="25400" rIns="25400" bIns="25400" rtlCol="0" anchor="t">
            <a:normAutofit lnSpcReduction="10000"/>
          </a:bodyPr>
          <a:lstStyle/>
          <a:p>
            <a:r>
              <a:rPr lang="en-US" sz="2250" b="1" dirty="0">
                <a:solidFill>
                  <a:srgbClr val="FFFFFF"/>
                </a:solidFill>
                <a:latin typeface="Arial" pitchFamily="34" charset="0"/>
                <a:ea typeface="Arial" pitchFamily="34" charset="-122"/>
                <a:cs typeface="Arial" pitchFamily="34" charset="-120"/>
              </a:rPr>
              <a:t>[</a:t>
            </a:r>
            <a:r>
              <a:rPr lang="en-GB" sz="2250" b="1" dirty="0">
                <a:solidFill>
                  <a:srgbClr val="FFFFFF"/>
                </a:solidFill>
                <a:latin typeface="Arial" pitchFamily="34" charset="0"/>
                <a:ea typeface="Arial" pitchFamily="34" charset="-122"/>
                <a:cs typeface="Arial" pitchFamily="34" charset="-120"/>
              </a:rPr>
              <a:t>Zarin Tasnim</a:t>
            </a:r>
            <a:r>
              <a:rPr lang="en-US" sz="2250" b="1" dirty="0">
                <a:solidFill>
                  <a:srgbClr val="FFFFFF"/>
                </a:solidFill>
                <a:latin typeface="Arial" pitchFamily="34" charset="0"/>
                <a:ea typeface="Arial" pitchFamily="34" charset="-122"/>
                <a:cs typeface="Arial" pitchFamily="34" charset="-120"/>
              </a:rPr>
              <a:t>]</a:t>
            </a:r>
            <a:endParaRPr lang="en-US" sz="2250" dirty="0"/>
          </a:p>
        </p:txBody>
      </p:sp>
      <p:sp>
        <p:nvSpPr>
          <p:cNvPr id="14" name="Text 11"/>
          <p:cNvSpPr/>
          <p:nvPr/>
        </p:nvSpPr>
        <p:spPr>
          <a:xfrm>
            <a:off x="6665387" y="9296013"/>
            <a:ext cx="4957228" cy="577213"/>
          </a:xfrm>
          <a:prstGeom prst="rect">
            <a:avLst/>
          </a:prstGeom>
          <a:noFill/>
          <a:ln/>
        </p:spPr>
        <p:txBody>
          <a:bodyPr wrap="square" lIns="25400" tIns="25400" rIns="25400" bIns="25400" rtlCol="0" anchor="t">
            <a:normAutofit fontScale="32500" lnSpcReduction="20000"/>
          </a:bodyPr>
          <a:lstStyle/>
          <a:p>
            <a:pPr marL="0" indent="0" algn="l">
              <a:buNone/>
            </a:pPr>
            <a:r>
              <a:rPr lang="en-US" sz="5500" dirty="0">
                <a:solidFill>
                  <a:srgbClr val="FFFFFF">
                    <a:alpha val="78000"/>
                  </a:srgbClr>
                </a:solidFill>
                <a:latin typeface="Arial" pitchFamily="34" charset="0"/>
                <a:ea typeface="Arial" pitchFamily="34" charset="-122"/>
                <a:cs typeface="Arial" pitchFamily="34" charset="-120"/>
              </a:rPr>
              <a:t>[</a:t>
            </a:r>
            <a:r>
              <a:rPr lang="en-US" sz="5500" b="1" dirty="0">
                <a:solidFill>
                  <a:srgbClr val="FFFFFF">
                    <a:alpha val="78000"/>
                  </a:srgbClr>
                </a:solidFill>
                <a:latin typeface="Arial" pitchFamily="34" charset="0"/>
                <a:ea typeface="Arial" pitchFamily="34" charset="-122"/>
                <a:cs typeface="Arial" pitchFamily="34" charset="-120"/>
              </a:rPr>
              <a:t>Lecturer ,Dept of CSE ,Uttara </a:t>
            </a:r>
            <a:r>
              <a:rPr lang="en-US" sz="5500" b="1" dirty="0" err="1">
                <a:solidFill>
                  <a:srgbClr val="FFFFFF">
                    <a:alpha val="78000"/>
                  </a:srgbClr>
                </a:solidFill>
                <a:latin typeface="Arial" pitchFamily="34" charset="0"/>
                <a:ea typeface="Arial" pitchFamily="34" charset="-122"/>
                <a:cs typeface="Arial" pitchFamily="34" charset="-120"/>
              </a:rPr>
              <a:t>Univerisity</a:t>
            </a:r>
            <a:r>
              <a:rPr lang="en-US" sz="5500" b="1" dirty="0">
                <a:solidFill>
                  <a:srgbClr val="FFFFFF">
                    <a:alpha val="78000"/>
                  </a:srgbClr>
                </a:solidFill>
                <a:latin typeface="Arial" pitchFamily="34" charset="0"/>
                <a:ea typeface="Arial" pitchFamily="34" charset="-122"/>
                <a:cs typeface="Arial" pitchFamily="34" charset="-120"/>
              </a:rPr>
              <a:t> </a:t>
            </a:r>
            <a:r>
              <a:rPr lang="en-US" sz="5500" dirty="0">
                <a:solidFill>
                  <a:srgbClr val="FFFFFF">
                    <a:alpha val="78000"/>
                  </a:srgbClr>
                </a:solidFill>
                <a:latin typeface="Arial" pitchFamily="34" charset="0"/>
                <a:ea typeface="Arial" pitchFamily="34" charset="-122"/>
                <a:cs typeface="Arial" pitchFamily="34" charset="-120"/>
              </a:rPr>
              <a:t>]</a:t>
            </a:r>
            <a:endParaRPr lang="en-US" sz="1875" dirty="0"/>
          </a:p>
        </p:txBody>
      </p:sp>
      <p:sp>
        <p:nvSpPr>
          <p:cNvPr id="15" name="Text 12"/>
          <p:cNvSpPr/>
          <p:nvPr/>
        </p:nvSpPr>
        <p:spPr>
          <a:xfrm>
            <a:off x="15509558" y="9071610"/>
            <a:ext cx="1730692" cy="586740"/>
          </a:xfrm>
          <a:prstGeom prst="rect">
            <a:avLst/>
          </a:prstGeom>
          <a:noFill/>
          <a:ln/>
        </p:spPr>
        <p:txBody>
          <a:bodyPr wrap="square" lIns="25400" tIns="25400" rIns="25400" bIns="25400" rtlCol="0" anchor="t">
            <a:normAutofit lnSpcReduction="10000"/>
          </a:bodyPr>
          <a:lstStyle/>
          <a:p>
            <a:pPr marL="0" indent="0" algn="r">
              <a:buNone/>
            </a:pPr>
            <a:r>
              <a:rPr lang="en-US" sz="1875" dirty="0">
                <a:solidFill>
                  <a:srgbClr val="FFFFFF">
                    <a:alpha val="72000"/>
                  </a:srgbClr>
                </a:solidFill>
                <a:latin typeface="Arial" pitchFamily="34" charset="0"/>
                <a:ea typeface="Arial" pitchFamily="34" charset="-122"/>
                <a:cs typeface="Arial" pitchFamily="34" charset="-120"/>
              </a:rPr>
              <a:t>Thesis Defense [ 27/10/2026 ]</a:t>
            </a:r>
            <a:endParaRPr lang="en-US" sz="1875" dirty="0"/>
          </a:p>
        </p:txBody>
      </p:sp>
      <p:pic>
        <p:nvPicPr>
          <p:cNvPr id="17" name="Picture 16">
            <a:extLst>
              <a:ext uri="{FF2B5EF4-FFF2-40B4-BE49-F238E27FC236}">
                <a16:creationId xmlns:a16="http://schemas.microsoft.com/office/drawing/2014/main" id="{E7B0C69C-DC03-BF59-5C9F-44FCDBB71F65}"/>
              </a:ext>
            </a:extLst>
          </p:cNvPr>
          <p:cNvPicPr>
            <a:picLocks noChangeAspect="1"/>
          </p:cNvPicPr>
          <p:nvPr/>
        </p:nvPicPr>
        <p:blipFill>
          <a:blip r:embed="rId4"/>
          <a:stretch>
            <a:fillRect/>
          </a:stretch>
        </p:blipFill>
        <p:spPr>
          <a:xfrm>
            <a:off x="952499" y="868680"/>
            <a:ext cx="2491031"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PRESENTATION OUTLINE</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What We'll Cover</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02 / 22</a:t>
            </a:r>
          </a:p>
        </p:txBody>
      </p:sp>
      <p:sp>
        <p:nvSpPr>
          <p:cNvPr id="9" name="TextBox 8"/>
          <p:cNvSpPr txBox="1"/>
          <p:nvPr/>
        </p:nvSpPr>
        <p:spPr>
          <a:xfrm>
            <a:off x="1051560" y="2304288"/>
            <a:ext cx="13716000" cy="365760"/>
          </a:xfrm>
          <a:prstGeom prst="rect">
            <a:avLst/>
          </a:prstGeom>
          <a:noFill/>
        </p:spPr>
        <p:txBody>
          <a:bodyPr wrap="square" lIns="0" tIns="0" rIns="0" bIns="0" anchor="t">
            <a:noAutofit/>
          </a:bodyPr>
          <a:lstStyle/>
          <a:p>
            <a:pPr algn="l"/>
            <a:r>
              <a:rPr sz="1600" b="0" i="0">
                <a:solidFill>
                  <a:srgbClr val="4A4A5C"/>
                </a:solidFill>
                <a:latin typeface="Arial"/>
              </a:rPr>
              <a:t>From the install-time threat to measured evidence, limitations, and conclusions.</a:t>
            </a:r>
          </a:p>
        </p:txBody>
      </p:sp>
      <p:sp>
        <p:nvSpPr>
          <p:cNvPr id="10" name="TextBox 9"/>
          <p:cNvSpPr txBox="1"/>
          <p:nvPr/>
        </p:nvSpPr>
        <p:spPr>
          <a:xfrm>
            <a:off x="1051560" y="2926080"/>
            <a:ext cx="640080" cy="402336"/>
          </a:xfrm>
          <a:prstGeom prst="rect">
            <a:avLst/>
          </a:prstGeom>
          <a:noFill/>
        </p:spPr>
        <p:txBody>
          <a:bodyPr wrap="square" lIns="0" tIns="0" rIns="0" bIns="0" anchor="t">
            <a:noAutofit/>
          </a:bodyPr>
          <a:lstStyle/>
          <a:p>
            <a:pPr algn="l"/>
            <a:r>
              <a:rPr sz="2400" b="1" i="0">
                <a:solidFill>
                  <a:srgbClr val="1200FF"/>
                </a:solidFill>
                <a:latin typeface="Arial"/>
              </a:rPr>
              <a:t>01</a:t>
            </a:r>
          </a:p>
        </p:txBody>
      </p:sp>
      <p:sp>
        <p:nvSpPr>
          <p:cNvPr id="11" name="TextBox 10"/>
          <p:cNvSpPr txBox="1"/>
          <p:nvPr/>
        </p:nvSpPr>
        <p:spPr>
          <a:xfrm>
            <a:off x="1801367" y="2953512"/>
            <a:ext cx="7132320" cy="365760"/>
          </a:xfrm>
          <a:prstGeom prst="rect">
            <a:avLst/>
          </a:prstGeom>
          <a:noFill/>
        </p:spPr>
        <p:txBody>
          <a:bodyPr wrap="square" lIns="0" tIns="0" rIns="0" bIns="0" anchor="t">
            <a:noAutofit/>
          </a:bodyPr>
          <a:lstStyle/>
          <a:p>
            <a:pPr algn="l"/>
            <a:r>
              <a:rPr sz="1750" b="0" i="0">
                <a:solidFill>
                  <a:srgbClr val="10101B"/>
                </a:solidFill>
                <a:latin typeface="Arial"/>
              </a:rPr>
              <a:t>Introduction &amp; Background</a:t>
            </a:r>
          </a:p>
        </p:txBody>
      </p:sp>
      <p:sp>
        <p:nvSpPr>
          <p:cNvPr id="12" name="Rectangle 11"/>
          <p:cNvSpPr/>
          <p:nvPr/>
        </p:nvSpPr>
        <p:spPr>
          <a:xfrm>
            <a:off x="1051560" y="3547872"/>
            <a:ext cx="7498079"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3858768"/>
            <a:ext cx="640080" cy="402336"/>
          </a:xfrm>
          <a:prstGeom prst="rect">
            <a:avLst/>
          </a:prstGeom>
          <a:noFill/>
        </p:spPr>
        <p:txBody>
          <a:bodyPr wrap="square" lIns="0" tIns="0" rIns="0" bIns="0" anchor="t">
            <a:noAutofit/>
          </a:bodyPr>
          <a:lstStyle/>
          <a:p>
            <a:pPr algn="l"/>
            <a:r>
              <a:rPr sz="2400" b="1" i="0">
                <a:solidFill>
                  <a:srgbClr val="1200FF"/>
                </a:solidFill>
                <a:latin typeface="Arial"/>
              </a:rPr>
              <a:t>02</a:t>
            </a:r>
          </a:p>
        </p:txBody>
      </p:sp>
      <p:sp>
        <p:nvSpPr>
          <p:cNvPr id="14" name="TextBox 13"/>
          <p:cNvSpPr txBox="1"/>
          <p:nvPr/>
        </p:nvSpPr>
        <p:spPr>
          <a:xfrm>
            <a:off x="1801367" y="3886200"/>
            <a:ext cx="7132320" cy="365760"/>
          </a:xfrm>
          <a:prstGeom prst="rect">
            <a:avLst/>
          </a:prstGeom>
          <a:noFill/>
        </p:spPr>
        <p:txBody>
          <a:bodyPr wrap="square" lIns="0" tIns="0" rIns="0" bIns="0" anchor="t">
            <a:noAutofit/>
          </a:bodyPr>
          <a:lstStyle/>
          <a:p>
            <a:pPr algn="l"/>
            <a:r>
              <a:rPr sz="1750" b="0" i="0">
                <a:solidFill>
                  <a:srgbClr val="10101B"/>
                </a:solidFill>
                <a:latin typeface="Arial"/>
              </a:rPr>
              <a:t>Problem Statement</a:t>
            </a:r>
          </a:p>
        </p:txBody>
      </p:sp>
      <p:sp>
        <p:nvSpPr>
          <p:cNvPr id="15" name="Rectangle 14"/>
          <p:cNvSpPr/>
          <p:nvPr/>
        </p:nvSpPr>
        <p:spPr>
          <a:xfrm>
            <a:off x="1051560" y="4480560"/>
            <a:ext cx="7498079"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 y="4791456"/>
            <a:ext cx="640080" cy="402336"/>
          </a:xfrm>
          <a:prstGeom prst="rect">
            <a:avLst/>
          </a:prstGeom>
          <a:noFill/>
        </p:spPr>
        <p:txBody>
          <a:bodyPr wrap="square" lIns="0" tIns="0" rIns="0" bIns="0" anchor="t">
            <a:noAutofit/>
          </a:bodyPr>
          <a:lstStyle/>
          <a:p>
            <a:pPr algn="l"/>
            <a:r>
              <a:rPr sz="2400" b="1" i="0">
                <a:solidFill>
                  <a:srgbClr val="1200FF"/>
                </a:solidFill>
                <a:latin typeface="Arial"/>
              </a:rPr>
              <a:t>03</a:t>
            </a:r>
          </a:p>
        </p:txBody>
      </p:sp>
      <p:sp>
        <p:nvSpPr>
          <p:cNvPr id="17" name="TextBox 16"/>
          <p:cNvSpPr txBox="1"/>
          <p:nvPr/>
        </p:nvSpPr>
        <p:spPr>
          <a:xfrm>
            <a:off x="1801367" y="4818888"/>
            <a:ext cx="7132320" cy="365760"/>
          </a:xfrm>
          <a:prstGeom prst="rect">
            <a:avLst/>
          </a:prstGeom>
          <a:noFill/>
        </p:spPr>
        <p:txBody>
          <a:bodyPr wrap="square" lIns="0" tIns="0" rIns="0" bIns="0" anchor="t">
            <a:noAutofit/>
          </a:bodyPr>
          <a:lstStyle/>
          <a:p>
            <a:pPr algn="l"/>
            <a:r>
              <a:rPr sz="1750" b="0" i="0">
                <a:solidFill>
                  <a:srgbClr val="10101B"/>
                </a:solidFill>
                <a:latin typeface="Arial"/>
              </a:rPr>
              <a:t>Research Questions</a:t>
            </a:r>
          </a:p>
        </p:txBody>
      </p:sp>
      <p:sp>
        <p:nvSpPr>
          <p:cNvPr id="18" name="Rectangle 17"/>
          <p:cNvSpPr/>
          <p:nvPr/>
        </p:nvSpPr>
        <p:spPr>
          <a:xfrm>
            <a:off x="1051560" y="5413248"/>
            <a:ext cx="7498079"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1560" y="5724144"/>
            <a:ext cx="640080" cy="402336"/>
          </a:xfrm>
          <a:prstGeom prst="rect">
            <a:avLst/>
          </a:prstGeom>
          <a:noFill/>
        </p:spPr>
        <p:txBody>
          <a:bodyPr wrap="square" lIns="0" tIns="0" rIns="0" bIns="0" anchor="t">
            <a:noAutofit/>
          </a:bodyPr>
          <a:lstStyle/>
          <a:p>
            <a:pPr algn="l"/>
            <a:r>
              <a:rPr sz="2400" b="1" i="0">
                <a:solidFill>
                  <a:srgbClr val="1200FF"/>
                </a:solidFill>
                <a:latin typeface="Arial"/>
              </a:rPr>
              <a:t>04</a:t>
            </a:r>
          </a:p>
        </p:txBody>
      </p:sp>
      <p:sp>
        <p:nvSpPr>
          <p:cNvPr id="20" name="TextBox 19"/>
          <p:cNvSpPr txBox="1"/>
          <p:nvPr/>
        </p:nvSpPr>
        <p:spPr>
          <a:xfrm>
            <a:off x="1801367" y="5751576"/>
            <a:ext cx="7132320" cy="365760"/>
          </a:xfrm>
          <a:prstGeom prst="rect">
            <a:avLst/>
          </a:prstGeom>
          <a:noFill/>
        </p:spPr>
        <p:txBody>
          <a:bodyPr wrap="square" lIns="0" tIns="0" rIns="0" bIns="0" anchor="t">
            <a:noAutofit/>
          </a:bodyPr>
          <a:lstStyle/>
          <a:p>
            <a:pPr algn="l"/>
            <a:r>
              <a:rPr sz="1750" b="0" i="0">
                <a:solidFill>
                  <a:srgbClr val="10101B"/>
                </a:solidFill>
                <a:latin typeface="Arial"/>
              </a:rPr>
              <a:t>Objectives</a:t>
            </a:r>
          </a:p>
        </p:txBody>
      </p:sp>
      <p:sp>
        <p:nvSpPr>
          <p:cNvPr id="21" name="Rectangle 20"/>
          <p:cNvSpPr/>
          <p:nvPr/>
        </p:nvSpPr>
        <p:spPr>
          <a:xfrm>
            <a:off x="1051560" y="6345936"/>
            <a:ext cx="7498079"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51560" y="6656832"/>
            <a:ext cx="640080" cy="402336"/>
          </a:xfrm>
          <a:prstGeom prst="rect">
            <a:avLst/>
          </a:prstGeom>
          <a:noFill/>
        </p:spPr>
        <p:txBody>
          <a:bodyPr wrap="square" lIns="0" tIns="0" rIns="0" bIns="0" anchor="t">
            <a:noAutofit/>
          </a:bodyPr>
          <a:lstStyle/>
          <a:p>
            <a:pPr algn="l"/>
            <a:r>
              <a:rPr sz="2400" b="1" i="0">
                <a:solidFill>
                  <a:srgbClr val="1200FF"/>
                </a:solidFill>
                <a:latin typeface="Arial"/>
              </a:rPr>
              <a:t>05</a:t>
            </a:r>
          </a:p>
        </p:txBody>
      </p:sp>
      <p:sp>
        <p:nvSpPr>
          <p:cNvPr id="23" name="TextBox 22"/>
          <p:cNvSpPr txBox="1"/>
          <p:nvPr/>
        </p:nvSpPr>
        <p:spPr>
          <a:xfrm>
            <a:off x="1801367" y="6684264"/>
            <a:ext cx="7132320" cy="365760"/>
          </a:xfrm>
          <a:prstGeom prst="rect">
            <a:avLst/>
          </a:prstGeom>
          <a:noFill/>
        </p:spPr>
        <p:txBody>
          <a:bodyPr wrap="square" lIns="0" tIns="0" rIns="0" bIns="0" anchor="t">
            <a:noAutofit/>
          </a:bodyPr>
          <a:lstStyle/>
          <a:p>
            <a:pPr algn="l"/>
            <a:r>
              <a:rPr sz="1750" b="0" i="0">
                <a:solidFill>
                  <a:srgbClr val="10101B"/>
                </a:solidFill>
                <a:latin typeface="Arial"/>
              </a:rPr>
              <a:t>Literature Review &amp; Gap</a:t>
            </a:r>
          </a:p>
        </p:txBody>
      </p:sp>
      <p:sp>
        <p:nvSpPr>
          <p:cNvPr id="24" name="Rectangle 23"/>
          <p:cNvSpPr/>
          <p:nvPr/>
        </p:nvSpPr>
        <p:spPr>
          <a:xfrm>
            <a:off x="1051560" y="7278624"/>
            <a:ext cx="7498079"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51560" y="7589520"/>
            <a:ext cx="640080" cy="402336"/>
          </a:xfrm>
          <a:prstGeom prst="rect">
            <a:avLst/>
          </a:prstGeom>
          <a:noFill/>
        </p:spPr>
        <p:txBody>
          <a:bodyPr wrap="square" lIns="0" tIns="0" rIns="0" bIns="0" anchor="t">
            <a:noAutofit/>
          </a:bodyPr>
          <a:lstStyle/>
          <a:p>
            <a:pPr algn="l"/>
            <a:r>
              <a:rPr sz="2400" b="1" i="0">
                <a:solidFill>
                  <a:srgbClr val="1200FF"/>
                </a:solidFill>
                <a:latin typeface="Arial"/>
              </a:rPr>
              <a:t>06</a:t>
            </a:r>
          </a:p>
        </p:txBody>
      </p:sp>
      <p:sp>
        <p:nvSpPr>
          <p:cNvPr id="26" name="TextBox 25"/>
          <p:cNvSpPr txBox="1"/>
          <p:nvPr/>
        </p:nvSpPr>
        <p:spPr>
          <a:xfrm>
            <a:off x="1801367" y="7616952"/>
            <a:ext cx="7132320" cy="365760"/>
          </a:xfrm>
          <a:prstGeom prst="rect">
            <a:avLst/>
          </a:prstGeom>
          <a:noFill/>
        </p:spPr>
        <p:txBody>
          <a:bodyPr wrap="square" lIns="0" tIns="0" rIns="0" bIns="0" anchor="t">
            <a:noAutofit/>
          </a:bodyPr>
          <a:lstStyle/>
          <a:p>
            <a:pPr algn="l"/>
            <a:r>
              <a:rPr sz="1750" b="0" i="0">
                <a:solidFill>
                  <a:srgbClr val="10101B"/>
                </a:solidFill>
                <a:latin typeface="Arial"/>
              </a:rPr>
              <a:t>Novelty &amp; Contributions</a:t>
            </a:r>
          </a:p>
        </p:txBody>
      </p:sp>
      <p:sp>
        <p:nvSpPr>
          <p:cNvPr id="27" name="Rectangle 26"/>
          <p:cNvSpPr/>
          <p:nvPr/>
        </p:nvSpPr>
        <p:spPr>
          <a:xfrm>
            <a:off x="1051560" y="8211312"/>
            <a:ext cx="7498079"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509760" y="2926080"/>
            <a:ext cx="640080" cy="402336"/>
          </a:xfrm>
          <a:prstGeom prst="rect">
            <a:avLst/>
          </a:prstGeom>
          <a:noFill/>
        </p:spPr>
        <p:txBody>
          <a:bodyPr wrap="square" lIns="0" tIns="0" rIns="0" bIns="0" anchor="t">
            <a:noAutofit/>
          </a:bodyPr>
          <a:lstStyle/>
          <a:p>
            <a:pPr algn="l"/>
            <a:r>
              <a:rPr sz="2400" b="1" i="0">
                <a:solidFill>
                  <a:srgbClr val="1200FF"/>
                </a:solidFill>
                <a:latin typeface="Arial"/>
              </a:rPr>
              <a:t>07</a:t>
            </a:r>
          </a:p>
        </p:txBody>
      </p:sp>
      <p:sp>
        <p:nvSpPr>
          <p:cNvPr id="29" name="TextBox 28"/>
          <p:cNvSpPr txBox="1"/>
          <p:nvPr/>
        </p:nvSpPr>
        <p:spPr>
          <a:xfrm>
            <a:off x="10259568" y="2953512"/>
            <a:ext cx="7132320" cy="365760"/>
          </a:xfrm>
          <a:prstGeom prst="rect">
            <a:avLst/>
          </a:prstGeom>
          <a:noFill/>
        </p:spPr>
        <p:txBody>
          <a:bodyPr wrap="square" lIns="0" tIns="0" rIns="0" bIns="0" anchor="t">
            <a:noAutofit/>
          </a:bodyPr>
          <a:lstStyle/>
          <a:p>
            <a:pPr algn="l"/>
            <a:r>
              <a:rPr sz="1750" b="0" i="0">
                <a:solidFill>
                  <a:srgbClr val="10101B"/>
                </a:solidFill>
                <a:latin typeface="Arial"/>
              </a:rPr>
              <a:t>Methodology &amp; System Design</a:t>
            </a:r>
          </a:p>
        </p:txBody>
      </p:sp>
      <p:sp>
        <p:nvSpPr>
          <p:cNvPr id="30" name="Rectangle 29"/>
          <p:cNvSpPr/>
          <p:nvPr/>
        </p:nvSpPr>
        <p:spPr>
          <a:xfrm>
            <a:off x="9509760" y="3547872"/>
            <a:ext cx="7498079"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509760" y="3858768"/>
            <a:ext cx="640080" cy="402336"/>
          </a:xfrm>
          <a:prstGeom prst="rect">
            <a:avLst/>
          </a:prstGeom>
          <a:noFill/>
        </p:spPr>
        <p:txBody>
          <a:bodyPr wrap="square" lIns="0" tIns="0" rIns="0" bIns="0" anchor="t">
            <a:noAutofit/>
          </a:bodyPr>
          <a:lstStyle/>
          <a:p>
            <a:pPr algn="l"/>
            <a:r>
              <a:rPr sz="2400" b="1" i="0">
                <a:solidFill>
                  <a:srgbClr val="1200FF"/>
                </a:solidFill>
                <a:latin typeface="Arial"/>
              </a:rPr>
              <a:t>08</a:t>
            </a:r>
          </a:p>
        </p:txBody>
      </p:sp>
      <p:sp>
        <p:nvSpPr>
          <p:cNvPr id="32" name="TextBox 31"/>
          <p:cNvSpPr txBox="1"/>
          <p:nvPr/>
        </p:nvSpPr>
        <p:spPr>
          <a:xfrm>
            <a:off x="10259568" y="3886200"/>
            <a:ext cx="7132320" cy="365760"/>
          </a:xfrm>
          <a:prstGeom prst="rect">
            <a:avLst/>
          </a:prstGeom>
          <a:noFill/>
        </p:spPr>
        <p:txBody>
          <a:bodyPr wrap="square" lIns="0" tIns="0" rIns="0" bIns="0" anchor="t">
            <a:noAutofit/>
          </a:bodyPr>
          <a:lstStyle/>
          <a:p>
            <a:pPr algn="l"/>
            <a:r>
              <a:rPr sz="1750" b="0" i="0">
                <a:solidFill>
                  <a:srgbClr val="10101B"/>
                </a:solidFill>
                <a:latin typeface="Arial"/>
              </a:rPr>
              <a:t>Implementation</a:t>
            </a:r>
          </a:p>
        </p:txBody>
      </p:sp>
      <p:sp>
        <p:nvSpPr>
          <p:cNvPr id="33" name="Rectangle 32"/>
          <p:cNvSpPr/>
          <p:nvPr/>
        </p:nvSpPr>
        <p:spPr>
          <a:xfrm>
            <a:off x="9509760" y="4480560"/>
            <a:ext cx="7498079"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509760" y="4791456"/>
            <a:ext cx="640080" cy="402336"/>
          </a:xfrm>
          <a:prstGeom prst="rect">
            <a:avLst/>
          </a:prstGeom>
          <a:noFill/>
        </p:spPr>
        <p:txBody>
          <a:bodyPr wrap="square" lIns="0" tIns="0" rIns="0" bIns="0" anchor="t">
            <a:noAutofit/>
          </a:bodyPr>
          <a:lstStyle/>
          <a:p>
            <a:pPr algn="l"/>
            <a:r>
              <a:rPr sz="2400" b="1" i="0">
                <a:solidFill>
                  <a:srgbClr val="1200FF"/>
                </a:solidFill>
                <a:latin typeface="Arial"/>
              </a:rPr>
              <a:t>09</a:t>
            </a:r>
          </a:p>
        </p:txBody>
      </p:sp>
      <p:sp>
        <p:nvSpPr>
          <p:cNvPr id="35" name="TextBox 34"/>
          <p:cNvSpPr txBox="1"/>
          <p:nvPr/>
        </p:nvSpPr>
        <p:spPr>
          <a:xfrm>
            <a:off x="10259568" y="4818888"/>
            <a:ext cx="7132320" cy="365760"/>
          </a:xfrm>
          <a:prstGeom prst="rect">
            <a:avLst/>
          </a:prstGeom>
          <a:noFill/>
        </p:spPr>
        <p:txBody>
          <a:bodyPr wrap="square" lIns="0" tIns="0" rIns="0" bIns="0" anchor="t">
            <a:noAutofit/>
          </a:bodyPr>
          <a:lstStyle/>
          <a:p>
            <a:pPr algn="l"/>
            <a:r>
              <a:rPr sz="1750" b="0" i="0">
                <a:solidFill>
                  <a:srgbClr val="10101B"/>
                </a:solidFill>
                <a:latin typeface="Arial"/>
              </a:rPr>
              <a:t>Experimental Setup</a:t>
            </a:r>
          </a:p>
        </p:txBody>
      </p:sp>
      <p:sp>
        <p:nvSpPr>
          <p:cNvPr id="36" name="Rectangle 35"/>
          <p:cNvSpPr/>
          <p:nvPr/>
        </p:nvSpPr>
        <p:spPr>
          <a:xfrm>
            <a:off x="9509760" y="5413248"/>
            <a:ext cx="7498079"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509760" y="5724144"/>
            <a:ext cx="640080" cy="402336"/>
          </a:xfrm>
          <a:prstGeom prst="rect">
            <a:avLst/>
          </a:prstGeom>
          <a:noFill/>
        </p:spPr>
        <p:txBody>
          <a:bodyPr wrap="square" lIns="0" tIns="0" rIns="0" bIns="0" anchor="t">
            <a:noAutofit/>
          </a:bodyPr>
          <a:lstStyle/>
          <a:p>
            <a:pPr algn="l"/>
            <a:r>
              <a:rPr sz="2400" b="1" i="0">
                <a:solidFill>
                  <a:srgbClr val="1200FF"/>
                </a:solidFill>
                <a:latin typeface="Arial"/>
              </a:rPr>
              <a:t>10</a:t>
            </a:r>
          </a:p>
        </p:txBody>
      </p:sp>
      <p:sp>
        <p:nvSpPr>
          <p:cNvPr id="38" name="TextBox 37"/>
          <p:cNvSpPr txBox="1"/>
          <p:nvPr/>
        </p:nvSpPr>
        <p:spPr>
          <a:xfrm>
            <a:off x="10259568" y="5751576"/>
            <a:ext cx="7132320" cy="365760"/>
          </a:xfrm>
          <a:prstGeom prst="rect">
            <a:avLst/>
          </a:prstGeom>
          <a:noFill/>
        </p:spPr>
        <p:txBody>
          <a:bodyPr wrap="square" lIns="0" tIns="0" rIns="0" bIns="0" anchor="t">
            <a:noAutofit/>
          </a:bodyPr>
          <a:lstStyle/>
          <a:p>
            <a:pPr algn="l"/>
            <a:r>
              <a:rPr sz="1750" b="0" i="0">
                <a:solidFill>
                  <a:srgbClr val="10101B"/>
                </a:solidFill>
                <a:latin typeface="Arial"/>
              </a:rPr>
              <a:t>Results &amp; Analysis</a:t>
            </a:r>
          </a:p>
        </p:txBody>
      </p:sp>
      <p:sp>
        <p:nvSpPr>
          <p:cNvPr id="39" name="Rectangle 38"/>
          <p:cNvSpPr/>
          <p:nvPr/>
        </p:nvSpPr>
        <p:spPr>
          <a:xfrm>
            <a:off x="9509760" y="6345936"/>
            <a:ext cx="7498079"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509760" y="6656832"/>
            <a:ext cx="640080" cy="402336"/>
          </a:xfrm>
          <a:prstGeom prst="rect">
            <a:avLst/>
          </a:prstGeom>
          <a:noFill/>
        </p:spPr>
        <p:txBody>
          <a:bodyPr wrap="square" lIns="0" tIns="0" rIns="0" bIns="0" anchor="t">
            <a:noAutofit/>
          </a:bodyPr>
          <a:lstStyle/>
          <a:p>
            <a:pPr algn="l"/>
            <a:r>
              <a:rPr sz="2400" b="1" i="0">
                <a:solidFill>
                  <a:srgbClr val="1200FF"/>
                </a:solidFill>
                <a:latin typeface="Arial"/>
              </a:rPr>
              <a:t>11</a:t>
            </a:r>
          </a:p>
        </p:txBody>
      </p:sp>
      <p:sp>
        <p:nvSpPr>
          <p:cNvPr id="41" name="TextBox 40"/>
          <p:cNvSpPr txBox="1"/>
          <p:nvPr/>
        </p:nvSpPr>
        <p:spPr>
          <a:xfrm>
            <a:off x="10259568" y="6684264"/>
            <a:ext cx="7132320" cy="365760"/>
          </a:xfrm>
          <a:prstGeom prst="rect">
            <a:avLst/>
          </a:prstGeom>
          <a:noFill/>
        </p:spPr>
        <p:txBody>
          <a:bodyPr wrap="square" lIns="0" tIns="0" rIns="0" bIns="0" anchor="t">
            <a:noAutofit/>
          </a:bodyPr>
          <a:lstStyle/>
          <a:p>
            <a:pPr algn="l"/>
            <a:r>
              <a:rPr sz="1750" b="0" i="0">
                <a:solidFill>
                  <a:srgbClr val="10101B"/>
                </a:solidFill>
                <a:latin typeface="Arial"/>
              </a:rPr>
              <a:t>Comparison &amp; Limitations</a:t>
            </a:r>
          </a:p>
        </p:txBody>
      </p:sp>
      <p:sp>
        <p:nvSpPr>
          <p:cNvPr id="42" name="Rectangle 41"/>
          <p:cNvSpPr/>
          <p:nvPr/>
        </p:nvSpPr>
        <p:spPr>
          <a:xfrm>
            <a:off x="9509760" y="7278624"/>
            <a:ext cx="7498079"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509760" y="7589520"/>
            <a:ext cx="640080" cy="402336"/>
          </a:xfrm>
          <a:prstGeom prst="rect">
            <a:avLst/>
          </a:prstGeom>
          <a:noFill/>
        </p:spPr>
        <p:txBody>
          <a:bodyPr wrap="square" lIns="0" tIns="0" rIns="0" bIns="0" anchor="t">
            <a:noAutofit/>
          </a:bodyPr>
          <a:lstStyle/>
          <a:p>
            <a:pPr algn="l"/>
            <a:r>
              <a:rPr sz="2400" b="1" i="0">
                <a:solidFill>
                  <a:srgbClr val="1200FF"/>
                </a:solidFill>
                <a:latin typeface="Arial"/>
              </a:rPr>
              <a:t>12</a:t>
            </a:r>
          </a:p>
        </p:txBody>
      </p:sp>
      <p:sp>
        <p:nvSpPr>
          <p:cNvPr id="44" name="TextBox 43"/>
          <p:cNvSpPr txBox="1"/>
          <p:nvPr/>
        </p:nvSpPr>
        <p:spPr>
          <a:xfrm>
            <a:off x="10259568" y="7616952"/>
            <a:ext cx="7132320" cy="365760"/>
          </a:xfrm>
          <a:prstGeom prst="rect">
            <a:avLst/>
          </a:prstGeom>
          <a:noFill/>
        </p:spPr>
        <p:txBody>
          <a:bodyPr wrap="square" lIns="0" tIns="0" rIns="0" bIns="0" anchor="t">
            <a:noAutofit/>
          </a:bodyPr>
          <a:lstStyle/>
          <a:p>
            <a:pPr algn="l"/>
            <a:r>
              <a:rPr sz="1750" b="0" i="0">
                <a:solidFill>
                  <a:srgbClr val="10101B"/>
                </a:solidFill>
                <a:latin typeface="Arial"/>
              </a:rPr>
              <a:t>Conclusion &amp; Future Work</a:t>
            </a:r>
          </a:p>
        </p:txBody>
      </p:sp>
      <p:sp>
        <p:nvSpPr>
          <p:cNvPr id="45" name="Rectangle 44"/>
          <p:cNvSpPr/>
          <p:nvPr/>
        </p:nvSpPr>
        <p:spPr>
          <a:xfrm>
            <a:off x="9509760" y="8211312"/>
            <a:ext cx="7498079"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01 — INTRODUCTION</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Introduction &amp; Background</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03 / 22</a:t>
            </a:r>
          </a:p>
        </p:txBody>
      </p:sp>
      <p:sp>
        <p:nvSpPr>
          <p:cNvPr id="9" name="TextBox 8"/>
          <p:cNvSpPr txBox="1"/>
          <p:nvPr/>
        </p:nvSpPr>
        <p:spPr>
          <a:xfrm>
            <a:off x="1051560" y="2788920"/>
            <a:ext cx="8503920" cy="502920"/>
          </a:xfrm>
          <a:prstGeom prst="rect">
            <a:avLst/>
          </a:prstGeom>
          <a:noFill/>
        </p:spPr>
        <p:txBody>
          <a:bodyPr wrap="square" lIns="0" tIns="0" rIns="0" bIns="0" anchor="t">
            <a:noAutofit/>
          </a:bodyPr>
          <a:lstStyle/>
          <a:p>
            <a:pPr algn="l"/>
            <a:r>
              <a:rPr sz="2700" b="1" i="0">
                <a:solidFill>
                  <a:srgbClr val="10101B"/>
                </a:solidFill>
                <a:latin typeface="Arial"/>
              </a:rPr>
              <a:t>The install phase is executable code</a:t>
            </a:r>
          </a:p>
        </p:txBody>
      </p:sp>
      <p:sp>
        <p:nvSpPr>
          <p:cNvPr id="10" name="Rectangle 9"/>
          <p:cNvSpPr/>
          <p:nvPr/>
        </p:nvSpPr>
        <p:spPr>
          <a:xfrm>
            <a:off x="1051560" y="3657600"/>
            <a:ext cx="64008" cy="1024128"/>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1" name="TextBox 10"/>
          <p:cNvSpPr txBox="1"/>
          <p:nvPr/>
        </p:nvSpPr>
        <p:spPr>
          <a:xfrm>
            <a:off x="1298448" y="3630168"/>
            <a:ext cx="8229600" cy="256032"/>
          </a:xfrm>
          <a:prstGeom prst="rect">
            <a:avLst/>
          </a:prstGeom>
          <a:noFill/>
        </p:spPr>
        <p:txBody>
          <a:bodyPr wrap="square" lIns="0" tIns="0" rIns="0" bIns="0" anchor="t">
            <a:noAutofit/>
          </a:bodyPr>
          <a:lstStyle/>
          <a:p>
            <a:pPr algn="l"/>
            <a:r>
              <a:rPr sz="1250" b="1" i="0">
                <a:solidFill>
                  <a:srgbClr val="1200FF"/>
                </a:solidFill>
                <a:latin typeface="Arial"/>
              </a:rPr>
              <a:t>CONTEXT</a:t>
            </a:r>
          </a:p>
        </p:txBody>
      </p:sp>
      <p:sp>
        <p:nvSpPr>
          <p:cNvPr id="12" name="TextBox 11"/>
          <p:cNvSpPr txBox="1"/>
          <p:nvPr/>
        </p:nvSpPr>
        <p:spPr>
          <a:xfrm>
            <a:off x="1298448" y="3904487"/>
            <a:ext cx="8321040" cy="868680"/>
          </a:xfrm>
          <a:prstGeom prst="rect">
            <a:avLst/>
          </a:prstGeom>
          <a:noFill/>
        </p:spPr>
        <p:txBody>
          <a:bodyPr wrap="square" lIns="0" tIns="0" rIns="0" bIns="0" anchor="t">
            <a:noAutofit/>
          </a:bodyPr>
          <a:lstStyle/>
          <a:p>
            <a:pPr algn="l">
              <a:lnSpc>
                <a:spcPct val="110000"/>
              </a:lnSpc>
            </a:pPr>
            <a:r>
              <a:rPr sz="1820" b="1" i="0" dirty="0" err="1">
                <a:solidFill>
                  <a:srgbClr val="10101B"/>
                </a:solidFill>
                <a:latin typeface="Arial"/>
              </a:rPr>
              <a:t>npm</a:t>
            </a:r>
            <a:r>
              <a:rPr sz="1820" b="1" i="0" dirty="0">
                <a:solidFill>
                  <a:srgbClr val="10101B"/>
                </a:solidFill>
                <a:latin typeface="Arial"/>
              </a:rPr>
              <a:t> runs preinstall, install, and </a:t>
            </a:r>
            <a:r>
              <a:rPr sz="1820" b="1" i="0" dirty="0" err="1">
                <a:solidFill>
                  <a:srgbClr val="10101B"/>
                </a:solidFill>
                <a:latin typeface="Arial"/>
              </a:rPr>
              <a:t>postinstall</a:t>
            </a:r>
            <a:r>
              <a:rPr sz="1820" b="1" i="0" dirty="0">
                <a:solidFill>
                  <a:srgbClr val="10101B"/>
                </a:solidFill>
                <a:latin typeface="Arial"/>
              </a:rPr>
              <a:t> hooks with the installing user's privileges — before the application imports a single line.</a:t>
            </a:r>
          </a:p>
        </p:txBody>
      </p:sp>
      <p:sp>
        <p:nvSpPr>
          <p:cNvPr id="13" name="Rectangle 12"/>
          <p:cNvSpPr/>
          <p:nvPr/>
        </p:nvSpPr>
        <p:spPr>
          <a:xfrm>
            <a:off x="1051560" y="5010912"/>
            <a:ext cx="64008" cy="1024128"/>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4" name="TextBox 13"/>
          <p:cNvSpPr txBox="1"/>
          <p:nvPr/>
        </p:nvSpPr>
        <p:spPr>
          <a:xfrm>
            <a:off x="1298448" y="4983480"/>
            <a:ext cx="8229600" cy="256032"/>
          </a:xfrm>
          <a:prstGeom prst="rect">
            <a:avLst/>
          </a:prstGeom>
          <a:noFill/>
        </p:spPr>
        <p:txBody>
          <a:bodyPr wrap="square" lIns="0" tIns="0" rIns="0" bIns="0" anchor="t">
            <a:noAutofit/>
          </a:bodyPr>
          <a:lstStyle/>
          <a:p>
            <a:pPr algn="l"/>
            <a:r>
              <a:rPr sz="1250" b="1" i="0">
                <a:solidFill>
                  <a:srgbClr val="1200FF"/>
                </a:solidFill>
                <a:latin typeface="Arial"/>
              </a:rPr>
              <a:t>MOTIVATION</a:t>
            </a:r>
          </a:p>
        </p:txBody>
      </p:sp>
      <p:sp>
        <p:nvSpPr>
          <p:cNvPr id="15" name="TextBox 14"/>
          <p:cNvSpPr txBox="1"/>
          <p:nvPr/>
        </p:nvSpPr>
        <p:spPr>
          <a:xfrm>
            <a:off x="1298448" y="5257800"/>
            <a:ext cx="8321040" cy="868680"/>
          </a:xfrm>
          <a:prstGeom prst="rect">
            <a:avLst/>
          </a:prstGeom>
          <a:noFill/>
        </p:spPr>
        <p:txBody>
          <a:bodyPr wrap="square" lIns="0" tIns="0" rIns="0" bIns="0" anchor="t">
            <a:noAutofit/>
          </a:bodyPr>
          <a:lstStyle/>
          <a:p>
            <a:pPr algn="l">
              <a:lnSpc>
                <a:spcPct val="110000"/>
              </a:lnSpc>
            </a:pPr>
            <a:r>
              <a:rPr sz="1820" b="1" i="0" dirty="0">
                <a:solidFill>
                  <a:srgbClr val="10101B"/>
                </a:solidFill>
                <a:latin typeface="Arial"/>
              </a:rPr>
              <a:t>Attackers now place payloads in </a:t>
            </a:r>
            <a:r>
              <a:rPr sz="1820" b="1" i="0" dirty="0" err="1">
                <a:solidFill>
                  <a:srgbClr val="10101B"/>
                </a:solidFill>
                <a:latin typeface="Arial"/>
              </a:rPr>
              <a:t>package.json</a:t>
            </a:r>
            <a:r>
              <a:rPr sz="1820" b="1" i="0" dirty="0">
                <a:solidFill>
                  <a:srgbClr val="10101B"/>
                </a:solidFill>
                <a:latin typeface="Arial"/>
              </a:rPr>
              <a:t> hooks, </a:t>
            </a:r>
            <a:r>
              <a:rPr sz="1820" b="1" i="0" dirty="0" err="1">
                <a:solidFill>
                  <a:srgbClr val="10101B"/>
                </a:solidFill>
                <a:latin typeface="Arial"/>
              </a:rPr>
              <a:t>binding.gyp</a:t>
            </a:r>
            <a:r>
              <a:rPr sz="1820" b="1" i="0" dirty="0">
                <a:solidFill>
                  <a:srgbClr val="10101B"/>
                </a:solidFill>
                <a:latin typeface="Arial"/>
              </a:rPr>
              <a:t>, and packed binaries. Miasma reached 57 packages; </a:t>
            </a:r>
            <a:r>
              <a:rPr sz="1820" b="1" i="0" dirty="0" err="1">
                <a:solidFill>
                  <a:srgbClr val="10101B"/>
                </a:solidFill>
                <a:latin typeface="Arial"/>
              </a:rPr>
              <a:t>IronWorm</a:t>
            </a:r>
            <a:r>
              <a:rPr sz="1820" b="1" i="0" dirty="0">
                <a:solidFill>
                  <a:srgbClr val="10101B"/>
                </a:solidFill>
                <a:latin typeface="Arial"/>
              </a:rPr>
              <a:t> shipped packed preinstall binaries with </a:t>
            </a:r>
            <a:r>
              <a:rPr sz="1820" b="1" i="0" dirty="0" err="1">
                <a:solidFill>
                  <a:srgbClr val="10101B"/>
                </a:solidFill>
                <a:latin typeface="Arial"/>
              </a:rPr>
              <a:t>eBPF</a:t>
            </a:r>
            <a:r>
              <a:rPr sz="1820" b="1" i="0" dirty="0">
                <a:solidFill>
                  <a:srgbClr val="10101B"/>
                </a:solidFill>
                <a:latin typeface="Arial"/>
              </a:rPr>
              <a:t> rootkits.</a:t>
            </a:r>
          </a:p>
        </p:txBody>
      </p:sp>
      <p:sp>
        <p:nvSpPr>
          <p:cNvPr id="16" name="Rectangle 15"/>
          <p:cNvSpPr/>
          <p:nvPr/>
        </p:nvSpPr>
        <p:spPr>
          <a:xfrm>
            <a:off x="1051560" y="6364224"/>
            <a:ext cx="64008" cy="1024128"/>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7" name="TextBox 16"/>
          <p:cNvSpPr txBox="1"/>
          <p:nvPr/>
        </p:nvSpPr>
        <p:spPr>
          <a:xfrm>
            <a:off x="1298448" y="6336792"/>
            <a:ext cx="8229600" cy="256032"/>
          </a:xfrm>
          <a:prstGeom prst="rect">
            <a:avLst/>
          </a:prstGeom>
          <a:noFill/>
        </p:spPr>
        <p:txBody>
          <a:bodyPr wrap="square" lIns="0" tIns="0" rIns="0" bIns="0" anchor="t">
            <a:noAutofit/>
          </a:bodyPr>
          <a:lstStyle/>
          <a:p>
            <a:pPr algn="l"/>
            <a:r>
              <a:rPr sz="1250" b="1" i="0">
                <a:solidFill>
                  <a:srgbClr val="1200FF"/>
                </a:solidFill>
                <a:latin typeface="Arial"/>
              </a:rPr>
              <a:t>SCOPE</a:t>
            </a:r>
          </a:p>
        </p:txBody>
      </p:sp>
      <p:sp>
        <p:nvSpPr>
          <p:cNvPr id="18" name="TextBox 17"/>
          <p:cNvSpPr txBox="1"/>
          <p:nvPr/>
        </p:nvSpPr>
        <p:spPr>
          <a:xfrm>
            <a:off x="1298448" y="6611112"/>
            <a:ext cx="8321040" cy="868680"/>
          </a:xfrm>
          <a:prstGeom prst="rect">
            <a:avLst/>
          </a:prstGeom>
          <a:noFill/>
        </p:spPr>
        <p:txBody>
          <a:bodyPr wrap="square" lIns="0" tIns="0" rIns="0" bIns="0" anchor="t">
            <a:noAutofit/>
          </a:bodyPr>
          <a:lstStyle/>
          <a:p>
            <a:pPr algn="l">
              <a:lnSpc>
                <a:spcPct val="110000"/>
              </a:lnSpc>
            </a:pPr>
            <a:r>
              <a:rPr sz="1820" b="1" i="0" dirty="0">
                <a:solidFill>
                  <a:srgbClr val="10101B"/>
                </a:solidFill>
                <a:latin typeface="Arial"/>
              </a:rPr>
              <a:t>This thesis evaluates malicious </a:t>
            </a:r>
            <a:r>
              <a:rPr sz="1820" b="1" i="0" dirty="0" err="1">
                <a:solidFill>
                  <a:srgbClr val="10101B"/>
                </a:solidFill>
                <a:latin typeface="Arial"/>
              </a:rPr>
              <a:t>npm</a:t>
            </a:r>
            <a:r>
              <a:rPr sz="1820" b="1" i="0" dirty="0">
                <a:solidFill>
                  <a:srgbClr val="10101B"/>
                </a:solidFill>
                <a:latin typeface="Arial"/>
              </a:rPr>
              <a:t> packages that execute during install on Linux. Require-time-only malware is outside the declared threat model</a:t>
            </a:r>
            <a:r>
              <a:rPr sz="1820" b="0" i="0" dirty="0">
                <a:solidFill>
                  <a:srgbClr val="10101B"/>
                </a:solidFill>
                <a:latin typeface="Arial"/>
              </a:rPr>
              <a:t>.</a:t>
            </a:r>
          </a:p>
        </p:txBody>
      </p:sp>
      <p:pic>
        <p:nvPicPr>
          <p:cNvPr id="45" name="Picture 44">
            <a:extLst>
              <a:ext uri="{FF2B5EF4-FFF2-40B4-BE49-F238E27FC236}">
                <a16:creationId xmlns:a16="http://schemas.microsoft.com/office/drawing/2014/main" id="{666D7E60-EFA8-6170-6EDC-E172A1E4CFF1}"/>
              </a:ext>
            </a:extLst>
          </p:cNvPr>
          <p:cNvPicPr>
            <a:picLocks noChangeAspect="1"/>
          </p:cNvPicPr>
          <p:nvPr/>
        </p:nvPicPr>
        <p:blipFill>
          <a:blip r:embed="rId4"/>
          <a:stretch>
            <a:fillRect/>
          </a:stretch>
        </p:blipFill>
        <p:spPr>
          <a:xfrm>
            <a:off x="9738360" y="2264156"/>
            <a:ext cx="8229600" cy="51241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02 — PROBLEM STATEMENT</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The Problem We Address</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04 / 22</a:t>
            </a:r>
          </a:p>
        </p:txBody>
      </p:sp>
      <p:sp>
        <p:nvSpPr>
          <p:cNvPr id="9" name="Rounded Rectangle 8"/>
          <p:cNvSpPr/>
          <p:nvPr/>
        </p:nvSpPr>
        <p:spPr>
          <a:xfrm>
            <a:off x="1051560" y="2697480"/>
            <a:ext cx="16194024" cy="1417320"/>
          </a:xfrm>
          <a:prstGeom prst="roundRect">
            <a:avLst>
              <a:gd name="adj" fmla="val 3500"/>
            </a:avLst>
          </a:prstGeom>
          <a:solidFill>
            <a:srgbClr val="10101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0" name="TextBox 9"/>
          <p:cNvSpPr txBox="1"/>
          <p:nvPr/>
        </p:nvSpPr>
        <p:spPr>
          <a:xfrm>
            <a:off x="1417320" y="2889504"/>
            <a:ext cx="15407640" cy="1051560"/>
          </a:xfrm>
          <a:prstGeom prst="rect">
            <a:avLst/>
          </a:prstGeom>
          <a:noFill/>
        </p:spPr>
        <p:txBody>
          <a:bodyPr wrap="square" lIns="0" tIns="0" rIns="0" bIns="0" anchor="ctr">
            <a:noAutofit/>
          </a:bodyPr>
          <a:lstStyle/>
          <a:p>
            <a:pPr algn="l">
              <a:lnSpc>
                <a:spcPct val="105000"/>
              </a:lnSpc>
            </a:pPr>
            <a:r>
              <a:rPr sz="2500" b="1" i="0">
                <a:solidFill>
                  <a:srgbClr val="FFFFFF"/>
                </a:solidFill>
                <a:latin typeface="Arial"/>
              </a:rPr>
              <a:t>An install hook can steal credentials before any scanner sees intent — and most detectors cannot observe or stop it.</a:t>
            </a:r>
          </a:p>
        </p:txBody>
      </p:sp>
      <p:sp>
        <p:nvSpPr>
          <p:cNvPr id="11" name="TextBox 10"/>
          <p:cNvSpPr txBox="1"/>
          <p:nvPr/>
        </p:nvSpPr>
        <p:spPr>
          <a:xfrm>
            <a:off x="1051560" y="4617720"/>
            <a:ext cx="5212080" cy="274320"/>
          </a:xfrm>
          <a:prstGeom prst="rect">
            <a:avLst/>
          </a:prstGeom>
          <a:noFill/>
        </p:spPr>
        <p:txBody>
          <a:bodyPr wrap="square" lIns="0" tIns="0" rIns="0" bIns="0" anchor="t">
            <a:noAutofit/>
          </a:bodyPr>
          <a:lstStyle/>
          <a:p>
            <a:pPr algn="l"/>
            <a:r>
              <a:rPr sz="1250" b="1" i="0">
                <a:solidFill>
                  <a:srgbClr val="1200FF"/>
                </a:solidFill>
                <a:latin typeface="Arial"/>
              </a:rPr>
              <a:t>WHO IS AFFECTED</a:t>
            </a:r>
          </a:p>
        </p:txBody>
      </p:sp>
      <p:sp>
        <p:nvSpPr>
          <p:cNvPr id="12" name="TextBox 11"/>
          <p:cNvSpPr txBox="1"/>
          <p:nvPr/>
        </p:nvSpPr>
        <p:spPr>
          <a:xfrm>
            <a:off x="1051560" y="4919472"/>
            <a:ext cx="5212080" cy="1325880"/>
          </a:xfrm>
          <a:prstGeom prst="rect">
            <a:avLst/>
          </a:prstGeom>
          <a:noFill/>
        </p:spPr>
        <p:txBody>
          <a:bodyPr wrap="square" lIns="0" tIns="0" rIns="0" bIns="0" anchor="t">
            <a:noAutofit/>
          </a:bodyPr>
          <a:lstStyle/>
          <a:p>
            <a:pPr algn="l">
              <a:lnSpc>
                <a:spcPct val="110000"/>
              </a:lnSpc>
            </a:pPr>
            <a:r>
              <a:rPr sz="1720" b="0" i="0">
                <a:solidFill>
                  <a:srgbClr val="10101B"/>
                </a:solidFill>
                <a:latin typeface="Arial"/>
              </a:rPr>
              <a:t>Developers and CI pipelines that run npm install with real credentials and no install-time enforcement.</a:t>
            </a:r>
          </a:p>
        </p:txBody>
      </p:sp>
      <p:sp>
        <p:nvSpPr>
          <p:cNvPr id="13" name="TextBox 12"/>
          <p:cNvSpPr txBox="1"/>
          <p:nvPr/>
        </p:nvSpPr>
        <p:spPr>
          <a:xfrm>
            <a:off x="6556248" y="4617720"/>
            <a:ext cx="5212080" cy="274320"/>
          </a:xfrm>
          <a:prstGeom prst="rect">
            <a:avLst/>
          </a:prstGeom>
          <a:noFill/>
        </p:spPr>
        <p:txBody>
          <a:bodyPr wrap="square" lIns="0" tIns="0" rIns="0" bIns="0" anchor="t">
            <a:noAutofit/>
          </a:bodyPr>
          <a:lstStyle/>
          <a:p>
            <a:pPr algn="l"/>
            <a:r>
              <a:rPr sz="1250" b="1" i="0">
                <a:solidFill>
                  <a:srgbClr val="1200FF"/>
                </a:solidFill>
                <a:latin typeface="Arial"/>
              </a:rPr>
              <a:t>CURRENT LIMITATION</a:t>
            </a:r>
          </a:p>
        </p:txBody>
      </p:sp>
      <p:sp>
        <p:nvSpPr>
          <p:cNvPr id="14" name="TextBox 13"/>
          <p:cNvSpPr txBox="1"/>
          <p:nvPr/>
        </p:nvSpPr>
        <p:spPr>
          <a:xfrm>
            <a:off x="6556248" y="4919472"/>
            <a:ext cx="5212080" cy="1325880"/>
          </a:xfrm>
          <a:prstGeom prst="rect">
            <a:avLst/>
          </a:prstGeom>
          <a:noFill/>
        </p:spPr>
        <p:txBody>
          <a:bodyPr wrap="square" lIns="0" tIns="0" rIns="0" bIns="0" anchor="t">
            <a:noAutofit/>
          </a:bodyPr>
          <a:lstStyle/>
          <a:p>
            <a:pPr algn="l">
              <a:lnSpc>
                <a:spcPct val="110000"/>
              </a:lnSpc>
            </a:pPr>
            <a:r>
              <a:rPr sz="1720" b="0" i="0">
                <a:solidFill>
                  <a:srgbClr val="10101B"/>
                </a:solidFill>
                <a:latin typeface="Arial"/>
              </a:rPr>
              <a:t>Static and learned models see capability, not intent; ptrace is evadable; scores arrive without reviewable evidence.</a:t>
            </a:r>
          </a:p>
        </p:txBody>
      </p:sp>
      <p:sp>
        <p:nvSpPr>
          <p:cNvPr id="15" name="TextBox 14"/>
          <p:cNvSpPr txBox="1"/>
          <p:nvPr/>
        </p:nvSpPr>
        <p:spPr>
          <a:xfrm>
            <a:off x="12060936" y="4617720"/>
            <a:ext cx="5212080" cy="274320"/>
          </a:xfrm>
          <a:prstGeom prst="rect">
            <a:avLst/>
          </a:prstGeom>
          <a:noFill/>
        </p:spPr>
        <p:txBody>
          <a:bodyPr wrap="square" lIns="0" tIns="0" rIns="0" bIns="0" anchor="t">
            <a:noAutofit/>
          </a:bodyPr>
          <a:lstStyle/>
          <a:p>
            <a:pPr algn="l"/>
            <a:r>
              <a:rPr sz="1250" b="1" i="0">
                <a:solidFill>
                  <a:srgbClr val="1200FF"/>
                </a:solidFill>
                <a:latin typeface="Arial"/>
              </a:rPr>
              <a:t>WHY NOW</a:t>
            </a:r>
          </a:p>
        </p:txBody>
      </p:sp>
      <p:sp>
        <p:nvSpPr>
          <p:cNvPr id="16" name="TextBox 15"/>
          <p:cNvSpPr txBox="1"/>
          <p:nvPr/>
        </p:nvSpPr>
        <p:spPr>
          <a:xfrm>
            <a:off x="12060936" y="4919472"/>
            <a:ext cx="5212080" cy="1325880"/>
          </a:xfrm>
          <a:prstGeom prst="rect">
            <a:avLst/>
          </a:prstGeom>
          <a:noFill/>
        </p:spPr>
        <p:txBody>
          <a:bodyPr wrap="square" lIns="0" tIns="0" rIns="0" bIns="0" anchor="t">
            <a:noAutofit/>
          </a:bodyPr>
          <a:lstStyle/>
          <a:p>
            <a:pPr algn="l">
              <a:lnSpc>
                <a:spcPct val="110000"/>
              </a:lnSpc>
            </a:pPr>
            <a:r>
              <a:rPr sz="1720" b="0" i="0">
                <a:solidFill>
                  <a:srgbClr val="10101B"/>
                </a:solidFill>
                <a:latin typeface="Arial"/>
              </a:rPr>
              <a:t>Supply-chain worms hide payloads in hooks, native build files, and packed binaries; known-bad databases cannot cover zero-days.</a:t>
            </a:r>
          </a:p>
        </p:txBody>
      </p:sp>
      <p:sp>
        <p:nvSpPr>
          <p:cNvPr id="17" name="TextBox 16"/>
          <p:cNvSpPr txBox="1"/>
          <p:nvPr/>
        </p:nvSpPr>
        <p:spPr>
          <a:xfrm>
            <a:off x="1051560" y="6419088"/>
            <a:ext cx="15910559" cy="274320"/>
          </a:xfrm>
          <a:prstGeom prst="rect">
            <a:avLst/>
          </a:prstGeom>
          <a:noFill/>
        </p:spPr>
        <p:txBody>
          <a:bodyPr wrap="square" lIns="0" tIns="0" rIns="0" bIns="0" anchor="t">
            <a:noAutofit/>
          </a:bodyPr>
          <a:lstStyle/>
          <a:p>
            <a:pPr algn="l"/>
            <a:r>
              <a:rPr sz="1250" b="1" i="0">
                <a:solidFill>
                  <a:srgbClr val="4A4A5C"/>
                </a:solidFill>
                <a:latin typeface="Arial"/>
              </a:rPr>
              <a:t>FOUR LINKED FAILURES</a:t>
            </a:r>
          </a:p>
        </p:txBody>
      </p:sp>
      <p:sp>
        <p:nvSpPr>
          <p:cNvPr id="18" name="Rounded Rectangle 17"/>
          <p:cNvSpPr/>
          <p:nvPr/>
        </p:nvSpPr>
        <p:spPr>
          <a:xfrm>
            <a:off x="1051560" y="6784848"/>
            <a:ext cx="3822191" cy="566928"/>
          </a:xfrm>
          <a:prstGeom prst="roundRect">
            <a:avLst>
              <a:gd name="adj" fmla="val 25000"/>
            </a:avLst>
          </a:prstGeom>
          <a:solidFill>
            <a:srgbClr val="FBECE9"/>
          </a:solidFill>
          <a:ln w="11430">
            <a:solidFill>
              <a:srgbClr val="D95D4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550" b="1">
                <a:solidFill>
                  <a:srgbClr val="10101B"/>
                </a:solidFill>
                <a:latin typeface="Arial"/>
              </a:rPr>
              <a:t>Capability ≠ intent</a:t>
            </a:r>
          </a:p>
        </p:txBody>
      </p:sp>
      <p:sp>
        <p:nvSpPr>
          <p:cNvPr id="19" name="Rounded Rectangle 18"/>
          <p:cNvSpPr/>
          <p:nvPr/>
        </p:nvSpPr>
        <p:spPr>
          <a:xfrm>
            <a:off x="5138927" y="6784848"/>
            <a:ext cx="3822191" cy="566928"/>
          </a:xfrm>
          <a:prstGeom prst="roundRect">
            <a:avLst>
              <a:gd name="adj" fmla="val 25000"/>
            </a:avLst>
          </a:prstGeom>
          <a:solidFill>
            <a:srgbClr val="FBECE9"/>
          </a:solidFill>
          <a:ln w="11430">
            <a:solidFill>
              <a:srgbClr val="D95D4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550" b="1">
                <a:solidFill>
                  <a:srgbClr val="10101B"/>
                </a:solidFill>
                <a:latin typeface="Arial"/>
              </a:rPr>
              <a:t>Models drift</a:t>
            </a:r>
          </a:p>
        </p:txBody>
      </p:sp>
      <p:sp>
        <p:nvSpPr>
          <p:cNvPr id="20" name="Rounded Rectangle 19"/>
          <p:cNvSpPr/>
          <p:nvPr/>
        </p:nvSpPr>
        <p:spPr>
          <a:xfrm>
            <a:off x="9226296" y="6784848"/>
            <a:ext cx="3822191" cy="566928"/>
          </a:xfrm>
          <a:prstGeom prst="roundRect">
            <a:avLst>
              <a:gd name="adj" fmla="val 25000"/>
            </a:avLst>
          </a:prstGeom>
          <a:solidFill>
            <a:srgbClr val="FBECE9"/>
          </a:solidFill>
          <a:ln w="11430">
            <a:solidFill>
              <a:srgbClr val="D95D4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550" b="1">
                <a:solidFill>
                  <a:srgbClr val="10101B"/>
                </a:solidFill>
                <a:latin typeface="Arial"/>
              </a:rPr>
              <a:t>ptrace is evadable</a:t>
            </a:r>
          </a:p>
        </p:txBody>
      </p:sp>
      <p:sp>
        <p:nvSpPr>
          <p:cNvPr id="21" name="Rounded Rectangle 20"/>
          <p:cNvSpPr/>
          <p:nvPr/>
        </p:nvSpPr>
        <p:spPr>
          <a:xfrm>
            <a:off x="13313664" y="6784848"/>
            <a:ext cx="3822191" cy="566928"/>
          </a:xfrm>
          <a:prstGeom prst="roundRect">
            <a:avLst>
              <a:gd name="adj" fmla="val 25000"/>
            </a:avLst>
          </a:prstGeom>
          <a:solidFill>
            <a:srgbClr val="FBECE9"/>
          </a:solidFill>
          <a:ln w="11430">
            <a:solidFill>
              <a:srgbClr val="D95D4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550" b="1">
                <a:solidFill>
                  <a:srgbClr val="10101B"/>
                </a:solidFill>
                <a:latin typeface="Arial"/>
              </a:rPr>
              <a:t>Scores ≠ evidence</a:t>
            </a:r>
          </a:p>
        </p:txBody>
      </p:sp>
      <p:sp>
        <p:nvSpPr>
          <p:cNvPr id="22" name="TextBox 21"/>
          <p:cNvSpPr txBox="1"/>
          <p:nvPr/>
        </p:nvSpPr>
        <p:spPr>
          <a:xfrm>
            <a:off x="1051560" y="7635240"/>
            <a:ext cx="15910559" cy="502920"/>
          </a:xfrm>
          <a:prstGeom prst="rect">
            <a:avLst/>
          </a:prstGeom>
          <a:noFill/>
        </p:spPr>
        <p:txBody>
          <a:bodyPr wrap="square" lIns="0" tIns="0" rIns="0" bIns="0" anchor="t">
            <a:noAutofit/>
          </a:bodyPr>
          <a:lstStyle/>
          <a:p>
            <a:pPr algn="l"/>
            <a:r>
              <a:rPr sz="1750" b="1" i="0">
                <a:solidFill>
                  <a:srgbClr val="D95D45"/>
                </a:solidFill>
                <a:latin typeface="Arial"/>
              </a:rPr>
              <a:t>Result: a blocking gate that developers will keep enabled is still missing.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03 — RESEARCH QUESTIONS</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Four Questions, Four Evidence Paths</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05 / 22</a:t>
            </a:r>
          </a:p>
        </p:txBody>
      </p:sp>
      <p:sp>
        <p:nvSpPr>
          <p:cNvPr id="9" name="Rounded Rectangle 8"/>
          <p:cNvSpPr/>
          <p:nvPr/>
        </p:nvSpPr>
        <p:spPr>
          <a:xfrm>
            <a:off x="1051560" y="2697480"/>
            <a:ext cx="7909560" cy="2395728"/>
          </a:xfrm>
          <a:prstGeom prst="roundRect">
            <a:avLst>
              <a:gd name="adj" fmla="val 4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0" name="Rectangle 9"/>
          <p:cNvSpPr/>
          <p:nvPr/>
        </p:nvSpPr>
        <p:spPr>
          <a:xfrm>
            <a:off x="1051560" y="2697480"/>
            <a:ext cx="73152" cy="2395728"/>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1" name="TextBox 10"/>
          <p:cNvSpPr txBox="1"/>
          <p:nvPr/>
        </p:nvSpPr>
        <p:spPr>
          <a:xfrm>
            <a:off x="1307592" y="2862072"/>
            <a:ext cx="1188720" cy="411480"/>
          </a:xfrm>
          <a:prstGeom prst="rect">
            <a:avLst/>
          </a:prstGeom>
          <a:noFill/>
        </p:spPr>
        <p:txBody>
          <a:bodyPr wrap="square" lIns="0" tIns="0" rIns="0" bIns="0" anchor="t">
            <a:noAutofit/>
          </a:bodyPr>
          <a:lstStyle/>
          <a:p>
            <a:pPr algn="l"/>
            <a:r>
              <a:rPr sz="2400" b="1" i="0">
                <a:solidFill>
                  <a:srgbClr val="1200FF"/>
                </a:solidFill>
                <a:latin typeface="Arial"/>
              </a:rPr>
              <a:t>RQ1</a:t>
            </a:r>
          </a:p>
        </p:txBody>
      </p:sp>
      <p:sp>
        <p:nvSpPr>
          <p:cNvPr id="12" name="TextBox 11"/>
          <p:cNvSpPr txBox="1"/>
          <p:nvPr/>
        </p:nvSpPr>
        <p:spPr>
          <a:xfrm>
            <a:off x="1307592" y="3355848"/>
            <a:ext cx="7360920" cy="1115568"/>
          </a:xfrm>
          <a:prstGeom prst="rect">
            <a:avLst/>
          </a:prstGeom>
          <a:noFill/>
        </p:spPr>
        <p:txBody>
          <a:bodyPr wrap="square" lIns="0" tIns="0" rIns="0" bIns="0" anchor="t">
            <a:noAutofit/>
          </a:bodyPr>
          <a:lstStyle/>
          <a:p>
            <a:pPr algn="l">
              <a:lnSpc>
                <a:spcPct val="108000"/>
              </a:lnSpc>
            </a:pPr>
            <a:r>
              <a:rPr sz="1650" b="1" i="0" dirty="0">
                <a:solidFill>
                  <a:srgbClr val="10101B"/>
                </a:solidFill>
                <a:latin typeface="Arial"/>
              </a:rPr>
              <a:t>Can a multi-layer behavioral-chain pipeline detect malicious </a:t>
            </a:r>
            <a:r>
              <a:rPr sz="1650" b="1" i="0" dirty="0" err="1">
                <a:solidFill>
                  <a:srgbClr val="10101B"/>
                </a:solidFill>
                <a:latin typeface="Arial"/>
              </a:rPr>
              <a:t>npm</a:t>
            </a:r>
            <a:r>
              <a:rPr sz="1650" b="1" i="0" dirty="0">
                <a:solidFill>
                  <a:srgbClr val="10101B"/>
                </a:solidFill>
                <a:latin typeface="Arial"/>
              </a:rPr>
              <a:t> packages while keeping the false-positive rate low enough for an install gate?</a:t>
            </a:r>
          </a:p>
        </p:txBody>
      </p:sp>
      <p:sp>
        <p:nvSpPr>
          <p:cNvPr id="13" name="TextBox 12"/>
          <p:cNvSpPr txBox="1"/>
          <p:nvPr/>
        </p:nvSpPr>
        <p:spPr>
          <a:xfrm>
            <a:off x="1307592" y="4544568"/>
            <a:ext cx="7360920" cy="384048"/>
          </a:xfrm>
          <a:prstGeom prst="rect">
            <a:avLst/>
          </a:prstGeom>
          <a:noFill/>
        </p:spPr>
        <p:txBody>
          <a:bodyPr wrap="square" lIns="0" tIns="0" rIns="0" bIns="0" anchor="t">
            <a:noAutofit/>
          </a:bodyPr>
          <a:lstStyle/>
          <a:p>
            <a:pPr algn="l"/>
            <a:r>
              <a:rPr sz="1200" b="0" i="1">
                <a:solidFill>
                  <a:srgbClr val="4A4A5C"/>
                </a:solidFill>
                <a:latin typeface="Arial"/>
              </a:rPr>
              <a:t>Evidence: 0.34% blocking FPR on q2; 1.36% on the Guo holdout.</a:t>
            </a:r>
          </a:p>
        </p:txBody>
      </p:sp>
      <p:sp>
        <p:nvSpPr>
          <p:cNvPr id="14" name="Rounded Rectangle 13"/>
          <p:cNvSpPr/>
          <p:nvPr/>
        </p:nvSpPr>
        <p:spPr>
          <a:xfrm>
            <a:off x="9326880" y="2697480"/>
            <a:ext cx="7909560" cy="2395728"/>
          </a:xfrm>
          <a:prstGeom prst="roundRect">
            <a:avLst>
              <a:gd name="adj" fmla="val 4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5" name="Rectangle 14"/>
          <p:cNvSpPr/>
          <p:nvPr/>
        </p:nvSpPr>
        <p:spPr>
          <a:xfrm>
            <a:off x="9326880" y="2697480"/>
            <a:ext cx="73152" cy="2395728"/>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6" name="TextBox 15"/>
          <p:cNvSpPr txBox="1"/>
          <p:nvPr/>
        </p:nvSpPr>
        <p:spPr>
          <a:xfrm>
            <a:off x="9582912" y="2862072"/>
            <a:ext cx="1188720" cy="411480"/>
          </a:xfrm>
          <a:prstGeom prst="rect">
            <a:avLst/>
          </a:prstGeom>
          <a:noFill/>
        </p:spPr>
        <p:txBody>
          <a:bodyPr wrap="square" lIns="0" tIns="0" rIns="0" bIns="0" anchor="t">
            <a:noAutofit/>
          </a:bodyPr>
          <a:lstStyle/>
          <a:p>
            <a:pPr algn="l"/>
            <a:r>
              <a:rPr sz="2400" b="1" i="0">
                <a:solidFill>
                  <a:srgbClr val="1200FF"/>
                </a:solidFill>
                <a:latin typeface="Arial"/>
              </a:rPr>
              <a:t>RQ2</a:t>
            </a:r>
          </a:p>
        </p:txBody>
      </p:sp>
      <p:sp>
        <p:nvSpPr>
          <p:cNvPr id="17" name="TextBox 16"/>
          <p:cNvSpPr txBox="1"/>
          <p:nvPr/>
        </p:nvSpPr>
        <p:spPr>
          <a:xfrm>
            <a:off x="9582912" y="3355848"/>
            <a:ext cx="7360920" cy="1115568"/>
          </a:xfrm>
          <a:prstGeom prst="rect">
            <a:avLst/>
          </a:prstGeom>
          <a:noFill/>
        </p:spPr>
        <p:txBody>
          <a:bodyPr wrap="square" lIns="0" tIns="0" rIns="0" bIns="0" anchor="t">
            <a:noAutofit/>
          </a:bodyPr>
          <a:lstStyle/>
          <a:p>
            <a:pPr algn="l">
              <a:lnSpc>
                <a:spcPct val="108000"/>
              </a:lnSpc>
            </a:pPr>
            <a:r>
              <a:rPr sz="1650" b="1" i="0" dirty="0">
                <a:solidFill>
                  <a:srgbClr val="10101B"/>
                </a:solidFill>
                <a:latin typeface="Arial"/>
              </a:rPr>
              <a:t>Does active canary deception add intent evidence beyond what static analysis and machine learning provide?</a:t>
            </a:r>
          </a:p>
        </p:txBody>
      </p:sp>
      <p:sp>
        <p:nvSpPr>
          <p:cNvPr id="18" name="TextBox 17"/>
          <p:cNvSpPr txBox="1"/>
          <p:nvPr/>
        </p:nvSpPr>
        <p:spPr>
          <a:xfrm>
            <a:off x="9582912" y="4544568"/>
            <a:ext cx="7360920" cy="384048"/>
          </a:xfrm>
          <a:prstGeom prst="rect">
            <a:avLst/>
          </a:prstGeom>
          <a:noFill/>
        </p:spPr>
        <p:txBody>
          <a:bodyPr wrap="square" lIns="0" tIns="0" rIns="0" bIns="0" anchor="t">
            <a:noAutofit/>
          </a:bodyPr>
          <a:lstStyle/>
          <a:p>
            <a:pPr algn="l"/>
            <a:r>
              <a:rPr sz="1200" b="0" i="1">
                <a:solidFill>
                  <a:srgbClr val="4A4A5C"/>
                </a:solidFill>
                <a:latin typeface="Arial"/>
              </a:rPr>
              <a:t>Evidence: PoC case studies; Docker+strace pilot (+7 catches, p = 0.016); no isolated canary-only ablation.</a:t>
            </a:r>
          </a:p>
        </p:txBody>
      </p:sp>
      <p:sp>
        <p:nvSpPr>
          <p:cNvPr id="19" name="Rounded Rectangle 18"/>
          <p:cNvSpPr/>
          <p:nvPr/>
        </p:nvSpPr>
        <p:spPr>
          <a:xfrm>
            <a:off x="1051560" y="5458968"/>
            <a:ext cx="7909560" cy="2395728"/>
          </a:xfrm>
          <a:prstGeom prst="roundRect">
            <a:avLst>
              <a:gd name="adj" fmla="val 4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0" name="Rectangle 19"/>
          <p:cNvSpPr/>
          <p:nvPr/>
        </p:nvSpPr>
        <p:spPr>
          <a:xfrm>
            <a:off x="1051560" y="5458968"/>
            <a:ext cx="73152" cy="2395728"/>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1" name="TextBox 20"/>
          <p:cNvSpPr txBox="1"/>
          <p:nvPr/>
        </p:nvSpPr>
        <p:spPr>
          <a:xfrm>
            <a:off x="1307592" y="5623560"/>
            <a:ext cx="1188720" cy="411480"/>
          </a:xfrm>
          <a:prstGeom prst="rect">
            <a:avLst/>
          </a:prstGeom>
          <a:noFill/>
        </p:spPr>
        <p:txBody>
          <a:bodyPr wrap="square" lIns="0" tIns="0" rIns="0" bIns="0" anchor="t">
            <a:noAutofit/>
          </a:bodyPr>
          <a:lstStyle/>
          <a:p>
            <a:pPr algn="l"/>
            <a:r>
              <a:rPr sz="2400" b="1" i="0">
                <a:solidFill>
                  <a:srgbClr val="1200FF"/>
                </a:solidFill>
                <a:latin typeface="Arial"/>
              </a:rPr>
              <a:t>RQ3</a:t>
            </a:r>
          </a:p>
        </p:txBody>
      </p:sp>
      <p:sp>
        <p:nvSpPr>
          <p:cNvPr id="22" name="TextBox 21"/>
          <p:cNvSpPr txBox="1"/>
          <p:nvPr/>
        </p:nvSpPr>
        <p:spPr>
          <a:xfrm>
            <a:off x="1307592" y="6117336"/>
            <a:ext cx="7360920" cy="1115568"/>
          </a:xfrm>
          <a:prstGeom prst="rect">
            <a:avLst/>
          </a:prstGeom>
          <a:noFill/>
        </p:spPr>
        <p:txBody>
          <a:bodyPr wrap="square" lIns="0" tIns="0" rIns="0" bIns="0" anchor="t">
            <a:noAutofit/>
          </a:bodyPr>
          <a:lstStyle/>
          <a:p>
            <a:pPr algn="l">
              <a:lnSpc>
                <a:spcPct val="108000"/>
              </a:lnSpc>
            </a:pPr>
            <a:r>
              <a:rPr sz="1650" b="1" i="0" dirty="0">
                <a:solidFill>
                  <a:srgbClr val="10101B"/>
                </a:solidFill>
                <a:latin typeface="Arial"/>
              </a:rPr>
              <a:t>Can </a:t>
            </a:r>
            <a:r>
              <a:rPr sz="1650" b="1" i="0" dirty="0" err="1">
                <a:solidFill>
                  <a:srgbClr val="10101B"/>
                </a:solidFill>
                <a:latin typeface="Arial"/>
              </a:rPr>
              <a:t>eBPF</a:t>
            </a:r>
            <a:r>
              <a:rPr sz="1650" b="1" i="0" dirty="0">
                <a:solidFill>
                  <a:srgbClr val="10101B"/>
                </a:solidFill>
                <a:latin typeface="Arial"/>
              </a:rPr>
              <a:t> kernel monitoring provide install-time observation and enforcement, including process termination, without </a:t>
            </a:r>
            <a:r>
              <a:rPr sz="1650" b="1" i="0" dirty="0" err="1">
                <a:solidFill>
                  <a:srgbClr val="10101B"/>
                </a:solidFill>
                <a:latin typeface="Arial"/>
              </a:rPr>
              <a:t>ptrace</a:t>
            </a:r>
            <a:r>
              <a:rPr sz="1650" b="1" i="0" dirty="0">
                <a:solidFill>
                  <a:srgbClr val="10101B"/>
                </a:solidFill>
                <a:latin typeface="Arial"/>
              </a:rPr>
              <a:t>?</a:t>
            </a:r>
          </a:p>
        </p:txBody>
      </p:sp>
      <p:sp>
        <p:nvSpPr>
          <p:cNvPr id="23" name="TextBox 22"/>
          <p:cNvSpPr txBox="1"/>
          <p:nvPr/>
        </p:nvSpPr>
        <p:spPr>
          <a:xfrm>
            <a:off x="1307592" y="7306056"/>
            <a:ext cx="7360920" cy="384048"/>
          </a:xfrm>
          <a:prstGeom prst="rect">
            <a:avLst/>
          </a:prstGeom>
          <a:noFill/>
        </p:spPr>
        <p:txBody>
          <a:bodyPr wrap="square" lIns="0" tIns="0" rIns="0" bIns="0" anchor="t">
            <a:noAutofit/>
          </a:bodyPr>
          <a:lstStyle/>
          <a:p>
            <a:pPr algn="l"/>
            <a:r>
              <a:rPr sz="1200" b="0" i="1">
                <a:solidFill>
                  <a:srgbClr val="4A4A5C"/>
                </a:solidFill>
                <a:latin typeface="Arial"/>
              </a:rPr>
              <a:t>Evidence: four tracepoint programs; live verifier; 98.7% pipeline recall under mutation.</a:t>
            </a:r>
          </a:p>
        </p:txBody>
      </p:sp>
      <p:sp>
        <p:nvSpPr>
          <p:cNvPr id="24" name="Rounded Rectangle 23"/>
          <p:cNvSpPr/>
          <p:nvPr/>
        </p:nvSpPr>
        <p:spPr>
          <a:xfrm>
            <a:off x="9326880" y="5458968"/>
            <a:ext cx="7909560" cy="2395728"/>
          </a:xfrm>
          <a:prstGeom prst="roundRect">
            <a:avLst>
              <a:gd name="adj" fmla="val 4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5" name="Rectangle 24"/>
          <p:cNvSpPr/>
          <p:nvPr/>
        </p:nvSpPr>
        <p:spPr>
          <a:xfrm>
            <a:off x="9326880" y="5458968"/>
            <a:ext cx="73152" cy="2395728"/>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6" name="TextBox 25"/>
          <p:cNvSpPr txBox="1"/>
          <p:nvPr/>
        </p:nvSpPr>
        <p:spPr>
          <a:xfrm>
            <a:off x="9582912" y="5623560"/>
            <a:ext cx="1188720" cy="411480"/>
          </a:xfrm>
          <a:prstGeom prst="rect">
            <a:avLst/>
          </a:prstGeom>
          <a:noFill/>
        </p:spPr>
        <p:txBody>
          <a:bodyPr wrap="square" lIns="0" tIns="0" rIns="0" bIns="0" anchor="t">
            <a:noAutofit/>
          </a:bodyPr>
          <a:lstStyle/>
          <a:p>
            <a:pPr algn="l"/>
            <a:r>
              <a:rPr sz="2400" b="1" i="0">
                <a:solidFill>
                  <a:srgbClr val="1200FF"/>
                </a:solidFill>
                <a:latin typeface="Arial"/>
              </a:rPr>
              <a:t>RQ4</a:t>
            </a:r>
          </a:p>
        </p:txBody>
      </p:sp>
      <p:sp>
        <p:nvSpPr>
          <p:cNvPr id="27" name="TextBox 26"/>
          <p:cNvSpPr txBox="1"/>
          <p:nvPr/>
        </p:nvSpPr>
        <p:spPr>
          <a:xfrm>
            <a:off x="9582912" y="6117336"/>
            <a:ext cx="7360920" cy="1115568"/>
          </a:xfrm>
          <a:prstGeom prst="rect">
            <a:avLst/>
          </a:prstGeom>
          <a:noFill/>
        </p:spPr>
        <p:txBody>
          <a:bodyPr wrap="square" lIns="0" tIns="0" rIns="0" bIns="0" anchor="t">
            <a:noAutofit/>
          </a:bodyPr>
          <a:lstStyle/>
          <a:p>
            <a:pPr algn="l">
              <a:lnSpc>
                <a:spcPct val="108000"/>
              </a:lnSpc>
            </a:pPr>
            <a:r>
              <a:rPr sz="1650" b="1" i="0" dirty="0">
                <a:solidFill>
                  <a:srgbClr val="10101B"/>
                </a:solidFill>
                <a:latin typeface="Arial"/>
              </a:rPr>
              <a:t>How does </a:t>
            </a:r>
            <a:r>
              <a:rPr sz="1650" b="1" i="0" dirty="0" err="1">
                <a:solidFill>
                  <a:srgbClr val="10101B"/>
                </a:solidFill>
                <a:latin typeface="Arial"/>
              </a:rPr>
              <a:t>HookGuard</a:t>
            </a:r>
            <a:r>
              <a:rPr sz="1650" b="1" i="0" dirty="0">
                <a:solidFill>
                  <a:srgbClr val="10101B"/>
                </a:solidFill>
                <a:latin typeface="Arial"/>
              </a:rPr>
              <a:t> compare with </a:t>
            </a:r>
            <a:r>
              <a:rPr sz="1650" b="1" i="0" dirty="0" err="1">
                <a:solidFill>
                  <a:srgbClr val="10101B"/>
                </a:solidFill>
                <a:latin typeface="Arial"/>
              </a:rPr>
              <a:t>GuardDog</a:t>
            </a:r>
            <a:r>
              <a:rPr sz="1650" b="1" i="0" dirty="0">
                <a:solidFill>
                  <a:srgbClr val="10101B"/>
                </a:solidFill>
                <a:latin typeface="Arial"/>
              </a:rPr>
              <a:t>, </a:t>
            </a:r>
            <a:r>
              <a:rPr sz="1650" b="1" i="0" dirty="0" err="1">
                <a:solidFill>
                  <a:srgbClr val="10101B"/>
                </a:solidFill>
                <a:latin typeface="Arial"/>
              </a:rPr>
              <a:t>Packj</a:t>
            </a:r>
            <a:r>
              <a:rPr sz="1650" b="1" i="0" dirty="0">
                <a:solidFill>
                  <a:srgbClr val="10101B"/>
                </a:solidFill>
                <a:latin typeface="Arial"/>
              </a:rPr>
              <a:t>, and </a:t>
            </a:r>
            <a:r>
              <a:rPr sz="1650" b="1" i="0" dirty="0" err="1">
                <a:solidFill>
                  <a:srgbClr val="10101B"/>
                </a:solidFill>
                <a:latin typeface="Arial"/>
              </a:rPr>
              <a:t>OSSGadget</a:t>
            </a:r>
            <a:r>
              <a:rPr sz="1650" b="1" i="0" dirty="0">
                <a:solidFill>
                  <a:srgbClr val="10101B"/>
                </a:solidFill>
                <a:latin typeface="Arial"/>
              </a:rPr>
              <a:t> on real-world corpora and under hook-evasion mutation?</a:t>
            </a:r>
          </a:p>
        </p:txBody>
      </p:sp>
      <p:sp>
        <p:nvSpPr>
          <p:cNvPr id="28" name="TextBox 27"/>
          <p:cNvSpPr txBox="1"/>
          <p:nvPr/>
        </p:nvSpPr>
        <p:spPr>
          <a:xfrm>
            <a:off x="9582912" y="7306056"/>
            <a:ext cx="7360920" cy="384048"/>
          </a:xfrm>
          <a:prstGeom prst="rect">
            <a:avLst/>
          </a:prstGeom>
          <a:noFill/>
        </p:spPr>
        <p:txBody>
          <a:bodyPr wrap="square" lIns="0" tIns="0" rIns="0" bIns="0" anchor="t">
            <a:noAutofit/>
          </a:bodyPr>
          <a:lstStyle/>
          <a:p>
            <a:pPr algn="l"/>
            <a:r>
              <a:rPr sz="1200" b="0" i="1">
                <a:solidFill>
                  <a:srgbClr val="4A4A5C"/>
                </a:solidFill>
                <a:latin typeface="Arial"/>
              </a:rPr>
              <a:t>Evidence: head-to-head tables; Wilson intervals; exact McNemar tests [1].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04 — OBJECTIVES</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Research Objectives</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06 / 22</a:t>
            </a:r>
          </a:p>
        </p:txBody>
      </p:sp>
      <p:sp>
        <p:nvSpPr>
          <p:cNvPr id="9" name="Rounded Rectangle 8"/>
          <p:cNvSpPr/>
          <p:nvPr/>
        </p:nvSpPr>
        <p:spPr>
          <a:xfrm>
            <a:off x="1051560" y="2670048"/>
            <a:ext cx="7909560" cy="2103120"/>
          </a:xfrm>
          <a:prstGeom prst="roundRect">
            <a:avLst>
              <a:gd name="adj" fmla="val 4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0" name="Oval 9"/>
          <p:cNvSpPr/>
          <p:nvPr/>
        </p:nvSpPr>
        <p:spPr>
          <a:xfrm>
            <a:off x="1280160" y="2889504"/>
            <a:ext cx="566928" cy="566928"/>
          </a:xfrm>
          <a:prstGeom prst="ellipse">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600" b="1">
                <a:solidFill>
                  <a:srgbClr val="FFFFFF"/>
                </a:solidFill>
                <a:latin typeface="Arial"/>
              </a:rPr>
              <a:t>01</a:t>
            </a:r>
          </a:p>
        </p:txBody>
      </p:sp>
      <p:sp>
        <p:nvSpPr>
          <p:cNvPr id="11" name="TextBox 10"/>
          <p:cNvSpPr txBox="1"/>
          <p:nvPr/>
        </p:nvSpPr>
        <p:spPr>
          <a:xfrm>
            <a:off x="1984248" y="2889504"/>
            <a:ext cx="6583680" cy="384048"/>
          </a:xfrm>
          <a:prstGeom prst="rect">
            <a:avLst/>
          </a:prstGeom>
          <a:noFill/>
        </p:spPr>
        <p:txBody>
          <a:bodyPr wrap="square" lIns="0" tIns="0" rIns="0" bIns="0" anchor="t">
            <a:noAutofit/>
          </a:bodyPr>
          <a:lstStyle/>
          <a:p>
            <a:pPr algn="l"/>
            <a:r>
              <a:rPr sz="2100" b="1" i="0">
                <a:solidFill>
                  <a:srgbClr val="10101B"/>
                </a:solidFill>
                <a:latin typeface="Arial"/>
              </a:rPr>
              <a:t>Analyze</a:t>
            </a:r>
          </a:p>
        </p:txBody>
      </p:sp>
      <p:sp>
        <p:nvSpPr>
          <p:cNvPr id="12" name="TextBox 11"/>
          <p:cNvSpPr txBox="1"/>
          <p:nvPr/>
        </p:nvSpPr>
        <p:spPr>
          <a:xfrm>
            <a:off x="1280160" y="3511296"/>
            <a:ext cx="7406640" cy="1051560"/>
          </a:xfrm>
          <a:prstGeom prst="rect">
            <a:avLst/>
          </a:prstGeom>
          <a:noFill/>
        </p:spPr>
        <p:txBody>
          <a:bodyPr wrap="square" lIns="0" tIns="0" rIns="0" bIns="0" anchor="t">
            <a:noAutofit/>
          </a:bodyPr>
          <a:lstStyle/>
          <a:p>
            <a:pPr algn="l">
              <a:lnSpc>
                <a:spcPct val="108000"/>
              </a:lnSpc>
            </a:pPr>
            <a:r>
              <a:rPr sz="1580" b="0" i="0">
                <a:solidFill>
                  <a:srgbClr val="4A4A5C"/>
                </a:solidFill>
                <a:latin typeface="Arial"/>
              </a:rPr>
              <a:t>Map the install-time threat surface and the limits of static, ML, dynamic, and registry-gate defenses.</a:t>
            </a:r>
          </a:p>
        </p:txBody>
      </p:sp>
      <p:sp>
        <p:nvSpPr>
          <p:cNvPr id="13" name="Rounded Rectangle 12"/>
          <p:cNvSpPr/>
          <p:nvPr/>
        </p:nvSpPr>
        <p:spPr>
          <a:xfrm>
            <a:off x="9326880" y="2670048"/>
            <a:ext cx="7909560" cy="2103120"/>
          </a:xfrm>
          <a:prstGeom prst="roundRect">
            <a:avLst>
              <a:gd name="adj" fmla="val 4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4" name="Oval 13"/>
          <p:cNvSpPr/>
          <p:nvPr/>
        </p:nvSpPr>
        <p:spPr>
          <a:xfrm>
            <a:off x="9555480" y="2889504"/>
            <a:ext cx="566928" cy="566928"/>
          </a:xfrm>
          <a:prstGeom prst="ellipse">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600" b="1">
                <a:solidFill>
                  <a:srgbClr val="FFFFFF"/>
                </a:solidFill>
                <a:latin typeface="Arial"/>
              </a:rPr>
              <a:t>02</a:t>
            </a:r>
          </a:p>
        </p:txBody>
      </p:sp>
      <p:sp>
        <p:nvSpPr>
          <p:cNvPr id="15" name="TextBox 14"/>
          <p:cNvSpPr txBox="1"/>
          <p:nvPr/>
        </p:nvSpPr>
        <p:spPr>
          <a:xfrm>
            <a:off x="10259568" y="2889504"/>
            <a:ext cx="6583680" cy="384048"/>
          </a:xfrm>
          <a:prstGeom prst="rect">
            <a:avLst/>
          </a:prstGeom>
          <a:noFill/>
        </p:spPr>
        <p:txBody>
          <a:bodyPr wrap="square" lIns="0" tIns="0" rIns="0" bIns="0" anchor="t">
            <a:noAutofit/>
          </a:bodyPr>
          <a:lstStyle/>
          <a:p>
            <a:pPr algn="l"/>
            <a:r>
              <a:rPr sz="2100" b="1" i="0">
                <a:solidFill>
                  <a:srgbClr val="10101B"/>
                </a:solidFill>
                <a:latin typeface="Arial"/>
              </a:rPr>
              <a:t>Design</a:t>
            </a:r>
          </a:p>
        </p:txBody>
      </p:sp>
      <p:sp>
        <p:nvSpPr>
          <p:cNvPr id="16" name="TextBox 15"/>
          <p:cNvSpPr txBox="1"/>
          <p:nvPr/>
        </p:nvSpPr>
        <p:spPr>
          <a:xfrm>
            <a:off x="9555480" y="3511296"/>
            <a:ext cx="7406640" cy="1051560"/>
          </a:xfrm>
          <a:prstGeom prst="rect">
            <a:avLst/>
          </a:prstGeom>
          <a:noFill/>
        </p:spPr>
        <p:txBody>
          <a:bodyPr wrap="square" lIns="0" tIns="0" rIns="0" bIns="0" anchor="t">
            <a:noAutofit/>
          </a:bodyPr>
          <a:lstStyle/>
          <a:p>
            <a:pPr algn="l">
              <a:lnSpc>
                <a:spcPct val="108000"/>
              </a:lnSpc>
            </a:pPr>
            <a:r>
              <a:rPr sz="1580" b="0" i="0">
                <a:solidFill>
                  <a:srgbClr val="4A4A5C"/>
                </a:solidFill>
                <a:latin typeface="Arial"/>
              </a:rPr>
              <a:t>Specify seven layers with distinct evidential roles: shell, ML, risk gate, canary, Docker, eBPF, and fusion.</a:t>
            </a:r>
          </a:p>
        </p:txBody>
      </p:sp>
      <p:sp>
        <p:nvSpPr>
          <p:cNvPr id="17" name="Rounded Rectangle 16"/>
          <p:cNvSpPr/>
          <p:nvPr/>
        </p:nvSpPr>
        <p:spPr>
          <a:xfrm>
            <a:off x="1051560" y="5065776"/>
            <a:ext cx="7909560" cy="2103120"/>
          </a:xfrm>
          <a:prstGeom prst="roundRect">
            <a:avLst>
              <a:gd name="adj" fmla="val 4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8" name="Oval 17"/>
          <p:cNvSpPr/>
          <p:nvPr/>
        </p:nvSpPr>
        <p:spPr>
          <a:xfrm>
            <a:off x="1280160" y="5285232"/>
            <a:ext cx="566928" cy="566928"/>
          </a:xfrm>
          <a:prstGeom prst="ellipse">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600" b="1">
                <a:solidFill>
                  <a:srgbClr val="FFFFFF"/>
                </a:solidFill>
                <a:latin typeface="Arial"/>
              </a:rPr>
              <a:t>03</a:t>
            </a:r>
          </a:p>
        </p:txBody>
      </p:sp>
      <p:sp>
        <p:nvSpPr>
          <p:cNvPr id="19" name="TextBox 18"/>
          <p:cNvSpPr txBox="1"/>
          <p:nvPr/>
        </p:nvSpPr>
        <p:spPr>
          <a:xfrm>
            <a:off x="1984248" y="5285232"/>
            <a:ext cx="6583680" cy="384048"/>
          </a:xfrm>
          <a:prstGeom prst="rect">
            <a:avLst/>
          </a:prstGeom>
          <a:noFill/>
        </p:spPr>
        <p:txBody>
          <a:bodyPr wrap="square" lIns="0" tIns="0" rIns="0" bIns="0" anchor="t">
            <a:noAutofit/>
          </a:bodyPr>
          <a:lstStyle/>
          <a:p>
            <a:pPr algn="l"/>
            <a:r>
              <a:rPr sz="2100" b="1" i="0">
                <a:solidFill>
                  <a:srgbClr val="10101B"/>
                </a:solidFill>
                <a:latin typeface="Arial"/>
              </a:rPr>
              <a:t>Implement</a:t>
            </a:r>
          </a:p>
        </p:txBody>
      </p:sp>
      <p:sp>
        <p:nvSpPr>
          <p:cNvPr id="20" name="TextBox 19"/>
          <p:cNvSpPr txBox="1"/>
          <p:nvPr/>
        </p:nvSpPr>
        <p:spPr>
          <a:xfrm>
            <a:off x="1280160" y="5907024"/>
            <a:ext cx="7406640" cy="1051560"/>
          </a:xfrm>
          <a:prstGeom prst="rect">
            <a:avLst/>
          </a:prstGeom>
          <a:noFill/>
        </p:spPr>
        <p:txBody>
          <a:bodyPr wrap="square" lIns="0" tIns="0" rIns="0" bIns="0" anchor="t">
            <a:noAutofit/>
          </a:bodyPr>
          <a:lstStyle/>
          <a:p>
            <a:pPr algn="l">
              <a:lnSpc>
                <a:spcPct val="108000"/>
              </a:lnSpc>
            </a:pPr>
            <a:r>
              <a:rPr sz="1580" b="0" i="0">
                <a:solidFill>
                  <a:srgbClr val="4A4A5C"/>
                </a:solidFill>
                <a:latin typeface="Arial"/>
              </a:rPr>
              <a:t>Build the 45-feature classifier, six canaries, four eBPF programs, sandbox, and evidence serializer.</a:t>
            </a:r>
          </a:p>
        </p:txBody>
      </p:sp>
      <p:sp>
        <p:nvSpPr>
          <p:cNvPr id="21" name="Rounded Rectangle 20"/>
          <p:cNvSpPr/>
          <p:nvPr/>
        </p:nvSpPr>
        <p:spPr>
          <a:xfrm>
            <a:off x="9326880" y="5065776"/>
            <a:ext cx="7909560" cy="2103120"/>
          </a:xfrm>
          <a:prstGeom prst="roundRect">
            <a:avLst>
              <a:gd name="adj" fmla="val 4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2" name="Oval 21"/>
          <p:cNvSpPr/>
          <p:nvPr/>
        </p:nvSpPr>
        <p:spPr>
          <a:xfrm>
            <a:off x="9555480" y="5285232"/>
            <a:ext cx="566928" cy="566928"/>
          </a:xfrm>
          <a:prstGeom prst="ellipse">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600" b="1">
                <a:solidFill>
                  <a:srgbClr val="FFFFFF"/>
                </a:solidFill>
                <a:latin typeface="Arial"/>
              </a:rPr>
              <a:t>04</a:t>
            </a:r>
          </a:p>
        </p:txBody>
      </p:sp>
      <p:sp>
        <p:nvSpPr>
          <p:cNvPr id="23" name="TextBox 22"/>
          <p:cNvSpPr txBox="1"/>
          <p:nvPr/>
        </p:nvSpPr>
        <p:spPr>
          <a:xfrm>
            <a:off x="10259568" y="5285232"/>
            <a:ext cx="6583680" cy="384048"/>
          </a:xfrm>
          <a:prstGeom prst="rect">
            <a:avLst/>
          </a:prstGeom>
          <a:noFill/>
        </p:spPr>
        <p:txBody>
          <a:bodyPr wrap="square" lIns="0" tIns="0" rIns="0" bIns="0" anchor="t">
            <a:noAutofit/>
          </a:bodyPr>
          <a:lstStyle/>
          <a:p>
            <a:pPr algn="l"/>
            <a:r>
              <a:rPr sz="2100" b="1" i="0">
                <a:solidFill>
                  <a:srgbClr val="10101B"/>
                </a:solidFill>
                <a:latin typeface="Arial"/>
              </a:rPr>
              <a:t>Evaluate</a:t>
            </a:r>
          </a:p>
        </p:txBody>
      </p:sp>
      <p:sp>
        <p:nvSpPr>
          <p:cNvPr id="24" name="TextBox 23"/>
          <p:cNvSpPr txBox="1"/>
          <p:nvPr/>
        </p:nvSpPr>
        <p:spPr>
          <a:xfrm>
            <a:off x="9555480" y="5907024"/>
            <a:ext cx="7406640" cy="1051560"/>
          </a:xfrm>
          <a:prstGeom prst="rect">
            <a:avLst/>
          </a:prstGeom>
          <a:noFill/>
        </p:spPr>
        <p:txBody>
          <a:bodyPr wrap="square" lIns="0" tIns="0" rIns="0" bIns="0" anchor="t">
            <a:noAutofit/>
          </a:bodyPr>
          <a:lstStyle/>
          <a:p>
            <a:pPr algn="l">
              <a:lnSpc>
                <a:spcPct val="108000"/>
              </a:lnSpc>
            </a:pPr>
            <a:r>
              <a:rPr sz="1580" b="0" i="0">
                <a:solidFill>
                  <a:srgbClr val="4A4A5C"/>
                </a:solidFill>
                <a:latin typeface="Arial"/>
              </a:rPr>
              <a:t>Run six corpora, executed baselines, layer ablation, mutation study, and a validity analysis.</a:t>
            </a:r>
          </a:p>
        </p:txBody>
      </p:sp>
      <p:sp>
        <p:nvSpPr>
          <p:cNvPr id="26" name="TextBox 25"/>
          <p:cNvSpPr txBox="1"/>
          <p:nvPr/>
        </p:nvSpPr>
        <p:spPr>
          <a:xfrm>
            <a:off x="1325880" y="7635240"/>
            <a:ext cx="15544800" cy="274320"/>
          </a:xfrm>
          <a:prstGeom prst="rect">
            <a:avLst/>
          </a:prstGeom>
          <a:noFill/>
        </p:spPr>
        <p:txBody>
          <a:bodyPr wrap="square" lIns="0" tIns="0" rIns="0" bIns="0" anchor="t">
            <a:noAutofit/>
          </a:bodyPr>
          <a:lstStyle/>
          <a:p>
            <a:pPr algn="l"/>
            <a:endParaRPr sz="1150" b="1" i="0" dirty="0">
              <a:solidFill>
                <a:srgbClr val="1200FF"/>
              </a:solidFill>
              <a:latin typeface="Arial"/>
            </a:endParaRPr>
          </a:p>
        </p:txBody>
      </p:sp>
      <p:sp>
        <p:nvSpPr>
          <p:cNvPr id="27" name="TextBox 26"/>
          <p:cNvSpPr txBox="1"/>
          <p:nvPr/>
        </p:nvSpPr>
        <p:spPr>
          <a:xfrm>
            <a:off x="1325880" y="7891272"/>
            <a:ext cx="15544800" cy="384048"/>
          </a:xfrm>
          <a:prstGeom prst="rect">
            <a:avLst/>
          </a:prstGeom>
          <a:noFill/>
        </p:spPr>
        <p:txBody>
          <a:bodyPr wrap="square" lIns="0" tIns="0" rIns="0" bIns="0" anchor="t">
            <a:noAutofit/>
          </a:bodyPr>
          <a:lstStyle/>
          <a:p>
            <a:pPr algn="l"/>
            <a:r>
              <a:rPr sz="1720" b="0" i="0" dirty="0">
                <a:solidFill>
                  <a:srgbClr val="10101B"/>
                </a:solidFill>
                <a:latin typeface="Arial"/>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05 — LITERATURE REVIEW</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Related Work &amp; the Gap</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07 / 22</a:t>
            </a:r>
          </a:p>
        </p:txBody>
      </p:sp>
      <p:graphicFrame>
        <p:nvGraphicFramePr>
          <p:cNvPr id="9" name="Table 8"/>
          <p:cNvGraphicFramePr>
            <a:graphicFrameLocks noGrp="1"/>
          </p:cNvGraphicFramePr>
          <p:nvPr/>
        </p:nvGraphicFramePr>
        <p:xfrm>
          <a:off x="1051560" y="2606040"/>
          <a:ext cx="16194023" cy="4169664"/>
        </p:xfrm>
        <a:graphic>
          <a:graphicData uri="http://schemas.openxmlformats.org/drawingml/2006/table">
            <a:tbl>
              <a:tblPr firstRow="1"/>
              <a:tblGrid>
                <a:gridCol w="3977639">
                  <a:extLst>
                    <a:ext uri="{9D8B030D-6E8A-4147-A177-3AD203B41FA5}">
                      <a16:colId xmlns:a16="http://schemas.microsoft.com/office/drawing/2014/main" val="20000"/>
                    </a:ext>
                  </a:extLst>
                </a:gridCol>
                <a:gridCol w="6903720">
                  <a:extLst>
                    <a:ext uri="{9D8B030D-6E8A-4147-A177-3AD203B41FA5}">
                      <a16:colId xmlns:a16="http://schemas.microsoft.com/office/drawing/2014/main" val="20001"/>
                    </a:ext>
                  </a:extLst>
                </a:gridCol>
                <a:gridCol w="5312664">
                  <a:extLst>
                    <a:ext uri="{9D8B030D-6E8A-4147-A177-3AD203B41FA5}">
                      <a16:colId xmlns:a16="http://schemas.microsoft.com/office/drawing/2014/main" val="20002"/>
                    </a:ext>
                  </a:extLst>
                </a:gridCol>
              </a:tblGrid>
              <a:tr h="420624">
                <a:tc>
                  <a:txBody>
                    <a:bodyPr/>
                    <a:lstStyle/>
                    <a:p>
                      <a:pPr algn="l"/>
                      <a:r>
                        <a:rPr sz="1150" b="1">
                          <a:solidFill>
                            <a:srgbClr val="FFFFFF"/>
                          </a:solidFill>
                          <a:latin typeface="Arial"/>
                        </a:rPr>
                        <a:t>WORK · YEAR</a:t>
                      </a:r>
                    </a:p>
                  </a:txBody>
                  <a:tcPr marL="68580" marR="68580" marT="18288" marB="18288" anchor="ctr">
                    <a:lnB w="8255" cap="flat" cmpd="sng" algn="ctr">
                      <a:solidFill>
                        <a:srgbClr val="E1E3F0"/>
                      </a:solidFill>
                      <a:prstDash val="solid"/>
                    </a:lnB>
                    <a:solidFill>
                      <a:srgbClr val="10101B"/>
                    </a:solidFill>
                  </a:tcPr>
                </a:tc>
                <a:tc>
                  <a:txBody>
                    <a:bodyPr/>
                    <a:lstStyle/>
                    <a:p>
                      <a:pPr algn="l"/>
                      <a:r>
                        <a:rPr sz="1150" b="1">
                          <a:solidFill>
                            <a:srgbClr val="FFFFFF"/>
                          </a:solidFill>
                          <a:latin typeface="Arial"/>
                        </a:rPr>
                        <a:t>APPROACH</a:t>
                      </a:r>
                    </a:p>
                  </a:txBody>
                  <a:tcPr marL="68580" marR="68580" marT="18288" marB="18288" anchor="ctr">
                    <a:lnB w="8255" cap="flat" cmpd="sng" algn="ctr">
                      <a:solidFill>
                        <a:srgbClr val="E1E3F0"/>
                      </a:solidFill>
                      <a:prstDash val="solid"/>
                    </a:lnB>
                    <a:solidFill>
                      <a:srgbClr val="10101B"/>
                    </a:solidFill>
                  </a:tcPr>
                </a:tc>
                <a:tc>
                  <a:txBody>
                    <a:bodyPr/>
                    <a:lstStyle/>
                    <a:p>
                      <a:pPr algn="l"/>
                      <a:r>
                        <a:rPr sz="1150" b="1">
                          <a:solidFill>
                            <a:srgbClr val="FFFFFF"/>
                          </a:solidFill>
                          <a:latin typeface="Arial"/>
                        </a:rPr>
                        <a:t>LIMITATION FOR THIS THESIS</a:t>
                      </a:r>
                    </a:p>
                  </a:txBody>
                  <a:tcPr marL="68580" marR="68580" marT="18288" marB="18288" anchor="ctr">
                    <a:lnB w="8255" cap="flat" cmpd="sng" algn="ctr">
                      <a:solidFill>
                        <a:srgbClr val="E1E3F0"/>
                      </a:solidFill>
                      <a:prstDash val="solid"/>
                    </a:lnB>
                    <a:solidFill>
                      <a:srgbClr val="10101B"/>
                    </a:solidFill>
                  </a:tcPr>
                </a:tc>
                <a:extLst>
                  <a:ext uri="{0D108BD9-81ED-4DB2-BD59-A6C34878D82A}">
                    <a16:rowId xmlns:a16="http://schemas.microsoft.com/office/drawing/2014/main" val="10000"/>
                  </a:ext>
                </a:extLst>
              </a:tr>
              <a:tr h="749808">
                <a:tc>
                  <a:txBody>
                    <a:bodyPr/>
                    <a:lstStyle/>
                    <a:p>
                      <a:pPr algn="l"/>
                      <a:r>
                        <a:rPr sz="1360" b="1">
                          <a:solidFill>
                            <a:srgbClr val="10101B"/>
                          </a:solidFill>
                          <a:latin typeface="Arial"/>
                        </a:rPr>
                        <a:t>GuardDog · 2024 [4]</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l"/>
                      <a:r>
                        <a:rPr sz="1360" b="0">
                          <a:solidFill>
                            <a:srgbClr val="10101B"/>
                          </a:solidFill>
                          <a:latin typeface="Arial"/>
                        </a:rPr>
                        <a:t>Static entropy, obfuscation, and API-surface rules; executed baseline</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l"/>
                      <a:r>
                        <a:rPr sz="1360" b="0">
                          <a:solidFill>
                            <a:srgbClr val="10101B"/>
                          </a:solidFill>
                          <a:latin typeface="Arial"/>
                        </a:rPr>
                        <a:t>Capability, not intent; 43.0% alert-level FPR on q2</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extLst>
                  <a:ext uri="{0D108BD9-81ED-4DB2-BD59-A6C34878D82A}">
                    <a16:rowId xmlns:a16="http://schemas.microsoft.com/office/drawing/2014/main" val="10001"/>
                  </a:ext>
                </a:extLst>
              </a:tr>
              <a:tr h="749808">
                <a:tc>
                  <a:txBody>
                    <a:bodyPr/>
                    <a:lstStyle/>
                    <a:p>
                      <a:pPr algn="l"/>
                      <a:r>
                        <a:rPr sz="1360" b="1">
                          <a:solidFill>
                            <a:srgbClr val="10101B"/>
                          </a:solidFill>
                          <a:latin typeface="Arial"/>
                        </a:rPr>
                        <a:t>SAP · 2023 [5]</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l"/>
                      <a:r>
                        <a:rPr sz="1360" b="0">
                          <a:solidFill>
                            <a:srgbClr val="10101B"/>
                          </a:solidFill>
                          <a:latin typeface="Arial"/>
                        </a:rPr>
                        <a:t>Supervised cross-language ML for npm and PyPI</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l"/>
                      <a:r>
                        <a:rPr sz="1360" b="0">
                          <a:solidFill>
                            <a:srgbClr val="10101B"/>
                          </a:solidFill>
                          <a:latin typeface="Arial"/>
                        </a:rPr>
                        <a:t>Distribution-dependent; no runtime evidence</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extLst>
                  <a:ext uri="{0D108BD9-81ED-4DB2-BD59-A6C34878D82A}">
                    <a16:rowId xmlns:a16="http://schemas.microsoft.com/office/drawing/2014/main" val="10002"/>
                  </a:ext>
                </a:extLst>
              </a:tr>
              <a:tr h="749808">
                <a:tc>
                  <a:txBody>
                    <a:bodyPr/>
                    <a:lstStyle/>
                    <a:p>
                      <a:pPr algn="l"/>
                      <a:r>
                        <a:rPr sz="1360" b="1">
                          <a:solidFill>
                            <a:srgbClr val="10101B"/>
                          </a:solidFill>
                          <a:latin typeface="Arial"/>
                        </a:rPr>
                        <a:t>Packj · 2024 [7]</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l"/>
                      <a:r>
                        <a:rPr sz="1360" b="0">
                          <a:solidFill>
                            <a:srgbClr val="10101B"/>
                          </a:solidFill>
                          <a:latin typeface="Arial"/>
                        </a:rPr>
                        <a:t>Static heuristics plus a strace sandbox</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l"/>
                      <a:r>
                        <a:rPr sz="1360" b="0">
                          <a:solidFill>
                            <a:srgbClr val="10101B"/>
                          </a:solidFill>
                          <a:latin typeface="Arial"/>
                        </a:rPr>
                        <a:t>ptrace-level; F1 only 66.7 → 71.2 on the Guo benchmark</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extLst>
                  <a:ext uri="{0D108BD9-81ED-4DB2-BD59-A6C34878D82A}">
                    <a16:rowId xmlns:a16="http://schemas.microsoft.com/office/drawing/2014/main" val="10003"/>
                  </a:ext>
                </a:extLst>
              </a:tr>
              <a:tr h="749808">
                <a:tc>
                  <a:txBody>
                    <a:bodyPr/>
                    <a:lstStyle/>
                    <a:p>
                      <a:pPr algn="l"/>
                      <a:r>
                        <a:rPr sz="1360" b="1">
                          <a:solidFill>
                            <a:srgbClr val="10101B"/>
                          </a:solidFill>
                          <a:latin typeface="Arial"/>
                        </a:rPr>
                        <a:t>Socket · 2024 [8]</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l"/>
                      <a:r>
                        <a:rPr sz="1360" b="0">
                          <a:solidFill>
                            <a:srgbClr val="10101B"/>
                          </a:solidFill>
                          <a:latin typeface="Arial"/>
                        </a:rPr>
                        <a:t>Registry-backed install gate</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l"/>
                      <a:r>
                        <a:rPr sz="1360" b="0">
                          <a:solidFill>
                            <a:srgbClr val="10101B"/>
                          </a:solidFill>
                          <a:latin typeface="Arial"/>
                        </a:rPr>
                        <a:t>Known-bad only; cloud dependency; no local evidence</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extLst>
                  <a:ext uri="{0D108BD9-81ED-4DB2-BD59-A6C34878D82A}">
                    <a16:rowId xmlns:a16="http://schemas.microsoft.com/office/drawing/2014/main" val="10004"/>
                  </a:ext>
                </a:extLst>
              </a:tr>
              <a:tr h="749808">
                <a:tc>
                  <a:txBody>
                    <a:bodyPr/>
                    <a:lstStyle/>
                    <a:p>
                      <a:pPr algn="l"/>
                      <a:r>
                        <a:rPr sz="1360" b="1">
                          <a:solidFill>
                            <a:srgbClr val="10101B"/>
                          </a:solidFill>
                          <a:latin typeface="Arial"/>
                        </a:rPr>
                        <a:t>eBPF monitors · 2022–25 [9], [13]</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l"/>
                      <a:r>
                        <a:rPr sz="1360" b="0">
                          <a:solidFill>
                            <a:srgbClr val="10101B"/>
                          </a:solidFill>
                          <a:latin typeface="Arial"/>
                        </a:rPr>
                        <a:t>Falco, Tracee, Tetragon [9], Bomfather [13]</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l"/>
                      <a:r>
                        <a:rPr sz="1360" b="0">
                          <a:solidFill>
                            <a:srgbClr val="10101B"/>
                          </a:solidFill>
                          <a:latin typeface="Arial"/>
                        </a:rPr>
                        <a:t>No npm semantics, canaries, or verdict fusion</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1051560" y="6876288"/>
            <a:ext cx="15910559" cy="274320"/>
          </a:xfrm>
          <a:prstGeom prst="rect">
            <a:avLst/>
          </a:prstGeom>
          <a:noFill/>
        </p:spPr>
        <p:txBody>
          <a:bodyPr wrap="square" lIns="0" tIns="0" rIns="0" bIns="0" anchor="t">
            <a:noAutofit/>
          </a:bodyPr>
          <a:lstStyle/>
          <a:p>
            <a:pPr algn="l"/>
            <a:r>
              <a:rPr sz="1250" b="1" i="0">
                <a:solidFill>
                  <a:srgbClr val="4A4A5C"/>
                </a:solidFill>
                <a:latin typeface="Arial"/>
              </a:rPr>
              <a:t>WHAT THE LITERATURE LEAVES OPEN</a:t>
            </a:r>
          </a:p>
        </p:txBody>
      </p:sp>
      <p:sp>
        <p:nvSpPr>
          <p:cNvPr id="11" name="Rounded Rectangle 10"/>
          <p:cNvSpPr/>
          <p:nvPr/>
        </p:nvSpPr>
        <p:spPr>
          <a:xfrm>
            <a:off x="1051560" y="7205472"/>
            <a:ext cx="3822191" cy="566928"/>
          </a:xfrm>
          <a:prstGeom prst="roundRect">
            <a:avLst>
              <a:gd name="adj" fmla="val 25000"/>
            </a:avLst>
          </a:prstGeom>
          <a:solidFill>
            <a:srgbClr val="F4F5FC"/>
          </a:solidFill>
          <a:ln w="1143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550" b="1">
                <a:solidFill>
                  <a:srgbClr val="10101B"/>
                </a:solidFill>
                <a:latin typeface="Arial"/>
              </a:rPr>
              <a:t>Intent evidence</a:t>
            </a:r>
          </a:p>
        </p:txBody>
      </p:sp>
      <p:sp>
        <p:nvSpPr>
          <p:cNvPr id="12" name="Rounded Rectangle 11"/>
          <p:cNvSpPr/>
          <p:nvPr/>
        </p:nvSpPr>
        <p:spPr>
          <a:xfrm>
            <a:off x="5138927" y="7205472"/>
            <a:ext cx="3822191" cy="566928"/>
          </a:xfrm>
          <a:prstGeom prst="roundRect">
            <a:avLst>
              <a:gd name="adj" fmla="val 25000"/>
            </a:avLst>
          </a:prstGeom>
          <a:solidFill>
            <a:srgbClr val="F4F5FC"/>
          </a:solidFill>
          <a:ln w="1143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550" b="1">
                <a:solidFill>
                  <a:srgbClr val="10101B"/>
                </a:solidFill>
                <a:latin typeface="Arial"/>
              </a:rPr>
              <a:t>Kernel-level enforcement</a:t>
            </a:r>
          </a:p>
        </p:txBody>
      </p:sp>
      <p:sp>
        <p:nvSpPr>
          <p:cNvPr id="13" name="Rounded Rectangle 12"/>
          <p:cNvSpPr/>
          <p:nvPr/>
        </p:nvSpPr>
        <p:spPr>
          <a:xfrm>
            <a:off x="9226296" y="7205472"/>
            <a:ext cx="3822191" cy="566928"/>
          </a:xfrm>
          <a:prstGeom prst="roundRect">
            <a:avLst>
              <a:gd name="adj" fmla="val 25000"/>
            </a:avLst>
          </a:prstGeom>
          <a:solidFill>
            <a:srgbClr val="F4F5FC"/>
          </a:solidFill>
          <a:ln w="1143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550" b="1">
                <a:solidFill>
                  <a:srgbClr val="10101B"/>
                </a:solidFill>
                <a:latin typeface="Arial"/>
              </a:rPr>
              <a:t>Auditable evidence chain</a:t>
            </a:r>
          </a:p>
        </p:txBody>
      </p:sp>
      <p:sp>
        <p:nvSpPr>
          <p:cNvPr id="14" name="TextBox 13"/>
          <p:cNvSpPr txBox="1"/>
          <p:nvPr/>
        </p:nvSpPr>
        <p:spPr>
          <a:xfrm>
            <a:off x="1051560" y="7918704"/>
            <a:ext cx="15910559" cy="457200"/>
          </a:xfrm>
          <a:prstGeom prst="rect">
            <a:avLst/>
          </a:prstGeom>
          <a:noFill/>
        </p:spPr>
        <p:txBody>
          <a:bodyPr wrap="square" lIns="0" tIns="0" rIns="0" bIns="0" anchor="t">
            <a:noAutofit/>
          </a:bodyPr>
          <a:lstStyle/>
          <a:p>
            <a:pPr algn="l"/>
            <a:r>
              <a:rPr sz="1750" b="1" i="0">
                <a:solidFill>
                  <a:srgbClr val="1200FF"/>
                </a:solidFill>
                <a:latin typeface="Arial"/>
              </a:rPr>
              <a:t>To our knowledge, no existing npm detector unites all three in one install-time pipeline.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06 — NOVELTY &amp; CONTRIBUTIONS</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What Is New in HookGuard</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08 / 22</a:t>
            </a:r>
          </a:p>
        </p:txBody>
      </p:sp>
      <p:sp>
        <p:nvSpPr>
          <p:cNvPr id="9" name="Rounded Rectangle 8"/>
          <p:cNvSpPr/>
          <p:nvPr/>
        </p:nvSpPr>
        <p:spPr>
          <a:xfrm>
            <a:off x="1051560" y="2670048"/>
            <a:ext cx="7909560" cy="2029968"/>
          </a:xfrm>
          <a:prstGeom prst="roundRect">
            <a:avLst>
              <a:gd name="adj" fmla="val 4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0" name="TextBox 9"/>
          <p:cNvSpPr txBox="1"/>
          <p:nvPr/>
        </p:nvSpPr>
        <p:spPr>
          <a:xfrm>
            <a:off x="1289304" y="2834640"/>
            <a:ext cx="731520" cy="384048"/>
          </a:xfrm>
          <a:prstGeom prst="rect">
            <a:avLst/>
          </a:prstGeom>
          <a:noFill/>
        </p:spPr>
        <p:txBody>
          <a:bodyPr wrap="square" lIns="0" tIns="0" rIns="0" bIns="0" anchor="t">
            <a:noAutofit/>
          </a:bodyPr>
          <a:lstStyle/>
          <a:p>
            <a:pPr algn="l"/>
            <a:r>
              <a:rPr sz="2100" b="1" i="0">
                <a:solidFill>
                  <a:srgbClr val="D95D45"/>
                </a:solidFill>
                <a:latin typeface="Arial"/>
              </a:rPr>
              <a:t>C1</a:t>
            </a:r>
          </a:p>
        </p:txBody>
      </p:sp>
      <p:sp>
        <p:nvSpPr>
          <p:cNvPr id="11" name="TextBox 10"/>
          <p:cNvSpPr txBox="1"/>
          <p:nvPr/>
        </p:nvSpPr>
        <p:spPr>
          <a:xfrm>
            <a:off x="1965960" y="2834640"/>
            <a:ext cx="6766560" cy="384048"/>
          </a:xfrm>
          <a:prstGeom prst="rect">
            <a:avLst/>
          </a:prstGeom>
          <a:noFill/>
        </p:spPr>
        <p:txBody>
          <a:bodyPr wrap="square" lIns="0" tIns="0" rIns="0" bIns="0" anchor="t">
            <a:noAutofit/>
          </a:bodyPr>
          <a:lstStyle/>
          <a:p>
            <a:pPr algn="l"/>
            <a:r>
              <a:rPr sz="1820" b="1" i="0">
                <a:solidFill>
                  <a:srgbClr val="10101B"/>
                </a:solidFill>
                <a:latin typeface="Arial"/>
              </a:rPr>
              <a:t>Seven-layer pipeline with graceful degradation</a:t>
            </a:r>
          </a:p>
        </p:txBody>
      </p:sp>
      <p:sp>
        <p:nvSpPr>
          <p:cNvPr id="12" name="TextBox 11"/>
          <p:cNvSpPr txBox="1"/>
          <p:nvPr/>
        </p:nvSpPr>
        <p:spPr>
          <a:xfrm>
            <a:off x="1289304" y="3383280"/>
            <a:ext cx="7406640" cy="1143000"/>
          </a:xfrm>
          <a:prstGeom prst="rect">
            <a:avLst/>
          </a:prstGeom>
          <a:noFill/>
        </p:spPr>
        <p:txBody>
          <a:bodyPr wrap="square" lIns="0" tIns="0" rIns="0" bIns="0" anchor="t">
            <a:noAutofit/>
          </a:bodyPr>
          <a:lstStyle/>
          <a:p>
            <a:pPr algn="l">
              <a:lnSpc>
                <a:spcPct val="108000"/>
              </a:lnSpc>
            </a:pPr>
            <a:r>
              <a:rPr sz="1460" b="1" i="0" dirty="0">
                <a:solidFill>
                  <a:srgbClr val="4A4A5C"/>
                </a:solidFill>
                <a:latin typeface="Arial"/>
              </a:rPr>
              <a:t>Still returns a verdict when Docker, </a:t>
            </a:r>
            <a:r>
              <a:rPr sz="1460" b="1" i="0" dirty="0" err="1">
                <a:solidFill>
                  <a:srgbClr val="4A4A5C"/>
                </a:solidFill>
                <a:latin typeface="Arial"/>
              </a:rPr>
              <a:t>eBPF</a:t>
            </a:r>
            <a:r>
              <a:rPr sz="1460" b="1" i="0" dirty="0">
                <a:solidFill>
                  <a:srgbClr val="4A4A5C"/>
                </a:solidFill>
                <a:latin typeface="Arial"/>
              </a:rPr>
              <a:t>, or the model is unavailable — the user sees which protection is actually present.</a:t>
            </a:r>
          </a:p>
        </p:txBody>
      </p:sp>
      <p:sp>
        <p:nvSpPr>
          <p:cNvPr id="13" name="Rounded Rectangle 12"/>
          <p:cNvSpPr/>
          <p:nvPr/>
        </p:nvSpPr>
        <p:spPr>
          <a:xfrm>
            <a:off x="9326880" y="2670048"/>
            <a:ext cx="7909560" cy="2029968"/>
          </a:xfrm>
          <a:prstGeom prst="roundRect">
            <a:avLst>
              <a:gd name="adj" fmla="val 4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4" name="TextBox 13"/>
          <p:cNvSpPr txBox="1"/>
          <p:nvPr/>
        </p:nvSpPr>
        <p:spPr>
          <a:xfrm>
            <a:off x="9564624" y="2834640"/>
            <a:ext cx="731520" cy="384048"/>
          </a:xfrm>
          <a:prstGeom prst="rect">
            <a:avLst/>
          </a:prstGeom>
          <a:noFill/>
        </p:spPr>
        <p:txBody>
          <a:bodyPr wrap="square" lIns="0" tIns="0" rIns="0" bIns="0" anchor="t">
            <a:noAutofit/>
          </a:bodyPr>
          <a:lstStyle/>
          <a:p>
            <a:pPr algn="l"/>
            <a:r>
              <a:rPr sz="2100" b="1" i="0">
                <a:solidFill>
                  <a:srgbClr val="D95D45"/>
                </a:solidFill>
                <a:latin typeface="Arial"/>
              </a:rPr>
              <a:t>C2</a:t>
            </a:r>
          </a:p>
        </p:txBody>
      </p:sp>
      <p:sp>
        <p:nvSpPr>
          <p:cNvPr id="15" name="TextBox 14"/>
          <p:cNvSpPr txBox="1"/>
          <p:nvPr/>
        </p:nvSpPr>
        <p:spPr>
          <a:xfrm>
            <a:off x="10241280" y="2834640"/>
            <a:ext cx="6766560" cy="384048"/>
          </a:xfrm>
          <a:prstGeom prst="rect">
            <a:avLst/>
          </a:prstGeom>
          <a:noFill/>
        </p:spPr>
        <p:txBody>
          <a:bodyPr wrap="square" lIns="0" tIns="0" rIns="0" bIns="0" anchor="t">
            <a:noAutofit/>
          </a:bodyPr>
          <a:lstStyle/>
          <a:p>
            <a:pPr algn="l"/>
            <a:r>
              <a:rPr sz="1820" b="1" i="0">
                <a:solidFill>
                  <a:srgbClr val="10101B"/>
                </a:solidFill>
                <a:latin typeface="Arial"/>
              </a:rPr>
              <a:t>Active canary deception for npm</a:t>
            </a:r>
          </a:p>
        </p:txBody>
      </p:sp>
      <p:sp>
        <p:nvSpPr>
          <p:cNvPr id="16" name="TextBox 15"/>
          <p:cNvSpPr txBox="1"/>
          <p:nvPr/>
        </p:nvSpPr>
        <p:spPr>
          <a:xfrm>
            <a:off x="9564624" y="3383280"/>
            <a:ext cx="7406640" cy="1143000"/>
          </a:xfrm>
          <a:prstGeom prst="rect">
            <a:avLst/>
          </a:prstGeom>
          <a:noFill/>
        </p:spPr>
        <p:txBody>
          <a:bodyPr wrap="square" lIns="0" tIns="0" rIns="0" bIns="0" anchor="t">
            <a:noAutofit/>
          </a:bodyPr>
          <a:lstStyle/>
          <a:p>
            <a:pPr algn="l">
              <a:lnSpc>
                <a:spcPct val="108000"/>
              </a:lnSpc>
            </a:pPr>
            <a:r>
              <a:rPr sz="1460" b="1" i="0" dirty="0">
                <a:solidFill>
                  <a:srgbClr val="4A4A5C"/>
                </a:solidFill>
                <a:latin typeface="Arial"/>
              </a:rPr>
              <a:t>Six credential tripwires. Access is evidence of intent, not merely a suspicious string or a dangerous capability.</a:t>
            </a:r>
          </a:p>
        </p:txBody>
      </p:sp>
      <p:sp>
        <p:nvSpPr>
          <p:cNvPr id="17" name="Rounded Rectangle 16"/>
          <p:cNvSpPr/>
          <p:nvPr/>
        </p:nvSpPr>
        <p:spPr>
          <a:xfrm>
            <a:off x="1051560" y="4974336"/>
            <a:ext cx="7909560" cy="2029968"/>
          </a:xfrm>
          <a:prstGeom prst="roundRect">
            <a:avLst>
              <a:gd name="adj" fmla="val 4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8" name="TextBox 17"/>
          <p:cNvSpPr txBox="1"/>
          <p:nvPr/>
        </p:nvSpPr>
        <p:spPr>
          <a:xfrm>
            <a:off x="1289304" y="5138927"/>
            <a:ext cx="731520" cy="384048"/>
          </a:xfrm>
          <a:prstGeom prst="rect">
            <a:avLst/>
          </a:prstGeom>
          <a:noFill/>
        </p:spPr>
        <p:txBody>
          <a:bodyPr wrap="square" lIns="0" tIns="0" rIns="0" bIns="0" anchor="t">
            <a:noAutofit/>
          </a:bodyPr>
          <a:lstStyle/>
          <a:p>
            <a:pPr algn="l"/>
            <a:r>
              <a:rPr sz="2100" b="1" i="0">
                <a:solidFill>
                  <a:srgbClr val="D95D45"/>
                </a:solidFill>
                <a:latin typeface="Arial"/>
              </a:rPr>
              <a:t>C3</a:t>
            </a:r>
          </a:p>
        </p:txBody>
      </p:sp>
      <p:sp>
        <p:nvSpPr>
          <p:cNvPr id="19" name="TextBox 18"/>
          <p:cNvSpPr txBox="1"/>
          <p:nvPr/>
        </p:nvSpPr>
        <p:spPr>
          <a:xfrm>
            <a:off x="1965960" y="5138927"/>
            <a:ext cx="6766560" cy="384048"/>
          </a:xfrm>
          <a:prstGeom prst="rect">
            <a:avLst/>
          </a:prstGeom>
          <a:noFill/>
        </p:spPr>
        <p:txBody>
          <a:bodyPr wrap="square" lIns="0" tIns="0" rIns="0" bIns="0" anchor="t">
            <a:noAutofit/>
          </a:bodyPr>
          <a:lstStyle/>
          <a:p>
            <a:pPr algn="l"/>
            <a:r>
              <a:rPr sz="1820" b="1" i="0">
                <a:solidFill>
                  <a:srgbClr val="10101B"/>
                </a:solidFill>
                <a:latin typeface="Arial"/>
              </a:rPr>
              <a:t>Kernel enforcement with an evidence chain</a:t>
            </a:r>
          </a:p>
        </p:txBody>
      </p:sp>
      <p:sp>
        <p:nvSpPr>
          <p:cNvPr id="20" name="TextBox 19"/>
          <p:cNvSpPr txBox="1"/>
          <p:nvPr/>
        </p:nvSpPr>
        <p:spPr>
          <a:xfrm>
            <a:off x="1289304" y="5687568"/>
            <a:ext cx="7406640" cy="1143000"/>
          </a:xfrm>
          <a:prstGeom prst="rect">
            <a:avLst/>
          </a:prstGeom>
          <a:noFill/>
        </p:spPr>
        <p:txBody>
          <a:bodyPr wrap="square" lIns="0" tIns="0" rIns="0" bIns="0" anchor="t">
            <a:noAutofit/>
          </a:bodyPr>
          <a:lstStyle/>
          <a:p>
            <a:pPr algn="l">
              <a:lnSpc>
                <a:spcPct val="108000"/>
              </a:lnSpc>
            </a:pPr>
            <a:r>
              <a:rPr sz="1460" b="1" i="0" dirty="0">
                <a:solidFill>
                  <a:srgbClr val="4A4A5C"/>
                </a:solidFill>
                <a:latin typeface="Arial"/>
              </a:rPr>
              <a:t>Four </a:t>
            </a:r>
            <a:r>
              <a:rPr sz="1460" b="1" i="0" dirty="0" err="1">
                <a:solidFill>
                  <a:srgbClr val="4A4A5C"/>
                </a:solidFill>
                <a:latin typeface="Arial"/>
              </a:rPr>
              <a:t>eBPF</a:t>
            </a:r>
            <a:r>
              <a:rPr sz="1460" b="1" i="0" dirty="0">
                <a:solidFill>
                  <a:srgbClr val="4A4A5C"/>
                </a:solidFill>
                <a:latin typeface="Arial"/>
              </a:rPr>
              <a:t> programs, phase-gated SIGKILL, and the </a:t>
            </a:r>
            <a:r>
              <a:rPr sz="1460" b="1" i="0" dirty="0" err="1">
                <a:solidFill>
                  <a:srgbClr val="4A4A5C"/>
                </a:solidFill>
                <a:latin typeface="Arial"/>
              </a:rPr>
              <a:t>syscall</a:t>
            </a:r>
            <a:r>
              <a:rPr sz="1460" b="1" i="0" dirty="0">
                <a:solidFill>
                  <a:srgbClr val="4A4A5C"/>
                </a:solidFill>
                <a:latin typeface="Arial"/>
              </a:rPr>
              <a:t> events that produced each verdict. No </a:t>
            </a:r>
            <a:r>
              <a:rPr sz="1460" b="1" i="0" dirty="0" err="1">
                <a:solidFill>
                  <a:srgbClr val="4A4A5C"/>
                </a:solidFill>
                <a:latin typeface="Arial"/>
              </a:rPr>
              <a:t>ptrace</a:t>
            </a:r>
            <a:r>
              <a:rPr sz="1460" b="0" i="0" dirty="0">
                <a:solidFill>
                  <a:srgbClr val="4A4A5C"/>
                </a:solidFill>
                <a:latin typeface="Arial"/>
              </a:rPr>
              <a:t>.</a:t>
            </a:r>
          </a:p>
        </p:txBody>
      </p:sp>
      <p:sp>
        <p:nvSpPr>
          <p:cNvPr id="21" name="Rounded Rectangle 20"/>
          <p:cNvSpPr/>
          <p:nvPr/>
        </p:nvSpPr>
        <p:spPr>
          <a:xfrm>
            <a:off x="9326880" y="4974336"/>
            <a:ext cx="7909560" cy="2029968"/>
          </a:xfrm>
          <a:prstGeom prst="roundRect">
            <a:avLst>
              <a:gd name="adj" fmla="val 4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2" name="TextBox 21"/>
          <p:cNvSpPr txBox="1"/>
          <p:nvPr/>
        </p:nvSpPr>
        <p:spPr>
          <a:xfrm>
            <a:off x="9564624" y="5138927"/>
            <a:ext cx="731520" cy="384048"/>
          </a:xfrm>
          <a:prstGeom prst="rect">
            <a:avLst/>
          </a:prstGeom>
          <a:noFill/>
        </p:spPr>
        <p:txBody>
          <a:bodyPr wrap="square" lIns="0" tIns="0" rIns="0" bIns="0" anchor="t">
            <a:noAutofit/>
          </a:bodyPr>
          <a:lstStyle/>
          <a:p>
            <a:pPr algn="l"/>
            <a:r>
              <a:rPr sz="2100" b="1" i="0">
                <a:solidFill>
                  <a:srgbClr val="D95D45"/>
                </a:solidFill>
                <a:latin typeface="Arial"/>
              </a:rPr>
              <a:t>C4</a:t>
            </a:r>
          </a:p>
        </p:txBody>
      </p:sp>
      <p:sp>
        <p:nvSpPr>
          <p:cNvPr id="23" name="TextBox 22"/>
          <p:cNvSpPr txBox="1"/>
          <p:nvPr/>
        </p:nvSpPr>
        <p:spPr>
          <a:xfrm>
            <a:off x="10241280" y="5138927"/>
            <a:ext cx="6766560" cy="384048"/>
          </a:xfrm>
          <a:prstGeom prst="rect">
            <a:avLst/>
          </a:prstGeom>
          <a:noFill/>
        </p:spPr>
        <p:txBody>
          <a:bodyPr wrap="square" lIns="0" tIns="0" rIns="0" bIns="0" anchor="t">
            <a:noAutofit/>
          </a:bodyPr>
          <a:lstStyle/>
          <a:p>
            <a:pPr algn="l"/>
            <a:r>
              <a:rPr sz="1820" b="1" i="0">
                <a:solidFill>
                  <a:srgbClr val="10101B"/>
                </a:solidFill>
                <a:latin typeface="Arial"/>
              </a:rPr>
              <a:t>Executed-baseline evaluation</a:t>
            </a:r>
          </a:p>
        </p:txBody>
      </p:sp>
      <p:sp>
        <p:nvSpPr>
          <p:cNvPr id="24" name="TextBox 23"/>
          <p:cNvSpPr txBox="1"/>
          <p:nvPr/>
        </p:nvSpPr>
        <p:spPr>
          <a:xfrm>
            <a:off x="9564624" y="5687568"/>
            <a:ext cx="7406640" cy="1143000"/>
          </a:xfrm>
          <a:prstGeom prst="rect">
            <a:avLst/>
          </a:prstGeom>
          <a:noFill/>
        </p:spPr>
        <p:txBody>
          <a:bodyPr wrap="square" lIns="0" tIns="0" rIns="0" bIns="0" anchor="t">
            <a:noAutofit/>
          </a:bodyPr>
          <a:lstStyle/>
          <a:p>
            <a:pPr algn="l">
              <a:lnSpc>
                <a:spcPct val="108000"/>
              </a:lnSpc>
            </a:pPr>
            <a:r>
              <a:rPr sz="1460" b="1" i="0" dirty="0">
                <a:solidFill>
                  <a:srgbClr val="4A4A5C"/>
                </a:solidFill>
                <a:latin typeface="Arial"/>
              </a:rPr>
              <a:t>Six corpora, paired Wilson/McNemar statistics, a disclosed leakage defect, and negative results that bound the claim.</a:t>
            </a:r>
          </a:p>
        </p:txBody>
      </p:sp>
      <p:sp>
        <p:nvSpPr>
          <p:cNvPr id="25" name="Rounded Rectangle 24"/>
          <p:cNvSpPr/>
          <p:nvPr/>
        </p:nvSpPr>
        <p:spPr>
          <a:xfrm>
            <a:off x="1051560" y="7452360"/>
            <a:ext cx="16194024" cy="868680"/>
          </a:xfrm>
          <a:prstGeom prst="roundRect">
            <a:avLst>
              <a:gd name="adj" fmla="val 5000"/>
            </a:avLst>
          </a:prstGeom>
          <a:solidFill>
            <a:srgbClr val="10101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6" name="TextBox 25"/>
          <p:cNvSpPr txBox="1"/>
          <p:nvPr/>
        </p:nvSpPr>
        <p:spPr>
          <a:xfrm>
            <a:off x="1325880" y="7571231"/>
            <a:ext cx="15544800" cy="566928"/>
          </a:xfrm>
          <a:prstGeom prst="rect">
            <a:avLst/>
          </a:prstGeom>
          <a:noFill/>
        </p:spPr>
        <p:txBody>
          <a:bodyPr wrap="square" lIns="0" tIns="0" rIns="0" bIns="0" anchor="ctr">
            <a:noAutofit/>
          </a:bodyPr>
          <a:lstStyle/>
          <a:p>
            <a:pPr algn="l"/>
            <a:r>
              <a:rPr sz="1950" b="1" i="0">
                <a:solidFill>
                  <a:srgbClr val="FFFFFF"/>
                </a:solidFill>
                <a:latin typeface="Arial"/>
              </a:rPr>
              <a:t>Novelty in one sentence: turn “what can this package do?” into “what did it do on this host?”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07 — METHODOLOGY</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Research Methodology</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09 / 22</a:t>
            </a:r>
          </a:p>
        </p:txBody>
      </p:sp>
      <p:sp>
        <p:nvSpPr>
          <p:cNvPr id="9" name="Rounded Rectangle 8"/>
          <p:cNvSpPr/>
          <p:nvPr/>
        </p:nvSpPr>
        <p:spPr>
          <a:xfrm>
            <a:off x="1051560" y="2670048"/>
            <a:ext cx="2907792" cy="2999232"/>
          </a:xfrm>
          <a:prstGeom prst="roundRect">
            <a:avLst>
              <a:gd name="adj" fmla="val 5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0" name="Oval 9"/>
          <p:cNvSpPr/>
          <p:nvPr/>
        </p:nvSpPr>
        <p:spPr>
          <a:xfrm>
            <a:off x="1252728" y="2834640"/>
            <a:ext cx="475488" cy="475488"/>
          </a:xfrm>
          <a:prstGeom prst="ellipse">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500" b="1">
                <a:solidFill>
                  <a:srgbClr val="FFFFFF"/>
                </a:solidFill>
                <a:latin typeface="Arial"/>
              </a:rPr>
              <a:t>1</a:t>
            </a:r>
          </a:p>
        </p:txBody>
      </p:sp>
      <p:sp>
        <p:nvSpPr>
          <p:cNvPr id="11" name="TextBox 10"/>
          <p:cNvSpPr txBox="1"/>
          <p:nvPr/>
        </p:nvSpPr>
        <p:spPr>
          <a:xfrm>
            <a:off x="1252728" y="3456432"/>
            <a:ext cx="2505456" cy="603504"/>
          </a:xfrm>
          <a:prstGeom prst="rect">
            <a:avLst/>
          </a:prstGeom>
          <a:noFill/>
        </p:spPr>
        <p:txBody>
          <a:bodyPr wrap="square" lIns="0" tIns="0" rIns="0" bIns="0" anchor="t">
            <a:noAutofit/>
          </a:bodyPr>
          <a:lstStyle/>
          <a:p>
            <a:pPr algn="l">
              <a:lnSpc>
                <a:spcPct val="100000"/>
              </a:lnSpc>
            </a:pPr>
            <a:r>
              <a:rPr sz="1700" b="1" i="0">
                <a:solidFill>
                  <a:srgbClr val="10101B"/>
                </a:solidFill>
                <a:latin typeface="Arial"/>
              </a:rPr>
              <a:t>Threat &amp; corpora</a:t>
            </a:r>
          </a:p>
        </p:txBody>
      </p:sp>
      <p:sp>
        <p:nvSpPr>
          <p:cNvPr id="12" name="TextBox 11"/>
          <p:cNvSpPr txBox="1"/>
          <p:nvPr/>
        </p:nvSpPr>
        <p:spPr>
          <a:xfrm>
            <a:off x="1252728" y="4133087"/>
            <a:ext cx="2505456" cy="1371600"/>
          </a:xfrm>
          <a:prstGeom prst="rect">
            <a:avLst/>
          </a:prstGeom>
          <a:noFill/>
        </p:spPr>
        <p:txBody>
          <a:bodyPr wrap="square" lIns="0" tIns="0" rIns="0" bIns="0" anchor="t">
            <a:noAutofit/>
          </a:bodyPr>
          <a:lstStyle/>
          <a:p>
            <a:pPr algn="l">
              <a:lnSpc>
                <a:spcPct val="106000"/>
              </a:lnSpc>
            </a:pPr>
            <a:r>
              <a:rPr sz="1260" b="0" i="0">
                <a:solidFill>
                  <a:srgbClr val="4A4A5C"/>
                </a:solidFill>
                <a:latin typeface="Arial"/>
              </a:rPr>
              <a:t>Six corpora: PoC, q2, mutants, Guo holdout, medium, generated. Generated fixtures are regression-only.</a:t>
            </a:r>
          </a:p>
        </p:txBody>
      </p:sp>
      <p:cxnSp>
        <p:nvCxnSpPr>
          <p:cNvPr id="13" name="Connector 12"/>
          <p:cNvCxnSpPr/>
          <p:nvPr/>
        </p:nvCxnSpPr>
        <p:spPr>
          <a:xfrm>
            <a:off x="3977639" y="4160520"/>
            <a:ext cx="274321" cy="0"/>
          </a:xfrm>
          <a:prstGeom prst="line">
            <a:avLst/>
          </a:prstGeom>
          <a:ln w="22860">
            <a:solidFill>
              <a:srgbClr val="12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297679" y="2670048"/>
            <a:ext cx="2907792" cy="2999232"/>
          </a:xfrm>
          <a:prstGeom prst="roundRect">
            <a:avLst>
              <a:gd name="adj" fmla="val 5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5" name="Oval 14"/>
          <p:cNvSpPr/>
          <p:nvPr/>
        </p:nvSpPr>
        <p:spPr>
          <a:xfrm>
            <a:off x="4498847" y="2834640"/>
            <a:ext cx="475488" cy="475488"/>
          </a:xfrm>
          <a:prstGeom prst="ellipse">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500" b="1">
                <a:solidFill>
                  <a:srgbClr val="FFFFFF"/>
                </a:solidFill>
                <a:latin typeface="Arial"/>
              </a:rPr>
              <a:t>2</a:t>
            </a:r>
          </a:p>
        </p:txBody>
      </p:sp>
      <p:sp>
        <p:nvSpPr>
          <p:cNvPr id="16" name="TextBox 15"/>
          <p:cNvSpPr txBox="1"/>
          <p:nvPr/>
        </p:nvSpPr>
        <p:spPr>
          <a:xfrm>
            <a:off x="4498847" y="3456432"/>
            <a:ext cx="2505456" cy="603504"/>
          </a:xfrm>
          <a:prstGeom prst="rect">
            <a:avLst/>
          </a:prstGeom>
          <a:noFill/>
        </p:spPr>
        <p:txBody>
          <a:bodyPr wrap="square" lIns="0" tIns="0" rIns="0" bIns="0" anchor="t">
            <a:noAutofit/>
          </a:bodyPr>
          <a:lstStyle/>
          <a:p>
            <a:pPr algn="l">
              <a:lnSpc>
                <a:spcPct val="100000"/>
              </a:lnSpc>
            </a:pPr>
            <a:r>
              <a:rPr sz="1700" b="1" i="0">
                <a:solidFill>
                  <a:srgbClr val="10101B"/>
                </a:solidFill>
                <a:latin typeface="Arial"/>
              </a:rPr>
              <a:t>Offline ML</a:t>
            </a:r>
          </a:p>
        </p:txBody>
      </p:sp>
      <p:sp>
        <p:nvSpPr>
          <p:cNvPr id="17" name="TextBox 16"/>
          <p:cNvSpPr txBox="1"/>
          <p:nvPr/>
        </p:nvSpPr>
        <p:spPr>
          <a:xfrm>
            <a:off x="4498847" y="4133087"/>
            <a:ext cx="2505456" cy="1371600"/>
          </a:xfrm>
          <a:prstGeom prst="rect">
            <a:avLst/>
          </a:prstGeom>
          <a:noFill/>
        </p:spPr>
        <p:txBody>
          <a:bodyPr wrap="square" lIns="0" tIns="0" rIns="0" bIns="0" anchor="t">
            <a:noAutofit/>
          </a:bodyPr>
          <a:lstStyle/>
          <a:p>
            <a:pPr algn="l">
              <a:lnSpc>
                <a:spcPct val="106000"/>
              </a:lnSpc>
            </a:pPr>
            <a:r>
              <a:rPr sz="1260" b="0" i="0">
                <a:solidFill>
                  <a:srgbClr val="4A4A5C"/>
                </a:solidFill>
                <a:latin typeface="Arial"/>
              </a:rPr>
              <a:t>45 features in five groups; Random Forest; frozen artifact; τ = 0.4; leakage audit.</a:t>
            </a:r>
          </a:p>
        </p:txBody>
      </p:sp>
      <p:cxnSp>
        <p:nvCxnSpPr>
          <p:cNvPr id="18" name="Connector 17"/>
          <p:cNvCxnSpPr/>
          <p:nvPr/>
        </p:nvCxnSpPr>
        <p:spPr>
          <a:xfrm>
            <a:off x="7223759" y="4160520"/>
            <a:ext cx="274320" cy="0"/>
          </a:xfrm>
          <a:prstGeom prst="line">
            <a:avLst/>
          </a:prstGeom>
          <a:ln w="22860">
            <a:solidFill>
              <a:srgbClr val="12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543800" y="2670048"/>
            <a:ext cx="2907792" cy="2999232"/>
          </a:xfrm>
          <a:prstGeom prst="roundRect">
            <a:avLst>
              <a:gd name="adj" fmla="val 5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0" name="Oval 19"/>
          <p:cNvSpPr/>
          <p:nvPr/>
        </p:nvSpPr>
        <p:spPr>
          <a:xfrm>
            <a:off x="7744968" y="2834640"/>
            <a:ext cx="475488" cy="475488"/>
          </a:xfrm>
          <a:prstGeom prst="ellipse">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500" b="1">
                <a:solidFill>
                  <a:srgbClr val="FFFFFF"/>
                </a:solidFill>
                <a:latin typeface="Arial"/>
              </a:rPr>
              <a:t>3</a:t>
            </a:r>
          </a:p>
        </p:txBody>
      </p:sp>
      <p:sp>
        <p:nvSpPr>
          <p:cNvPr id="21" name="TextBox 20"/>
          <p:cNvSpPr txBox="1"/>
          <p:nvPr/>
        </p:nvSpPr>
        <p:spPr>
          <a:xfrm>
            <a:off x="7744968" y="3456432"/>
            <a:ext cx="2505456" cy="603504"/>
          </a:xfrm>
          <a:prstGeom prst="rect">
            <a:avLst/>
          </a:prstGeom>
          <a:noFill/>
        </p:spPr>
        <p:txBody>
          <a:bodyPr wrap="square" lIns="0" tIns="0" rIns="0" bIns="0" anchor="t">
            <a:noAutofit/>
          </a:bodyPr>
          <a:lstStyle/>
          <a:p>
            <a:pPr algn="l">
              <a:lnSpc>
                <a:spcPct val="100000"/>
              </a:lnSpc>
            </a:pPr>
            <a:r>
              <a:rPr sz="1700" b="1" i="0">
                <a:solidFill>
                  <a:srgbClr val="10101B"/>
                </a:solidFill>
                <a:latin typeface="Arial"/>
              </a:rPr>
              <a:t>Static + risk gate</a:t>
            </a:r>
          </a:p>
        </p:txBody>
      </p:sp>
      <p:sp>
        <p:nvSpPr>
          <p:cNvPr id="22" name="TextBox 21"/>
          <p:cNvSpPr txBox="1"/>
          <p:nvPr/>
        </p:nvSpPr>
        <p:spPr>
          <a:xfrm>
            <a:off x="7744968" y="4133087"/>
            <a:ext cx="2505456" cy="1371600"/>
          </a:xfrm>
          <a:prstGeom prst="rect">
            <a:avLst/>
          </a:prstGeom>
          <a:noFill/>
        </p:spPr>
        <p:txBody>
          <a:bodyPr wrap="square" lIns="0" tIns="0" rIns="0" bIns="0" anchor="t">
            <a:noAutofit/>
          </a:bodyPr>
          <a:lstStyle/>
          <a:p>
            <a:pPr algn="l">
              <a:lnSpc>
                <a:spcPct val="106000"/>
              </a:lnSpc>
            </a:pPr>
            <a:r>
              <a:rPr sz="1260" b="0" i="0">
                <a:solidFill>
                  <a:srgbClr val="4A4A5C"/>
                </a:solidFill>
                <a:latin typeface="Arial"/>
              </a:rPr>
              <a:t>L1 shell analysis, L2 ML, L3 Phase A/B gate. A clean package takes the sub-second fast path.</a:t>
            </a:r>
          </a:p>
        </p:txBody>
      </p:sp>
      <p:cxnSp>
        <p:nvCxnSpPr>
          <p:cNvPr id="23" name="Connector 22"/>
          <p:cNvCxnSpPr/>
          <p:nvPr/>
        </p:nvCxnSpPr>
        <p:spPr>
          <a:xfrm>
            <a:off x="10469880" y="4160520"/>
            <a:ext cx="274320" cy="0"/>
          </a:xfrm>
          <a:prstGeom prst="line">
            <a:avLst/>
          </a:prstGeom>
          <a:ln w="22860">
            <a:solidFill>
              <a:srgbClr val="12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0789919" y="2670048"/>
            <a:ext cx="2907792" cy="2999232"/>
          </a:xfrm>
          <a:prstGeom prst="roundRect">
            <a:avLst>
              <a:gd name="adj" fmla="val 5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5" name="Oval 24"/>
          <p:cNvSpPr/>
          <p:nvPr/>
        </p:nvSpPr>
        <p:spPr>
          <a:xfrm>
            <a:off x="10991088" y="2834640"/>
            <a:ext cx="475488" cy="475488"/>
          </a:xfrm>
          <a:prstGeom prst="ellipse">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500" b="1">
                <a:solidFill>
                  <a:srgbClr val="FFFFFF"/>
                </a:solidFill>
                <a:latin typeface="Arial"/>
              </a:rPr>
              <a:t>4</a:t>
            </a:r>
          </a:p>
        </p:txBody>
      </p:sp>
      <p:sp>
        <p:nvSpPr>
          <p:cNvPr id="26" name="TextBox 25"/>
          <p:cNvSpPr txBox="1"/>
          <p:nvPr/>
        </p:nvSpPr>
        <p:spPr>
          <a:xfrm>
            <a:off x="10991088" y="3456432"/>
            <a:ext cx="2505456" cy="603504"/>
          </a:xfrm>
          <a:prstGeom prst="rect">
            <a:avLst/>
          </a:prstGeom>
          <a:noFill/>
        </p:spPr>
        <p:txBody>
          <a:bodyPr wrap="square" lIns="0" tIns="0" rIns="0" bIns="0" anchor="t">
            <a:noAutofit/>
          </a:bodyPr>
          <a:lstStyle/>
          <a:p>
            <a:pPr algn="l">
              <a:lnSpc>
                <a:spcPct val="100000"/>
              </a:lnSpc>
            </a:pPr>
            <a:r>
              <a:rPr sz="1700" b="1" i="0">
                <a:solidFill>
                  <a:srgbClr val="10101B"/>
                </a:solidFill>
                <a:latin typeface="Arial"/>
              </a:rPr>
              <a:t>Dynamic verification</a:t>
            </a:r>
          </a:p>
        </p:txBody>
      </p:sp>
      <p:sp>
        <p:nvSpPr>
          <p:cNvPr id="27" name="TextBox 26"/>
          <p:cNvSpPr txBox="1"/>
          <p:nvPr/>
        </p:nvSpPr>
        <p:spPr>
          <a:xfrm>
            <a:off x="10991088" y="4133087"/>
            <a:ext cx="2505456" cy="1371600"/>
          </a:xfrm>
          <a:prstGeom prst="rect">
            <a:avLst/>
          </a:prstGeom>
          <a:noFill/>
        </p:spPr>
        <p:txBody>
          <a:bodyPr wrap="square" lIns="0" tIns="0" rIns="0" bIns="0" anchor="t">
            <a:noAutofit/>
          </a:bodyPr>
          <a:lstStyle/>
          <a:p>
            <a:pPr algn="l">
              <a:lnSpc>
                <a:spcPct val="106000"/>
              </a:lnSpc>
            </a:pPr>
            <a:r>
              <a:rPr sz="1260" b="0" i="0">
                <a:solidFill>
                  <a:srgbClr val="4A4A5C"/>
                </a:solidFill>
                <a:latin typeface="Arial"/>
              </a:rPr>
              <a:t>Six canaries, Docker as uid 65534, four eBPF programs, kernel SIGKILL on a kill-marked access.</a:t>
            </a:r>
          </a:p>
        </p:txBody>
      </p:sp>
      <p:cxnSp>
        <p:nvCxnSpPr>
          <p:cNvPr id="28" name="Connector 27"/>
          <p:cNvCxnSpPr/>
          <p:nvPr/>
        </p:nvCxnSpPr>
        <p:spPr>
          <a:xfrm>
            <a:off x="13716000" y="4160520"/>
            <a:ext cx="274319" cy="0"/>
          </a:xfrm>
          <a:prstGeom prst="line">
            <a:avLst/>
          </a:prstGeom>
          <a:ln w="22860">
            <a:solidFill>
              <a:srgbClr val="12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4036040" y="2670048"/>
            <a:ext cx="2907792" cy="2999232"/>
          </a:xfrm>
          <a:prstGeom prst="roundRect">
            <a:avLst>
              <a:gd name="adj" fmla="val 5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30" name="Oval 29"/>
          <p:cNvSpPr/>
          <p:nvPr/>
        </p:nvSpPr>
        <p:spPr>
          <a:xfrm>
            <a:off x="14237208" y="2834640"/>
            <a:ext cx="475488" cy="475488"/>
          </a:xfrm>
          <a:prstGeom prst="ellipse">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500" b="1">
                <a:solidFill>
                  <a:srgbClr val="FFFFFF"/>
                </a:solidFill>
                <a:latin typeface="Arial"/>
              </a:rPr>
              <a:t>5</a:t>
            </a:r>
          </a:p>
        </p:txBody>
      </p:sp>
      <p:sp>
        <p:nvSpPr>
          <p:cNvPr id="31" name="TextBox 30"/>
          <p:cNvSpPr txBox="1"/>
          <p:nvPr/>
        </p:nvSpPr>
        <p:spPr>
          <a:xfrm>
            <a:off x="14237208" y="3456432"/>
            <a:ext cx="2505456" cy="603504"/>
          </a:xfrm>
          <a:prstGeom prst="rect">
            <a:avLst/>
          </a:prstGeom>
          <a:noFill/>
        </p:spPr>
        <p:txBody>
          <a:bodyPr wrap="square" lIns="0" tIns="0" rIns="0" bIns="0" anchor="t">
            <a:noAutofit/>
          </a:bodyPr>
          <a:lstStyle/>
          <a:p>
            <a:pPr algn="l">
              <a:lnSpc>
                <a:spcPct val="100000"/>
              </a:lnSpc>
            </a:pPr>
            <a:r>
              <a:rPr sz="1700" b="1" i="0">
                <a:solidFill>
                  <a:srgbClr val="10101B"/>
                </a:solidFill>
                <a:latin typeface="Arial"/>
              </a:rPr>
              <a:t>Fusion &amp; analysis</a:t>
            </a:r>
          </a:p>
        </p:txBody>
      </p:sp>
      <p:sp>
        <p:nvSpPr>
          <p:cNvPr id="32" name="TextBox 31"/>
          <p:cNvSpPr txBox="1"/>
          <p:nvPr/>
        </p:nvSpPr>
        <p:spPr>
          <a:xfrm>
            <a:off x="14237208" y="4133087"/>
            <a:ext cx="2505456" cy="1371600"/>
          </a:xfrm>
          <a:prstGeom prst="rect">
            <a:avLst/>
          </a:prstGeom>
          <a:noFill/>
        </p:spPr>
        <p:txBody>
          <a:bodyPr wrap="square" lIns="0" tIns="0" rIns="0" bIns="0" anchor="t">
            <a:noAutofit/>
          </a:bodyPr>
          <a:lstStyle/>
          <a:p>
            <a:pPr algn="l">
              <a:lnSpc>
                <a:spcPct val="106000"/>
              </a:lnSpc>
            </a:pPr>
            <a:r>
              <a:rPr sz="1260" b="0" i="0">
                <a:solidFill>
                  <a:srgbClr val="4A4A5C"/>
                </a:solidFill>
                <a:latin typeface="Arial"/>
              </a:rPr>
              <a:t>Priority fusion; TPR, FPR, precision, F1, average precision; Wilson 95% CI; exact McNemar; runtime.</a:t>
            </a:r>
          </a:p>
        </p:txBody>
      </p:sp>
      <p:sp>
        <p:nvSpPr>
          <p:cNvPr id="33" name="Rounded Rectangle 32"/>
          <p:cNvSpPr/>
          <p:nvPr/>
        </p:nvSpPr>
        <p:spPr>
          <a:xfrm>
            <a:off x="1051560" y="5989320"/>
            <a:ext cx="16194024" cy="1417320"/>
          </a:xfrm>
          <a:prstGeom prst="roundRect">
            <a:avLst>
              <a:gd name="adj" fmla="val 4000"/>
            </a:avLst>
          </a:prstGeom>
          <a:solidFill>
            <a:srgbClr val="F4F5FC"/>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34" name="TextBox 33"/>
          <p:cNvSpPr txBox="1"/>
          <p:nvPr/>
        </p:nvSpPr>
        <p:spPr>
          <a:xfrm>
            <a:off x="1325880" y="6126480"/>
            <a:ext cx="15636240" cy="274320"/>
          </a:xfrm>
          <a:prstGeom prst="rect">
            <a:avLst/>
          </a:prstGeom>
          <a:noFill/>
        </p:spPr>
        <p:txBody>
          <a:bodyPr wrap="square" lIns="0" tIns="0" rIns="0" bIns="0" anchor="t">
            <a:noAutofit/>
          </a:bodyPr>
          <a:lstStyle/>
          <a:p>
            <a:pPr algn="l"/>
            <a:r>
              <a:rPr sz="1150" b="1" i="0">
                <a:solidFill>
                  <a:srgbClr val="1200FF"/>
                </a:solidFill>
                <a:latin typeface="Arial"/>
              </a:rPr>
              <a:t>DESIGN LOGIC</a:t>
            </a:r>
          </a:p>
        </p:txBody>
      </p:sp>
      <p:sp>
        <p:nvSpPr>
          <p:cNvPr id="35" name="TextBox 34"/>
          <p:cNvSpPr txBox="1"/>
          <p:nvPr/>
        </p:nvSpPr>
        <p:spPr>
          <a:xfrm>
            <a:off x="1325880" y="6391656"/>
            <a:ext cx="15636240" cy="914400"/>
          </a:xfrm>
          <a:prstGeom prst="rect">
            <a:avLst/>
          </a:prstGeom>
          <a:noFill/>
        </p:spPr>
        <p:txBody>
          <a:bodyPr wrap="square" lIns="0" tIns="0" rIns="0" bIns="0" anchor="t">
            <a:noAutofit/>
          </a:bodyPr>
          <a:lstStyle/>
          <a:p>
            <a:pPr algn="l">
              <a:lnSpc>
                <a:spcPct val="108000"/>
              </a:lnSpc>
            </a:pPr>
            <a:r>
              <a:rPr sz="1620" b="0" i="0">
                <a:solidFill>
                  <a:srgbClr val="10101B"/>
                </a:solidFill>
                <a:latin typeface="Arial"/>
              </a:rPr>
              <a:t>Each layer has a distinct evidential role, not a redundant vote. Uncertainty routes the package to dynamic confirmation; every verdict, benign or malicious, retains its evidence record.</a:t>
            </a:r>
          </a:p>
        </p:txBody>
      </p:sp>
      <p:sp>
        <p:nvSpPr>
          <p:cNvPr id="36" name="TextBox 35"/>
          <p:cNvSpPr txBox="1"/>
          <p:nvPr/>
        </p:nvSpPr>
        <p:spPr>
          <a:xfrm>
            <a:off x="1051560" y="7662672"/>
            <a:ext cx="15910559" cy="502920"/>
          </a:xfrm>
          <a:prstGeom prst="rect">
            <a:avLst/>
          </a:prstGeom>
          <a:noFill/>
        </p:spPr>
        <p:txBody>
          <a:bodyPr wrap="square" lIns="0" tIns="0" rIns="0" bIns="0" anchor="t">
            <a:noAutofit/>
          </a:bodyPr>
          <a:lstStyle/>
          <a:p>
            <a:pPr algn="l"/>
            <a:r>
              <a:rPr sz="1350" b="0" i="0">
                <a:solidFill>
                  <a:srgbClr val="4A4A5C"/>
                </a:solidFill>
                <a:latin typeface="Arial"/>
              </a:rPr>
              <a:t>Unit of analysis: one npm tarball or extracted package directory. Defender: Linux 5.15+, Docker, and root or CAP_BPF.</a:t>
            </a:r>
          </a:p>
        </p:txBody>
      </p:sp>
      <p:sp>
        <p:nvSpPr>
          <p:cNvPr id="37" name="TextBox 36"/>
          <p:cNvSpPr txBox="1"/>
          <p:nvPr/>
        </p:nvSpPr>
        <p:spPr>
          <a:xfrm>
            <a:off x="1051560" y="7388352"/>
            <a:ext cx="14813280" cy="274320"/>
          </a:xfrm>
          <a:prstGeom prst="rect">
            <a:avLst/>
          </a:prstGeom>
          <a:noFill/>
        </p:spPr>
        <p:txBody>
          <a:bodyPr wrap="square" lIns="0" tIns="0" rIns="0" bIns="0" anchor="t">
            <a:spAutoFit/>
          </a:bodyPr>
          <a:lstStyle/>
          <a:p>
            <a:pPr algn="l">
              <a:lnSpc>
                <a:spcPct val="100000"/>
              </a:lnSpc>
              <a:spcBef>
                <a:spcPts val="0"/>
              </a:spcBef>
              <a:spcAft>
                <a:spcPts val="0"/>
              </a:spcAft>
            </a:pPr>
            <a:r>
              <a:rPr sz="1150" b="0" i="0">
                <a:solidFill>
                  <a:srgbClr val="5C677D"/>
                </a:solidFill>
                <a:latin typeface="Arial"/>
              </a:rPr>
              <a:t>Reproducibility: frozen model artifact · provenance sidecar · per-package verdict JSON · released evaluation scripts.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07 — SYSTEM DESIGN</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Seven-Layer Behavioral-Chain Architecture</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10 / 22</a:t>
            </a:r>
          </a:p>
        </p:txBody>
      </p:sp>
      <p:sp>
        <p:nvSpPr>
          <p:cNvPr id="9" name="Rounded Rectangle 8"/>
          <p:cNvSpPr/>
          <p:nvPr/>
        </p:nvSpPr>
        <p:spPr>
          <a:xfrm>
            <a:off x="3127248" y="2395728"/>
            <a:ext cx="5806440" cy="3246120"/>
          </a:xfrm>
          <a:prstGeom prst="roundRect">
            <a:avLst>
              <a:gd name="adj" fmla="val 5500"/>
            </a:avLst>
          </a:prstGeom>
          <a:solidFill>
            <a:srgbClr val="EDF8F6"/>
          </a:solidFill>
          <a:ln w="12700">
            <a:solidFill>
              <a:srgbClr val="B9E3DC"/>
            </a:solidFill>
            <a:prstDash val="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5504688" y="5989320"/>
            <a:ext cx="7360920" cy="2103120"/>
          </a:xfrm>
          <a:prstGeom prst="roundRect">
            <a:avLst>
              <a:gd name="adj" fmla="val 7000"/>
            </a:avLst>
          </a:prstGeom>
          <a:solidFill>
            <a:srgbClr val="FEF8F6"/>
          </a:solidFill>
          <a:ln w="12700">
            <a:solidFill>
              <a:srgbClr val="F2C9BE"/>
            </a:solidFill>
            <a:prstDash val="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91840" y="2468880"/>
            <a:ext cx="5394960" cy="219456"/>
          </a:xfrm>
          <a:prstGeom prst="rect">
            <a:avLst/>
          </a:prstGeom>
          <a:noFill/>
        </p:spPr>
        <p:txBody>
          <a:bodyPr wrap="square" lIns="18288" tIns="0" rIns="18288" bIns="0" anchor="t">
            <a:spAutoFit/>
          </a:bodyPr>
          <a:lstStyle/>
          <a:p>
            <a:pPr algn="l">
              <a:lnSpc>
                <a:spcPct val="100000"/>
              </a:lnSpc>
              <a:spcBef>
                <a:spcPts val="0"/>
              </a:spcBef>
              <a:spcAft>
                <a:spcPts val="0"/>
              </a:spcAft>
            </a:pPr>
            <a:r>
              <a:rPr sz="780" b="1" spc="120">
                <a:solidFill>
                  <a:srgbClr val="1F7A6F"/>
                </a:solidFill>
                <a:latin typeface="Arial"/>
              </a:rPr>
              <a:t>STATIC EVIDENCE</a:t>
            </a:r>
          </a:p>
        </p:txBody>
      </p:sp>
      <p:sp>
        <p:nvSpPr>
          <p:cNvPr id="12" name="TextBox 11"/>
          <p:cNvSpPr txBox="1"/>
          <p:nvPr/>
        </p:nvSpPr>
        <p:spPr>
          <a:xfrm>
            <a:off x="4370832" y="2468880"/>
            <a:ext cx="4206240" cy="219456"/>
          </a:xfrm>
          <a:prstGeom prst="rect">
            <a:avLst/>
          </a:prstGeom>
          <a:noFill/>
        </p:spPr>
        <p:txBody>
          <a:bodyPr wrap="square" lIns="18288" tIns="0" rIns="18288" bIns="0" anchor="t">
            <a:spAutoFit/>
          </a:bodyPr>
          <a:lstStyle/>
          <a:p>
            <a:pPr algn="l">
              <a:lnSpc>
                <a:spcPct val="100000"/>
              </a:lnSpc>
              <a:spcBef>
                <a:spcPts val="0"/>
              </a:spcBef>
              <a:spcAft>
                <a:spcPts val="0"/>
              </a:spcAft>
            </a:pPr>
            <a:r>
              <a:rPr sz="760" b="1" spc="120">
                <a:solidFill>
                  <a:srgbClr val="2A9D8F"/>
                </a:solidFill>
                <a:latin typeface="Arial"/>
              </a:rPr>
              <a:t>·  FAST PATH</a:t>
            </a:r>
          </a:p>
        </p:txBody>
      </p:sp>
      <p:sp>
        <p:nvSpPr>
          <p:cNvPr id="13" name="TextBox 12"/>
          <p:cNvSpPr txBox="1"/>
          <p:nvPr/>
        </p:nvSpPr>
        <p:spPr>
          <a:xfrm>
            <a:off x="6967728" y="6089904"/>
            <a:ext cx="4023360" cy="219456"/>
          </a:xfrm>
          <a:prstGeom prst="rect">
            <a:avLst/>
          </a:prstGeom>
          <a:noFill/>
        </p:spPr>
        <p:txBody>
          <a:bodyPr wrap="square" lIns="18288" tIns="0" rIns="18288" bIns="0" anchor="t">
            <a:spAutoFit/>
          </a:bodyPr>
          <a:lstStyle/>
          <a:p>
            <a:pPr algn="l">
              <a:lnSpc>
                <a:spcPct val="100000"/>
              </a:lnSpc>
              <a:spcBef>
                <a:spcPts val="0"/>
              </a:spcBef>
              <a:spcAft>
                <a:spcPts val="0"/>
              </a:spcAft>
            </a:pPr>
            <a:r>
              <a:rPr sz="780" b="1" spc="120">
                <a:solidFill>
                  <a:srgbClr val="D95D45"/>
                </a:solidFill>
                <a:latin typeface="Arial"/>
              </a:rPr>
              <a:t>DYNAMIC EVIDENCE</a:t>
            </a:r>
          </a:p>
        </p:txBody>
      </p:sp>
      <p:sp>
        <p:nvSpPr>
          <p:cNvPr id="14" name="TextBox 13"/>
          <p:cNvSpPr txBox="1"/>
          <p:nvPr/>
        </p:nvSpPr>
        <p:spPr>
          <a:xfrm>
            <a:off x="8247888" y="6089904"/>
            <a:ext cx="3200400" cy="219456"/>
          </a:xfrm>
          <a:prstGeom prst="rect">
            <a:avLst/>
          </a:prstGeom>
          <a:noFill/>
        </p:spPr>
        <p:txBody>
          <a:bodyPr wrap="square" lIns="18288" tIns="0" rIns="18288" bIns="0" anchor="t">
            <a:spAutoFit/>
          </a:bodyPr>
          <a:lstStyle/>
          <a:p>
            <a:pPr algn="l">
              <a:lnSpc>
                <a:spcPct val="100000"/>
              </a:lnSpc>
              <a:spcBef>
                <a:spcPts val="0"/>
              </a:spcBef>
              <a:spcAft>
                <a:spcPts val="0"/>
              </a:spcAft>
            </a:pPr>
            <a:r>
              <a:rPr sz="760" b="1" spc="110">
                <a:solidFill>
                  <a:srgbClr val="B86A57"/>
                </a:solidFill>
                <a:latin typeface="Arial"/>
              </a:rPr>
              <a:t>·  ISOLATED SANDBOX</a:t>
            </a:r>
          </a:p>
        </p:txBody>
      </p:sp>
      <p:sp>
        <p:nvSpPr>
          <p:cNvPr id="15" name="Freeform 14"/>
          <p:cNvSpPr/>
          <p:nvPr/>
        </p:nvSpPr>
        <p:spPr>
          <a:xfrm>
            <a:off x="2880360" y="3364992"/>
            <a:ext cx="374904" cy="1042416"/>
          </a:xfrm>
          <a:custGeom>
            <a:avLst/>
            <a:gdLst/>
            <a:ahLst/>
            <a:cxnLst/>
            <a:rect l="l" t="t" r="r" b="b"/>
            <a:pathLst>
              <a:path w="41" h="114">
                <a:moveTo>
                  <a:pt x="0" y="114"/>
                </a:moveTo>
                <a:lnTo>
                  <a:pt x="21" y="114"/>
                </a:lnTo>
                <a:lnTo>
                  <a:pt x="21" y="0"/>
                </a:lnTo>
                <a:lnTo>
                  <a:pt x="41" y="0"/>
                </a:lnTo>
              </a:path>
            </a:pathLst>
          </a:custGeom>
          <a:noFill/>
          <a:ln w="22860" cap="rnd">
            <a:solidFill>
              <a:srgbClr val="6B6B80"/>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5"/>
          <p:cNvSpPr/>
          <p:nvPr/>
        </p:nvSpPr>
        <p:spPr>
          <a:xfrm>
            <a:off x="2880360" y="4407408"/>
            <a:ext cx="374904" cy="365760"/>
          </a:xfrm>
          <a:custGeom>
            <a:avLst/>
            <a:gdLst/>
            <a:ahLst/>
            <a:cxnLst/>
            <a:rect l="l" t="t" r="r" b="b"/>
            <a:pathLst>
              <a:path w="41" h="40">
                <a:moveTo>
                  <a:pt x="0" y="0"/>
                </a:moveTo>
                <a:lnTo>
                  <a:pt x="21" y="0"/>
                </a:lnTo>
                <a:lnTo>
                  <a:pt x="21" y="40"/>
                </a:lnTo>
                <a:lnTo>
                  <a:pt x="41" y="40"/>
                </a:lnTo>
              </a:path>
            </a:pathLst>
          </a:custGeom>
          <a:noFill/>
          <a:ln w="22860" cap="rnd">
            <a:solidFill>
              <a:srgbClr val="6B6B80"/>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5989320" y="3364992"/>
            <a:ext cx="329184" cy="384048"/>
          </a:xfrm>
          <a:custGeom>
            <a:avLst/>
            <a:gdLst/>
            <a:ahLst/>
            <a:cxnLst/>
            <a:rect l="l" t="t" r="r" b="b"/>
            <a:pathLst>
              <a:path w="36" h="42">
                <a:moveTo>
                  <a:pt x="0" y="0"/>
                </a:moveTo>
                <a:lnTo>
                  <a:pt x="15" y="0"/>
                </a:lnTo>
                <a:lnTo>
                  <a:pt x="15" y="42"/>
                </a:lnTo>
                <a:lnTo>
                  <a:pt x="36" y="42"/>
                </a:lnTo>
              </a:path>
            </a:pathLst>
          </a:custGeom>
          <a:noFill/>
          <a:ln w="22860" cap="rnd">
            <a:solidFill>
              <a:srgbClr val="2A9D8F"/>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p:cNvSpPr/>
          <p:nvPr/>
        </p:nvSpPr>
        <p:spPr>
          <a:xfrm>
            <a:off x="5989320" y="4498848"/>
            <a:ext cx="329184" cy="274320"/>
          </a:xfrm>
          <a:custGeom>
            <a:avLst/>
            <a:gdLst/>
            <a:ahLst/>
            <a:cxnLst/>
            <a:rect l="l" t="t" r="r" b="b"/>
            <a:pathLst>
              <a:path w="36" h="30">
                <a:moveTo>
                  <a:pt x="0" y="30"/>
                </a:moveTo>
                <a:lnTo>
                  <a:pt x="15" y="30"/>
                </a:lnTo>
                <a:lnTo>
                  <a:pt x="15" y="0"/>
                </a:lnTo>
                <a:lnTo>
                  <a:pt x="36" y="0"/>
                </a:lnTo>
              </a:path>
            </a:pathLst>
          </a:custGeom>
          <a:noFill/>
          <a:ln w="22860" cap="rnd">
            <a:solidFill>
              <a:srgbClr val="2A9D8F"/>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6766560" y="4782312"/>
            <a:ext cx="0" cy="1627632"/>
          </a:xfrm>
          <a:custGeom>
            <a:avLst/>
            <a:gdLst/>
            <a:ahLst/>
            <a:cxnLst/>
            <a:rect l="l" t="t" r="r" b="b"/>
            <a:pathLst>
              <a:path h="178">
                <a:moveTo>
                  <a:pt x="0" y="0"/>
                </a:moveTo>
                <a:lnTo>
                  <a:pt x="0" y="178"/>
                </a:lnTo>
              </a:path>
            </a:pathLst>
          </a:custGeom>
          <a:noFill/>
          <a:ln w="24130" cap="rnd">
            <a:solidFill>
              <a:srgbClr val="D98E2B"/>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51560" y="3611880"/>
            <a:ext cx="1828800" cy="1600200"/>
          </a:xfrm>
          <a:prstGeom prst="roundRect">
            <a:avLst>
              <a:gd name="adj" fmla="val 9000"/>
            </a:avLst>
          </a:prstGeom>
          <a:solidFill>
            <a:srgbClr val="FFFFFF"/>
          </a:solidFill>
          <a:ln w="14604">
            <a:solidFill>
              <a:srgbClr val="D9D9E3"/>
            </a:solidFill>
          </a:ln>
          <a:effectLst>
            <a:outerShdw blurRad="114300" dist="38100" dir="5400000" algn="ctr" rotWithShape="0">
              <a:srgbClr val="10101B">
                <a:alpha val="12000"/>
              </a:srgbClr>
            </a:outerShdw>
          </a:effectLst>
        </p:spPr>
        <p:style>
          <a:lnRef idx="1">
            <a:schemeClr val="accent1"/>
          </a:lnRef>
          <a:fillRef idx="3">
            <a:schemeClr val="accent1"/>
          </a:fillRef>
          <a:effectRef idx="2">
            <a:schemeClr val="accent1"/>
          </a:effectRef>
          <a:fontRef idx="minor">
            <a:schemeClr val="lt1"/>
          </a:fontRef>
        </p:style>
        <p:txBody>
          <a:bodyPr wrap="square" lIns="128016" tIns="82296" rIns="109728" rtlCol="0" anchor="t"/>
          <a:lstStyle/>
          <a:p>
            <a:pPr algn="l">
              <a:lnSpc>
                <a:spcPct val="100000"/>
              </a:lnSpc>
              <a:spcBef>
                <a:spcPts val="0"/>
              </a:spcBef>
              <a:spcAft>
                <a:spcPts val="0"/>
              </a:spcAft>
            </a:pPr>
            <a:r>
              <a:rPr sz="800" b="1" spc="120">
                <a:solidFill>
                  <a:srgbClr val="4A4A5C"/>
                </a:solidFill>
                <a:latin typeface="Arial"/>
              </a:rPr>
              <a:t>INPUT</a:t>
            </a:r>
          </a:p>
          <a:p>
            <a:pPr algn="l">
              <a:lnSpc>
                <a:spcPct val="100000"/>
              </a:lnSpc>
              <a:spcBef>
                <a:spcPts val="200"/>
              </a:spcBef>
              <a:spcAft>
                <a:spcPts val="0"/>
              </a:spcAft>
            </a:pPr>
            <a:r>
              <a:rPr sz="1300" b="1">
                <a:solidFill>
                  <a:srgbClr val="10101B"/>
                </a:solidFill>
                <a:latin typeface="Arial"/>
              </a:rPr>
              <a:t>npm package</a:t>
            </a:r>
          </a:p>
          <a:p>
            <a:pPr algn="l">
              <a:lnSpc>
                <a:spcPct val="98000"/>
              </a:lnSpc>
              <a:spcBef>
                <a:spcPts val="300"/>
              </a:spcBef>
              <a:spcAft>
                <a:spcPts val="0"/>
              </a:spcAft>
            </a:pPr>
            <a:r>
              <a:rPr sz="960" b="0">
                <a:solidFill>
                  <a:srgbClr val="4A4A5C"/>
                </a:solidFill>
                <a:latin typeface="Arial"/>
              </a:rPr>
              <a:t>.tgz + package.json
lifecycle hooks</a:t>
            </a:r>
          </a:p>
          <a:p>
            <a:pPr algn="l">
              <a:lnSpc>
                <a:spcPct val="100000"/>
              </a:lnSpc>
              <a:spcBef>
                <a:spcPts val="700"/>
              </a:spcBef>
              <a:spcAft>
                <a:spcPts val="0"/>
              </a:spcAft>
            </a:pPr>
            <a:r>
              <a:rPr sz="720" b="1" spc="100">
                <a:solidFill>
                  <a:srgbClr val="8A8A9E"/>
                </a:solidFill>
                <a:latin typeface="Arial"/>
              </a:rPr>
              <a:t>UNTRUSTED CODE</a:t>
            </a:r>
          </a:p>
        </p:txBody>
      </p:sp>
      <p:sp>
        <p:nvSpPr>
          <p:cNvPr id="21" name="Rounded Rectangle 20"/>
          <p:cNvSpPr/>
          <p:nvPr/>
        </p:nvSpPr>
        <p:spPr>
          <a:xfrm>
            <a:off x="3291840" y="2743200"/>
            <a:ext cx="2697480" cy="1243584"/>
          </a:xfrm>
          <a:prstGeom prst="roundRect">
            <a:avLst>
              <a:gd name="adj" fmla="val 9000"/>
            </a:avLst>
          </a:prstGeom>
          <a:solidFill>
            <a:srgbClr val="FFFFFF"/>
          </a:solidFill>
          <a:ln w="14604">
            <a:solidFill>
              <a:srgbClr val="B9E3DC"/>
            </a:solidFill>
          </a:ln>
          <a:effectLst>
            <a:outerShdw blurRad="114300" dist="38100" dir="5400000" algn="ctr" rotWithShape="0">
              <a:srgbClr val="10101B">
                <a:alpha val="12000"/>
              </a:srgbClr>
            </a:outerShdw>
          </a:effectLst>
        </p:spPr>
        <p:style>
          <a:lnRef idx="1">
            <a:schemeClr val="accent1"/>
          </a:lnRef>
          <a:fillRef idx="3">
            <a:schemeClr val="accent1"/>
          </a:fillRef>
          <a:effectRef idx="2">
            <a:schemeClr val="accent1"/>
          </a:effectRef>
          <a:fontRef idx="minor">
            <a:schemeClr val="lt1"/>
          </a:fontRef>
        </p:style>
        <p:txBody>
          <a:bodyPr wrap="square" lIns="128016" tIns="82296" rIns="109728" rtlCol="0" anchor="t"/>
          <a:lstStyle/>
          <a:p>
            <a:pPr algn="l">
              <a:lnSpc>
                <a:spcPct val="100000"/>
              </a:lnSpc>
              <a:spcBef>
                <a:spcPts val="0"/>
              </a:spcBef>
              <a:spcAft>
                <a:spcPts val="0"/>
              </a:spcAft>
            </a:pPr>
            <a:r>
              <a:rPr sz="819" b="1" spc="60">
                <a:solidFill>
                  <a:srgbClr val="2A9D8F"/>
                </a:solidFill>
                <a:latin typeface="Arial"/>
              </a:rPr>
              <a:t>L1</a:t>
            </a:r>
            <a:r>
              <a:rPr sz="760" b="1" spc="110">
                <a:solidFill>
                  <a:srgbClr val="2A9D8F"/>
                </a:solidFill>
                <a:latin typeface="Arial"/>
              </a:rPr>
              <a:t>  SHELL</a:t>
            </a:r>
          </a:p>
          <a:p>
            <a:pPr algn="l">
              <a:lnSpc>
                <a:spcPct val="100000"/>
              </a:lnSpc>
              <a:spcBef>
                <a:spcPts val="100"/>
              </a:spcBef>
              <a:spcAft>
                <a:spcPts val="0"/>
              </a:spcAft>
            </a:pPr>
            <a:r>
              <a:rPr sz="1280" b="1">
                <a:solidFill>
                  <a:srgbClr val="10101B"/>
                </a:solidFill>
                <a:latin typeface="Arial"/>
              </a:rPr>
              <a:t>Shell analysis</a:t>
            </a:r>
          </a:p>
          <a:p>
            <a:pPr algn="l">
              <a:lnSpc>
                <a:spcPct val="96000"/>
              </a:lnSpc>
              <a:spcBef>
                <a:spcPts val="200"/>
              </a:spcBef>
              <a:spcAft>
                <a:spcPts val="0"/>
              </a:spcAft>
            </a:pPr>
            <a:r>
              <a:rPr sz="940" b="0">
                <a:solidFill>
                  <a:srgbClr val="4A4A5C"/>
                </a:solidFill>
                <a:latin typeface="Arial"/>
              </a:rPr>
              <a:t>15 shell features; Unix,
PowerShell and CMD dialects.</a:t>
            </a:r>
          </a:p>
        </p:txBody>
      </p:sp>
      <p:sp>
        <p:nvSpPr>
          <p:cNvPr id="22" name="Rounded Rectangle 21"/>
          <p:cNvSpPr/>
          <p:nvPr/>
        </p:nvSpPr>
        <p:spPr>
          <a:xfrm>
            <a:off x="3332988" y="2843784"/>
            <a:ext cx="50292" cy="1042416"/>
          </a:xfrm>
          <a:prstGeom prst="roundRect">
            <a:avLst>
              <a:gd name="adj" fmla="val 50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291840" y="4160520"/>
            <a:ext cx="2697480" cy="1243584"/>
          </a:xfrm>
          <a:prstGeom prst="roundRect">
            <a:avLst>
              <a:gd name="adj" fmla="val 9000"/>
            </a:avLst>
          </a:prstGeom>
          <a:solidFill>
            <a:srgbClr val="FFFFFF"/>
          </a:solidFill>
          <a:ln w="14604">
            <a:solidFill>
              <a:srgbClr val="B9E3DC"/>
            </a:solidFill>
          </a:ln>
          <a:effectLst>
            <a:outerShdw blurRad="114300" dist="38100" dir="5400000" algn="ctr" rotWithShape="0">
              <a:srgbClr val="10101B">
                <a:alpha val="12000"/>
              </a:srgbClr>
            </a:outerShdw>
          </a:effectLst>
        </p:spPr>
        <p:style>
          <a:lnRef idx="1">
            <a:schemeClr val="accent1"/>
          </a:lnRef>
          <a:fillRef idx="3">
            <a:schemeClr val="accent1"/>
          </a:fillRef>
          <a:effectRef idx="2">
            <a:schemeClr val="accent1"/>
          </a:effectRef>
          <a:fontRef idx="minor">
            <a:schemeClr val="lt1"/>
          </a:fontRef>
        </p:style>
        <p:txBody>
          <a:bodyPr wrap="square" lIns="128016" tIns="82296" rIns="109728" rtlCol="0" anchor="t"/>
          <a:lstStyle/>
          <a:p>
            <a:pPr algn="l">
              <a:lnSpc>
                <a:spcPct val="100000"/>
              </a:lnSpc>
              <a:spcBef>
                <a:spcPts val="0"/>
              </a:spcBef>
              <a:spcAft>
                <a:spcPts val="0"/>
              </a:spcAft>
            </a:pPr>
            <a:r>
              <a:rPr sz="819" b="1" spc="60">
                <a:solidFill>
                  <a:srgbClr val="2A9D8F"/>
                </a:solidFill>
                <a:latin typeface="Arial"/>
              </a:rPr>
              <a:t>L2</a:t>
            </a:r>
            <a:r>
              <a:rPr sz="760" b="1" spc="110">
                <a:solidFill>
                  <a:srgbClr val="2A9D8F"/>
                </a:solidFill>
                <a:latin typeface="Arial"/>
              </a:rPr>
              <a:t>  LEARNED</a:t>
            </a:r>
          </a:p>
          <a:p>
            <a:pPr algn="l">
              <a:lnSpc>
                <a:spcPct val="100000"/>
              </a:lnSpc>
              <a:spcBef>
                <a:spcPts val="100"/>
              </a:spcBef>
              <a:spcAft>
                <a:spcPts val="0"/>
              </a:spcAft>
            </a:pPr>
            <a:r>
              <a:rPr sz="1280" b="1">
                <a:solidFill>
                  <a:srgbClr val="10101B"/>
                </a:solidFill>
                <a:latin typeface="Arial"/>
              </a:rPr>
              <a:t>ML classifier</a:t>
            </a:r>
          </a:p>
          <a:p>
            <a:pPr algn="l">
              <a:lnSpc>
                <a:spcPct val="96000"/>
              </a:lnSpc>
              <a:spcBef>
                <a:spcPts val="200"/>
              </a:spcBef>
              <a:spcAft>
                <a:spcPts val="0"/>
              </a:spcAft>
            </a:pPr>
            <a:r>
              <a:rPr sz="940" b="0">
                <a:solidFill>
                  <a:srgbClr val="4A4A5C"/>
                </a:solidFill>
                <a:latin typeface="Arial"/>
              </a:rPr>
              <a:t>45 features · Random Forest
τ = 0.4 · frozen artifact.</a:t>
            </a:r>
          </a:p>
        </p:txBody>
      </p:sp>
      <p:sp>
        <p:nvSpPr>
          <p:cNvPr id="24" name="Rounded Rectangle 23"/>
          <p:cNvSpPr/>
          <p:nvPr/>
        </p:nvSpPr>
        <p:spPr>
          <a:xfrm>
            <a:off x="3332988" y="4261104"/>
            <a:ext cx="50292" cy="1042416"/>
          </a:xfrm>
          <a:prstGeom prst="roundRect">
            <a:avLst>
              <a:gd name="adj" fmla="val 50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355080" y="3364992"/>
            <a:ext cx="2240280" cy="1417320"/>
          </a:xfrm>
          <a:prstGeom prst="roundRect">
            <a:avLst>
              <a:gd name="adj" fmla="val 9000"/>
            </a:avLst>
          </a:prstGeom>
          <a:solidFill>
            <a:srgbClr val="FDF7EE"/>
          </a:solidFill>
          <a:ln w="14604">
            <a:solidFill>
              <a:srgbClr val="EFD3A6"/>
            </a:solidFill>
          </a:ln>
          <a:effectLst>
            <a:outerShdw blurRad="114300" dist="38100" dir="5400000" algn="ctr" rotWithShape="0">
              <a:srgbClr val="10101B">
                <a:alpha val="12000"/>
              </a:srgbClr>
            </a:outerShdw>
          </a:effectLst>
        </p:spPr>
        <p:style>
          <a:lnRef idx="1">
            <a:schemeClr val="accent1"/>
          </a:lnRef>
          <a:fillRef idx="3">
            <a:schemeClr val="accent1"/>
          </a:fillRef>
          <a:effectRef idx="2">
            <a:schemeClr val="accent1"/>
          </a:effectRef>
          <a:fontRef idx="minor">
            <a:schemeClr val="lt1"/>
          </a:fontRef>
        </p:style>
        <p:txBody>
          <a:bodyPr wrap="square" lIns="128016" tIns="82296" rIns="109728" rtlCol="0" anchor="t"/>
          <a:lstStyle/>
          <a:p>
            <a:pPr algn="l">
              <a:lnSpc>
                <a:spcPct val="100000"/>
              </a:lnSpc>
              <a:spcBef>
                <a:spcPts val="0"/>
              </a:spcBef>
              <a:spcAft>
                <a:spcPts val="0"/>
              </a:spcAft>
            </a:pPr>
            <a:r>
              <a:rPr sz="819" b="1" spc="60">
                <a:solidFill>
                  <a:srgbClr val="D98E2B"/>
                </a:solidFill>
                <a:latin typeface="Arial"/>
              </a:rPr>
              <a:t>L3</a:t>
            </a:r>
            <a:r>
              <a:rPr sz="760" b="1" spc="110">
                <a:solidFill>
                  <a:srgbClr val="D98E2B"/>
                </a:solidFill>
                <a:latin typeface="Arial"/>
              </a:rPr>
              <a:t>  TRIAGE</a:t>
            </a:r>
          </a:p>
          <a:p>
            <a:pPr algn="l">
              <a:lnSpc>
                <a:spcPct val="100000"/>
              </a:lnSpc>
              <a:spcBef>
                <a:spcPts val="100"/>
              </a:spcBef>
              <a:spcAft>
                <a:spcPts val="0"/>
              </a:spcAft>
            </a:pPr>
            <a:r>
              <a:rPr sz="1280" b="1">
                <a:solidFill>
                  <a:srgbClr val="10101B"/>
                </a:solidFill>
                <a:latin typeface="Arial"/>
              </a:rPr>
              <a:t>Risk gate</a:t>
            </a:r>
          </a:p>
          <a:p>
            <a:pPr algn="l">
              <a:lnSpc>
                <a:spcPct val="96000"/>
              </a:lnSpc>
              <a:spcBef>
                <a:spcPts val="200"/>
              </a:spcBef>
              <a:spcAft>
                <a:spcPts val="0"/>
              </a:spcAft>
            </a:pPr>
            <a:r>
              <a:rPr sz="919" b="0">
                <a:solidFill>
                  <a:srgbClr val="4A4A5C"/>
                </a:solidFill>
                <a:latin typeface="Arial"/>
              </a:rPr>
              <a:t>Phase A risk signals + Phase B
content cache. Needs dynamic?</a:t>
            </a:r>
          </a:p>
        </p:txBody>
      </p:sp>
      <p:sp>
        <p:nvSpPr>
          <p:cNvPr id="26" name="Rounded Rectangle 25"/>
          <p:cNvSpPr/>
          <p:nvPr/>
        </p:nvSpPr>
        <p:spPr>
          <a:xfrm>
            <a:off x="6396228" y="3465576"/>
            <a:ext cx="50292" cy="1216152"/>
          </a:xfrm>
          <a:prstGeom prst="roundRect">
            <a:avLst>
              <a:gd name="adj" fmla="val 50000"/>
            </a:avLst>
          </a:prstGeom>
          <a:solidFill>
            <a:srgbClr val="D98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5715000" y="6446520"/>
            <a:ext cx="2103120" cy="1325880"/>
          </a:xfrm>
          <a:prstGeom prst="roundRect">
            <a:avLst>
              <a:gd name="adj" fmla="val 9000"/>
            </a:avLst>
          </a:prstGeom>
          <a:solidFill>
            <a:srgbClr val="FFFFFF"/>
          </a:solidFill>
          <a:ln w="14604">
            <a:solidFill>
              <a:srgbClr val="F2C9BE"/>
            </a:solidFill>
          </a:ln>
          <a:effectLst>
            <a:outerShdw blurRad="114300" dist="38100" dir="5400000" algn="ctr" rotWithShape="0">
              <a:srgbClr val="10101B">
                <a:alpha val="12000"/>
              </a:srgbClr>
            </a:outerShdw>
          </a:effectLst>
        </p:spPr>
        <p:style>
          <a:lnRef idx="1">
            <a:schemeClr val="accent1"/>
          </a:lnRef>
          <a:fillRef idx="3">
            <a:schemeClr val="accent1"/>
          </a:fillRef>
          <a:effectRef idx="2">
            <a:schemeClr val="accent1"/>
          </a:effectRef>
          <a:fontRef idx="minor">
            <a:schemeClr val="lt1"/>
          </a:fontRef>
        </p:style>
        <p:txBody>
          <a:bodyPr wrap="square" lIns="128016" tIns="82296" rIns="109728" rtlCol="0" anchor="t"/>
          <a:lstStyle/>
          <a:p>
            <a:pPr algn="l">
              <a:lnSpc>
                <a:spcPct val="100000"/>
              </a:lnSpc>
              <a:spcBef>
                <a:spcPts val="0"/>
              </a:spcBef>
              <a:spcAft>
                <a:spcPts val="0"/>
              </a:spcAft>
            </a:pPr>
            <a:r>
              <a:rPr sz="819" b="1" spc="60">
                <a:solidFill>
                  <a:srgbClr val="D95D45"/>
                </a:solidFill>
                <a:latin typeface="Arial"/>
              </a:rPr>
              <a:t>L4</a:t>
            </a:r>
            <a:r>
              <a:rPr sz="760" b="1" spc="110">
                <a:solidFill>
                  <a:srgbClr val="D95D45"/>
                </a:solidFill>
                <a:latin typeface="Arial"/>
              </a:rPr>
              <a:t>  DECEPTION</a:t>
            </a:r>
          </a:p>
          <a:p>
            <a:pPr algn="l">
              <a:lnSpc>
                <a:spcPct val="100000"/>
              </a:lnSpc>
              <a:spcBef>
                <a:spcPts val="100"/>
              </a:spcBef>
              <a:spcAft>
                <a:spcPts val="0"/>
              </a:spcAft>
            </a:pPr>
            <a:r>
              <a:rPr sz="1280" b="1">
                <a:solidFill>
                  <a:srgbClr val="10101B"/>
                </a:solidFill>
                <a:latin typeface="Arial"/>
              </a:rPr>
              <a:t>Canary deploy</a:t>
            </a:r>
          </a:p>
          <a:p>
            <a:pPr algn="l">
              <a:lnSpc>
                <a:spcPct val="96000"/>
              </a:lnSpc>
              <a:spcBef>
                <a:spcPts val="200"/>
              </a:spcBef>
              <a:spcAft>
                <a:spcPts val="0"/>
              </a:spcAft>
            </a:pPr>
            <a:r>
              <a:rPr sz="900" b="0">
                <a:solidFill>
                  <a:srgbClr val="4A4A5C"/>
                </a:solidFill>
                <a:latin typeface="Arial"/>
              </a:rPr>
              <a:t>6 credential tripwires
laid before install.</a:t>
            </a:r>
          </a:p>
        </p:txBody>
      </p:sp>
      <p:sp>
        <p:nvSpPr>
          <p:cNvPr id="28" name="Rounded Rectangle 27"/>
          <p:cNvSpPr/>
          <p:nvPr/>
        </p:nvSpPr>
        <p:spPr>
          <a:xfrm>
            <a:off x="5756148" y="6547104"/>
            <a:ext cx="50292" cy="1124712"/>
          </a:xfrm>
          <a:prstGeom prst="roundRect">
            <a:avLst>
              <a:gd name="adj" fmla="val 50000"/>
            </a:avLst>
          </a:prstGeom>
          <a:solidFill>
            <a:srgbClr val="D95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138160" y="6446520"/>
            <a:ext cx="2103120" cy="1325880"/>
          </a:xfrm>
          <a:prstGeom prst="roundRect">
            <a:avLst>
              <a:gd name="adj" fmla="val 9000"/>
            </a:avLst>
          </a:prstGeom>
          <a:solidFill>
            <a:srgbClr val="FFFFFF"/>
          </a:solidFill>
          <a:ln w="14604">
            <a:solidFill>
              <a:srgbClr val="F2C9BE"/>
            </a:solidFill>
          </a:ln>
          <a:effectLst>
            <a:outerShdw blurRad="114300" dist="38100" dir="5400000" algn="ctr" rotWithShape="0">
              <a:srgbClr val="10101B">
                <a:alpha val="12000"/>
              </a:srgbClr>
            </a:outerShdw>
          </a:effectLst>
        </p:spPr>
        <p:style>
          <a:lnRef idx="1">
            <a:schemeClr val="accent1"/>
          </a:lnRef>
          <a:fillRef idx="3">
            <a:schemeClr val="accent1"/>
          </a:fillRef>
          <a:effectRef idx="2">
            <a:schemeClr val="accent1"/>
          </a:effectRef>
          <a:fontRef idx="minor">
            <a:schemeClr val="lt1"/>
          </a:fontRef>
        </p:style>
        <p:txBody>
          <a:bodyPr wrap="square" lIns="128016" tIns="82296" rIns="109728" rtlCol="0" anchor="t"/>
          <a:lstStyle/>
          <a:p>
            <a:pPr algn="l">
              <a:lnSpc>
                <a:spcPct val="100000"/>
              </a:lnSpc>
              <a:spcBef>
                <a:spcPts val="0"/>
              </a:spcBef>
              <a:spcAft>
                <a:spcPts val="0"/>
              </a:spcAft>
            </a:pPr>
            <a:r>
              <a:rPr sz="819" b="1" spc="60">
                <a:solidFill>
                  <a:srgbClr val="D95D45"/>
                </a:solidFill>
                <a:latin typeface="Arial"/>
              </a:rPr>
              <a:t>L5</a:t>
            </a:r>
            <a:r>
              <a:rPr sz="760" b="1" spc="110">
                <a:solidFill>
                  <a:srgbClr val="D95D45"/>
                </a:solidFill>
                <a:latin typeface="Arial"/>
              </a:rPr>
              <a:t>  CONTAINMENT</a:t>
            </a:r>
          </a:p>
          <a:p>
            <a:pPr algn="l">
              <a:lnSpc>
                <a:spcPct val="100000"/>
              </a:lnSpc>
              <a:spcBef>
                <a:spcPts val="100"/>
              </a:spcBef>
              <a:spcAft>
                <a:spcPts val="0"/>
              </a:spcAft>
            </a:pPr>
            <a:r>
              <a:rPr sz="1280" b="1">
                <a:solidFill>
                  <a:srgbClr val="10101B"/>
                </a:solidFill>
                <a:latin typeface="Arial"/>
              </a:rPr>
              <a:t>Docker sandbox</a:t>
            </a:r>
          </a:p>
          <a:p>
            <a:pPr algn="l">
              <a:lnSpc>
                <a:spcPct val="96000"/>
              </a:lnSpc>
              <a:spcBef>
                <a:spcPts val="200"/>
              </a:spcBef>
              <a:spcAft>
                <a:spcPts val="0"/>
              </a:spcAft>
            </a:pPr>
            <a:r>
              <a:rPr sz="900" b="0">
                <a:solidFill>
                  <a:srgbClr val="4A4A5C"/>
                </a:solidFill>
                <a:latin typeface="Arial"/>
              </a:rPr>
              <a:t>uid 65534 · resource caps
no network by policy.</a:t>
            </a:r>
          </a:p>
        </p:txBody>
      </p:sp>
      <p:sp>
        <p:nvSpPr>
          <p:cNvPr id="30" name="Rounded Rectangle 29"/>
          <p:cNvSpPr/>
          <p:nvPr/>
        </p:nvSpPr>
        <p:spPr>
          <a:xfrm>
            <a:off x="8179308" y="6547104"/>
            <a:ext cx="50292" cy="1124712"/>
          </a:xfrm>
          <a:prstGeom prst="roundRect">
            <a:avLst>
              <a:gd name="adj" fmla="val 50000"/>
            </a:avLst>
          </a:prstGeom>
          <a:solidFill>
            <a:srgbClr val="D95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0561320" y="6446520"/>
            <a:ext cx="2103120" cy="1325880"/>
          </a:xfrm>
          <a:prstGeom prst="roundRect">
            <a:avLst>
              <a:gd name="adj" fmla="val 9000"/>
            </a:avLst>
          </a:prstGeom>
          <a:solidFill>
            <a:srgbClr val="FFFFFF"/>
          </a:solidFill>
          <a:ln w="14604">
            <a:solidFill>
              <a:srgbClr val="F2C9BE"/>
            </a:solidFill>
          </a:ln>
          <a:effectLst>
            <a:outerShdw blurRad="114300" dist="38100" dir="5400000" algn="ctr" rotWithShape="0">
              <a:srgbClr val="10101B">
                <a:alpha val="12000"/>
              </a:srgbClr>
            </a:outerShdw>
          </a:effectLst>
        </p:spPr>
        <p:style>
          <a:lnRef idx="1">
            <a:schemeClr val="accent1"/>
          </a:lnRef>
          <a:fillRef idx="3">
            <a:schemeClr val="accent1"/>
          </a:fillRef>
          <a:effectRef idx="2">
            <a:schemeClr val="accent1"/>
          </a:effectRef>
          <a:fontRef idx="minor">
            <a:schemeClr val="lt1"/>
          </a:fontRef>
        </p:style>
        <p:txBody>
          <a:bodyPr wrap="square" lIns="128016" tIns="82296" rIns="109728" rtlCol="0" anchor="t"/>
          <a:lstStyle/>
          <a:p>
            <a:pPr algn="l">
              <a:lnSpc>
                <a:spcPct val="100000"/>
              </a:lnSpc>
              <a:spcBef>
                <a:spcPts val="0"/>
              </a:spcBef>
              <a:spcAft>
                <a:spcPts val="0"/>
              </a:spcAft>
            </a:pPr>
            <a:r>
              <a:rPr sz="819" b="1" spc="60">
                <a:solidFill>
                  <a:srgbClr val="D95D45"/>
                </a:solidFill>
                <a:latin typeface="Arial"/>
              </a:rPr>
              <a:t>L6</a:t>
            </a:r>
            <a:r>
              <a:rPr sz="760" b="1" spc="110">
                <a:solidFill>
                  <a:srgbClr val="D95D45"/>
                </a:solidFill>
                <a:latin typeface="Arial"/>
              </a:rPr>
              <a:t>  KERNEL</a:t>
            </a:r>
          </a:p>
          <a:p>
            <a:pPr algn="l">
              <a:lnSpc>
                <a:spcPct val="100000"/>
              </a:lnSpc>
              <a:spcBef>
                <a:spcPts val="100"/>
              </a:spcBef>
              <a:spcAft>
                <a:spcPts val="0"/>
              </a:spcAft>
            </a:pPr>
            <a:r>
              <a:rPr sz="1280" b="1">
                <a:solidFill>
                  <a:srgbClr val="10101B"/>
                </a:solidFill>
                <a:latin typeface="Arial"/>
              </a:rPr>
              <a:t>eBPF monitor</a:t>
            </a:r>
          </a:p>
          <a:p>
            <a:pPr algn="l">
              <a:lnSpc>
                <a:spcPct val="96000"/>
              </a:lnSpc>
              <a:spcBef>
                <a:spcPts val="200"/>
              </a:spcBef>
              <a:spcAft>
                <a:spcPts val="0"/>
              </a:spcAft>
            </a:pPr>
            <a:r>
              <a:rPr sz="900" b="0">
                <a:solidFill>
                  <a:srgbClr val="4A4A5C"/>
                </a:solidFill>
                <a:latin typeface="Arial"/>
              </a:rPr>
              <a:t>exec · file · connect · DNS
kernel SIGKILL on tripwire.</a:t>
            </a:r>
          </a:p>
        </p:txBody>
      </p:sp>
      <p:sp>
        <p:nvSpPr>
          <p:cNvPr id="32" name="Rounded Rectangle 31"/>
          <p:cNvSpPr/>
          <p:nvPr/>
        </p:nvSpPr>
        <p:spPr>
          <a:xfrm>
            <a:off x="10602468" y="6547104"/>
            <a:ext cx="50292" cy="1124712"/>
          </a:xfrm>
          <a:prstGeom prst="roundRect">
            <a:avLst>
              <a:gd name="adj" fmla="val 50000"/>
            </a:avLst>
          </a:prstGeom>
          <a:solidFill>
            <a:srgbClr val="D95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13167360" y="3063240"/>
            <a:ext cx="3063240" cy="2286000"/>
          </a:xfrm>
          <a:prstGeom prst="roundRect">
            <a:avLst>
              <a:gd name="adj" fmla="val 7500"/>
            </a:avLst>
          </a:prstGeom>
          <a:gradFill rotWithShape="1">
            <a:gsLst>
              <a:gs pos="0">
                <a:srgbClr val="0E7C86"/>
              </a:gs>
              <a:gs pos="100000">
                <a:srgbClr val="0B5563"/>
              </a:gs>
            </a:gsLst>
            <a:lin ang="18900000" scaled="0"/>
          </a:gradFill>
          <a:ln>
            <a:noFill/>
          </a:ln>
          <a:effectLst>
            <a:outerShdw blurRad="177800" dist="50800" dir="5400000" algn="ctr" rotWithShape="0">
              <a:srgbClr val="10101B">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82880" tIns="109728" rIns="146304" bIns="73152" rtlCol="0" anchor="t"/>
          <a:lstStyle/>
          <a:p>
            <a:pPr algn="l">
              <a:lnSpc>
                <a:spcPct val="100000"/>
              </a:lnSpc>
              <a:spcBef>
                <a:spcPts val="0"/>
              </a:spcBef>
              <a:spcAft>
                <a:spcPts val="0"/>
              </a:spcAft>
            </a:pPr>
            <a:r>
              <a:rPr sz="840" b="1" spc="60">
                <a:solidFill>
                  <a:srgbClr val="9EE1E6"/>
                </a:solidFill>
                <a:latin typeface="Arial"/>
              </a:rPr>
              <a:t>L7</a:t>
            </a:r>
            <a:r>
              <a:rPr sz="760" b="1" spc="120">
                <a:solidFill>
                  <a:srgbClr val="9EE1E6"/>
                </a:solidFill>
                <a:latin typeface="Arial"/>
              </a:rPr>
              <a:t>  DECISION</a:t>
            </a:r>
          </a:p>
          <a:p>
            <a:pPr algn="l">
              <a:lnSpc>
                <a:spcPct val="100000"/>
              </a:lnSpc>
              <a:spcBef>
                <a:spcPts val="100"/>
              </a:spcBef>
              <a:spcAft>
                <a:spcPts val="0"/>
              </a:spcAft>
            </a:pPr>
            <a:r>
              <a:rPr sz="1550" b="1">
                <a:solidFill>
                  <a:srgbClr val="FFFFFF"/>
                </a:solidFill>
                <a:latin typeface="Arial"/>
              </a:rPr>
              <a:t>Behavioral fusion</a:t>
            </a:r>
          </a:p>
          <a:p>
            <a:pPr algn="l">
              <a:lnSpc>
                <a:spcPct val="100000"/>
              </a:lnSpc>
              <a:spcBef>
                <a:spcPts val="600"/>
              </a:spcBef>
              <a:spcAft>
                <a:spcPts val="0"/>
              </a:spcAft>
            </a:pPr>
            <a:r>
              <a:rPr sz="680" b="1" spc="110">
                <a:solidFill>
                  <a:srgbClr val="B8D9DD"/>
                </a:solidFill>
                <a:latin typeface="Arial"/>
              </a:rPr>
              <a:t>PRIORITY ORDER</a:t>
            </a:r>
          </a:p>
        </p:txBody>
      </p:sp>
      <p:sp>
        <p:nvSpPr>
          <p:cNvPr id="34" name="Rounded Rectangle 33"/>
          <p:cNvSpPr/>
          <p:nvPr/>
        </p:nvSpPr>
        <p:spPr>
          <a:xfrm>
            <a:off x="13368528" y="4023360"/>
            <a:ext cx="1335024" cy="237744"/>
          </a:xfrm>
          <a:prstGeom prst="roundRect">
            <a:avLst>
              <a:gd name="adj" fmla="val 50000"/>
            </a:avLst>
          </a:prstGeom>
          <a:solidFill>
            <a:srgbClr val="8E2F3A"/>
          </a:solidFill>
          <a:ln>
            <a:noFill/>
          </a:ln>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spcBef>
                <a:spcPts val="0"/>
              </a:spcBef>
              <a:spcAft>
                <a:spcPts val="0"/>
              </a:spcAft>
            </a:pPr>
            <a:r>
              <a:rPr sz="690" b="1" spc="40">
                <a:solidFill>
                  <a:srgbClr val="FFFFFF"/>
                </a:solidFill>
                <a:latin typeface="Arial"/>
              </a:rPr>
              <a:t>MALICIOUS</a:t>
            </a:r>
          </a:p>
        </p:txBody>
      </p:sp>
      <p:sp>
        <p:nvSpPr>
          <p:cNvPr id="35" name="Rounded Rectangle 34"/>
          <p:cNvSpPr/>
          <p:nvPr/>
        </p:nvSpPr>
        <p:spPr>
          <a:xfrm>
            <a:off x="14758416" y="4023360"/>
            <a:ext cx="1335024" cy="237744"/>
          </a:xfrm>
          <a:prstGeom prst="roundRect">
            <a:avLst>
              <a:gd name="adj" fmla="val 50000"/>
            </a:avLst>
          </a:prstGeom>
          <a:solidFill>
            <a:srgbClr val="A86A1F"/>
          </a:solidFill>
          <a:ln>
            <a:noFill/>
          </a:ln>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spcBef>
                <a:spcPts val="0"/>
              </a:spcBef>
              <a:spcAft>
                <a:spcPts val="0"/>
              </a:spcAft>
            </a:pPr>
            <a:r>
              <a:rPr sz="690" b="1" spc="40">
                <a:solidFill>
                  <a:srgbClr val="FFFFFF"/>
                </a:solidFill>
                <a:latin typeface="Arial"/>
              </a:rPr>
              <a:t>SUSPICIOUS</a:t>
            </a:r>
          </a:p>
        </p:txBody>
      </p:sp>
      <p:sp>
        <p:nvSpPr>
          <p:cNvPr id="36" name="Rounded Rectangle 35"/>
          <p:cNvSpPr/>
          <p:nvPr/>
        </p:nvSpPr>
        <p:spPr>
          <a:xfrm>
            <a:off x="13368528" y="4297680"/>
            <a:ext cx="1335024" cy="237744"/>
          </a:xfrm>
          <a:prstGeom prst="roundRect">
            <a:avLst>
              <a:gd name="adj" fmla="val 50000"/>
            </a:avLst>
          </a:prstGeom>
          <a:solidFill>
            <a:srgbClr val="5A5A6E"/>
          </a:solidFill>
          <a:ln>
            <a:noFill/>
          </a:ln>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spcBef>
                <a:spcPts val="0"/>
              </a:spcBef>
              <a:spcAft>
                <a:spcPts val="0"/>
              </a:spcAft>
            </a:pPr>
            <a:r>
              <a:rPr sz="690" b="1" spc="40">
                <a:solidFill>
                  <a:srgbClr val="FFFFFF"/>
                </a:solidFill>
                <a:latin typeface="Arial"/>
              </a:rPr>
              <a:t>UNDETERMINED</a:t>
            </a:r>
          </a:p>
        </p:txBody>
      </p:sp>
      <p:sp>
        <p:nvSpPr>
          <p:cNvPr id="37" name="Rounded Rectangle 36"/>
          <p:cNvSpPr/>
          <p:nvPr/>
        </p:nvSpPr>
        <p:spPr>
          <a:xfrm>
            <a:off x="14758416" y="4297680"/>
            <a:ext cx="1335024" cy="237744"/>
          </a:xfrm>
          <a:prstGeom prst="roundRect">
            <a:avLst>
              <a:gd name="adj" fmla="val 50000"/>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spcBef>
                <a:spcPts val="0"/>
              </a:spcBef>
              <a:spcAft>
                <a:spcPts val="0"/>
              </a:spcAft>
            </a:pPr>
            <a:r>
              <a:rPr sz="690" b="1" spc="40">
                <a:solidFill>
                  <a:srgbClr val="FFFFFF"/>
                </a:solidFill>
                <a:latin typeface="Arial"/>
              </a:rPr>
              <a:t>BENIGN</a:t>
            </a:r>
          </a:p>
        </p:txBody>
      </p:sp>
      <p:sp>
        <p:nvSpPr>
          <p:cNvPr id="38" name="TextBox 37"/>
          <p:cNvSpPr txBox="1"/>
          <p:nvPr/>
        </p:nvSpPr>
        <p:spPr>
          <a:xfrm>
            <a:off x="13331952" y="4645152"/>
            <a:ext cx="2743200" cy="566928"/>
          </a:xfrm>
          <a:prstGeom prst="rect">
            <a:avLst/>
          </a:prstGeom>
          <a:noFill/>
        </p:spPr>
        <p:txBody>
          <a:bodyPr wrap="square" lIns="18288" tIns="0" rIns="18288" bIns="0" anchor="t">
            <a:spAutoFit/>
          </a:bodyPr>
          <a:lstStyle/>
          <a:p>
            <a:pPr algn="l">
              <a:lnSpc>
                <a:spcPct val="100000"/>
              </a:lnSpc>
              <a:spcBef>
                <a:spcPts val="0"/>
              </a:spcBef>
              <a:spcAft>
                <a:spcPts val="0"/>
              </a:spcAft>
            </a:pPr>
            <a:r>
              <a:rPr sz="819" b="0">
                <a:solidFill>
                  <a:srgbClr val="D5EEF0"/>
                </a:solidFill>
                <a:latin typeface="Arial"/>
              </a:rPr>
              <a:t>Confidence from agreeing layers; every verdict keeps its evidence record.</a:t>
            </a:r>
          </a:p>
        </p:txBody>
      </p:sp>
      <p:sp>
        <p:nvSpPr>
          <p:cNvPr id="39" name="Rounded Rectangle 38"/>
          <p:cNvSpPr/>
          <p:nvPr/>
        </p:nvSpPr>
        <p:spPr>
          <a:xfrm>
            <a:off x="13167360" y="6053328"/>
            <a:ext cx="3063240" cy="1417320"/>
          </a:xfrm>
          <a:prstGeom prst="roundRect">
            <a:avLst>
              <a:gd name="adj" fmla="val 9000"/>
            </a:avLst>
          </a:prstGeom>
          <a:solidFill>
            <a:srgbClr val="14141F"/>
          </a:solidFill>
          <a:ln w="12700">
            <a:solidFill>
              <a:srgbClr val="3A3A4A"/>
            </a:solidFill>
          </a:ln>
          <a:effectLst>
            <a:outerShdw blurRad="152400" dist="38100" dir="5400000" algn="ctr" rotWithShape="0">
              <a:srgbClr val="10101B">
                <a:alpha val="18000"/>
              </a:srgbClr>
            </a:outerShdw>
          </a:effectLst>
        </p:spPr>
        <p:style>
          <a:lnRef idx="1">
            <a:schemeClr val="accent1"/>
          </a:lnRef>
          <a:fillRef idx="3">
            <a:schemeClr val="accent1"/>
          </a:fillRef>
          <a:effectRef idx="2">
            <a:schemeClr val="accent1"/>
          </a:effectRef>
          <a:fontRef idx="minor">
            <a:schemeClr val="lt1"/>
          </a:fontRef>
        </p:style>
        <p:txBody>
          <a:bodyPr wrap="square" lIns="128016" tIns="82296" rIns="109728" rtlCol="0" anchor="t"/>
          <a:lstStyle/>
          <a:p>
            <a:pPr algn="l">
              <a:lnSpc>
                <a:spcPct val="100000"/>
              </a:lnSpc>
              <a:spcBef>
                <a:spcPts val="0"/>
              </a:spcBef>
              <a:spcAft>
                <a:spcPts val="0"/>
              </a:spcAft>
            </a:pPr>
            <a:r>
              <a:rPr sz="800" b="1" spc="120">
                <a:solidFill>
                  <a:srgbClr val="A8A8BC"/>
                </a:solidFill>
                <a:latin typeface="Arial"/>
              </a:rPr>
              <a:t>OUTPUT</a:t>
            </a:r>
          </a:p>
          <a:p>
            <a:pPr algn="l">
              <a:lnSpc>
                <a:spcPct val="100000"/>
              </a:lnSpc>
              <a:spcBef>
                <a:spcPts val="100"/>
              </a:spcBef>
              <a:spcAft>
                <a:spcPts val="0"/>
              </a:spcAft>
            </a:pPr>
            <a:r>
              <a:rPr sz="1400" b="1">
                <a:solidFill>
                  <a:srgbClr val="FFFFFF"/>
                </a:solidFill>
                <a:latin typeface="Arial"/>
              </a:rPr>
              <a:t>Verdict + evidence</a:t>
            </a:r>
          </a:p>
          <a:p>
            <a:pPr algn="l">
              <a:lnSpc>
                <a:spcPct val="98000"/>
              </a:lnSpc>
              <a:spcBef>
                <a:spcPts val="200"/>
              </a:spcBef>
              <a:spcAft>
                <a:spcPts val="0"/>
              </a:spcAft>
            </a:pPr>
            <a:r>
              <a:rPr sz="860" b="0">
                <a:solidFill>
                  <a:srgbClr val="D9D9E3"/>
                </a:solidFill>
                <a:latin typeface="Arial"/>
              </a:rPr>
              <a:t>Layer results · canary hits ·
filtered syscall events</a:t>
            </a:r>
          </a:p>
          <a:p>
            <a:pPr algn="l">
              <a:lnSpc>
                <a:spcPct val="100000"/>
              </a:lnSpc>
              <a:spcBef>
                <a:spcPts val="500"/>
              </a:spcBef>
              <a:spcAft>
                <a:spcPts val="0"/>
              </a:spcAft>
            </a:pPr>
            <a:r>
              <a:rPr sz="690" b="1" spc="100">
                <a:solidFill>
                  <a:srgbClr val="9EE1E6"/>
                </a:solidFill>
                <a:latin typeface="Arial"/>
              </a:rPr>
              <a:t>JSON  ·  AUDIT-READY</a:t>
            </a:r>
          </a:p>
        </p:txBody>
      </p:sp>
      <p:sp>
        <p:nvSpPr>
          <p:cNvPr id="40" name="Freeform 39"/>
          <p:cNvSpPr/>
          <p:nvPr/>
        </p:nvSpPr>
        <p:spPr>
          <a:xfrm>
            <a:off x="8595360" y="4078224"/>
            <a:ext cx="4535424" cy="0"/>
          </a:xfrm>
          <a:custGeom>
            <a:avLst/>
            <a:gdLst/>
            <a:ahLst/>
            <a:cxnLst/>
            <a:rect l="l" t="t" r="r" b="b"/>
            <a:pathLst>
              <a:path w="496">
                <a:moveTo>
                  <a:pt x="0" y="0"/>
                </a:moveTo>
                <a:lnTo>
                  <a:pt x="496" y="0"/>
                </a:lnTo>
              </a:path>
            </a:pathLst>
          </a:custGeom>
          <a:noFill/>
          <a:ln w="26670" cap="rnd">
            <a:solidFill>
              <a:srgbClr val="2A9D8F"/>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Freeform 40"/>
          <p:cNvSpPr/>
          <p:nvPr/>
        </p:nvSpPr>
        <p:spPr>
          <a:xfrm>
            <a:off x="7818120" y="7059168"/>
            <a:ext cx="283464" cy="0"/>
          </a:xfrm>
          <a:custGeom>
            <a:avLst/>
            <a:gdLst/>
            <a:ahLst/>
            <a:cxnLst/>
            <a:rect l="l" t="t" r="r" b="b"/>
            <a:pathLst>
              <a:path w="31">
                <a:moveTo>
                  <a:pt x="0" y="0"/>
                </a:moveTo>
                <a:lnTo>
                  <a:pt x="31" y="0"/>
                </a:lnTo>
              </a:path>
            </a:pathLst>
          </a:custGeom>
          <a:noFill/>
          <a:ln w="25400" cap="rnd">
            <a:solidFill>
              <a:srgbClr val="D95D45"/>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Freeform 41"/>
          <p:cNvSpPr/>
          <p:nvPr/>
        </p:nvSpPr>
        <p:spPr>
          <a:xfrm>
            <a:off x="10241280" y="7059168"/>
            <a:ext cx="283464" cy="0"/>
          </a:xfrm>
          <a:custGeom>
            <a:avLst/>
            <a:gdLst/>
            <a:ahLst/>
            <a:cxnLst/>
            <a:rect l="l" t="t" r="r" b="b"/>
            <a:pathLst>
              <a:path w="31">
                <a:moveTo>
                  <a:pt x="0" y="0"/>
                </a:moveTo>
                <a:lnTo>
                  <a:pt x="31" y="0"/>
                </a:lnTo>
              </a:path>
            </a:pathLst>
          </a:custGeom>
          <a:noFill/>
          <a:ln w="25400" cap="rnd">
            <a:solidFill>
              <a:srgbClr val="D95D45"/>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Freeform 42"/>
          <p:cNvSpPr/>
          <p:nvPr/>
        </p:nvSpPr>
        <p:spPr>
          <a:xfrm>
            <a:off x="11612880" y="5385816"/>
            <a:ext cx="2450592" cy="1060704"/>
          </a:xfrm>
          <a:custGeom>
            <a:avLst/>
            <a:gdLst/>
            <a:ahLst/>
            <a:cxnLst/>
            <a:rect l="l" t="t" r="r" b="b"/>
            <a:pathLst>
              <a:path w="268" h="116">
                <a:moveTo>
                  <a:pt x="0" y="116"/>
                </a:moveTo>
                <a:lnTo>
                  <a:pt x="0" y="43"/>
                </a:lnTo>
                <a:lnTo>
                  <a:pt x="268" y="43"/>
                </a:lnTo>
                <a:lnTo>
                  <a:pt x="268" y="0"/>
                </a:lnTo>
              </a:path>
            </a:pathLst>
          </a:custGeom>
          <a:noFill/>
          <a:ln w="25400" cap="rnd">
            <a:solidFill>
              <a:srgbClr val="D95D45"/>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Freeform 43"/>
          <p:cNvSpPr/>
          <p:nvPr/>
        </p:nvSpPr>
        <p:spPr>
          <a:xfrm>
            <a:off x="14703552" y="5349240"/>
            <a:ext cx="0" cy="667512"/>
          </a:xfrm>
          <a:custGeom>
            <a:avLst/>
            <a:gdLst/>
            <a:ahLst/>
            <a:cxnLst/>
            <a:rect l="l" t="t" r="r" b="b"/>
            <a:pathLst>
              <a:path h="73">
                <a:moveTo>
                  <a:pt x="0" y="0"/>
                </a:moveTo>
                <a:lnTo>
                  <a:pt x="0" y="73"/>
                </a:lnTo>
              </a:path>
            </a:pathLst>
          </a:custGeom>
          <a:noFill/>
          <a:ln w="29209" cap="rnd">
            <a:solidFill>
              <a:srgbClr val="0E7C86"/>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9464040" y="3730752"/>
            <a:ext cx="2834640" cy="256032"/>
          </a:xfrm>
          <a:prstGeom prst="roundRect">
            <a:avLst>
              <a:gd name="adj" fmla="val 50000"/>
            </a:avLst>
          </a:prstGeom>
          <a:solidFill>
            <a:srgbClr val="FFFFFF"/>
          </a:solidFill>
          <a:ln w="12700">
            <a:solidFill>
              <a:srgbClr val="B9E3DC"/>
            </a:solidFill>
          </a:ln>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lnSpc>
                <a:spcPct val="100000"/>
              </a:lnSpc>
              <a:spcBef>
                <a:spcPts val="0"/>
              </a:spcBef>
              <a:spcAft>
                <a:spcPts val="0"/>
              </a:spcAft>
            </a:pPr>
            <a:r>
              <a:rPr sz="770" b="1" spc="40">
                <a:solidFill>
                  <a:srgbClr val="1F7A6F"/>
                </a:solidFill>
                <a:latin typeface="Arial"/>
              </a:rPr>
              <a:t>FAST PATH  ·  0.60 s MEDIAN</a:t>
            </a:r>
          </a:p>
        </p:txBody>
      </p:sp>
      <p:sp>
        <p:nvSpPr>
          <p:cNvPr id="46" name="TextBox 45"/>
          <p:cNvSpPr txBox="1"/>
          <p:nvPr/>
        </p:nvSpPr>
        <p:spPr>
          <a:xfrm>
            <a:off x="6876288" y="5074920"/>
            <a:ext cx="1463040" cy="219456"/>
          </a:xfrm>
          <a:prstGeom prst="rect">
            <a:avLst/>
          </a:prstGeom>
          <a:noFill/>
        </p:spPr>
        <p:txBody>
          <a:bodyPr wrap="square" lIns="18288" tIns="0" rIns="18288" bIns="0" anchor="t">
            <a:spAutoFit/>
          </a:bodyPr>
          <a:lstStyle/>
          <a:p>
            <a:pPr algn="l">
              <a:lnSpc>
                <a:spcPct val="100000"/>
              </a:lnSpc>
              <a:spcBef>
                <a:spcPts val="0"/>
              </a:spcBef>
              <a:spcAft>
                <a:spcPts val="0"/>
              </a:spcAft>
            </a:pPr>
            <a:r>
              <a:rPr sz="720" b="1" spc="100">
                <a:solidFill>
                  <a:srgbClr val="D98E2B"/>
                </a:solidFill>
                <a:latin typeface="Arial"/>
              </a:rPr>
              <a:t>ONLY IF GATED</a:t>
            </a:r>
          </a:p>
        </p:txBody>
      </p:sp>
      <p:sp>
        <p:nvSpPr>
          <p:cNvPr id="47" name="Oval 46"/>
          <p:cNvSpPr/>
          <p:nvPr/>
        </p:nvSpPr>
        <p:spPr>
          <a:xfrm>
            <a:off x="1060704" y="8284464"/>
            <a:ext cx="105156" cy="105156"/>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234440" y="8220456"/>
            <a:ext cx="914400" cy="219456"/>
          </a:xfrm>
          <a:prstGeom prst="rect">
            <a:avLst/>
          </a:prstGeom>
          <a:noFill/>
        </p:spPr>
        <p:txBody>
          <a:bodyPr wrap="square" lIns="18288" tIns="0" rIns="18288" bIns="0" anchor="t">
            <a:spAutoFit/>
          </a:bodyPr>
          <a:lstStyle/>
          <a:p>
            <a:pPr algn="l">
              <a:lnSpc>
                <a:spcPct val="100000"/>
              </a:lnSpc>
              <a:spcBef>
                <a:spcPts val="0"/>
              </a:spcBef>
              <a:spcAft>
                <a:spcPts val="0"/>
              </a:spcAft>
            </a:pPr>
            <a:r>
              <a:rPr sz="880" b="0">
                <a:solidFill>
                  <a:srgbClr val="4A4A5C"/>
                </a:solidFill>
                <a:latin typeface="Arial"/>
              </a:rPr>
              <a:t>static</a:t>
            </a:r>
          </a:p>
        </p:txBody>
      </p:sp>
      <p:sp>
        <p:nvSpPr>
          <p:cNvPr id="49" name="Oval 48"/>
          <p:cNvSpPr/>
          <p:nvPr/>
        </p:nvSpPr>
        <p:spPr>
          <a:xfrm>
            <a:off x="2212848" y="8284464"/>
            <a:ext cx="105156" cy="105156"/>
          </a:xfrm>
          <a:prstGeom prst="ellipse">
            <a:avLst/>
          </a:prstGeom>
          <a:solidFill>
            <a:srgbClr val="D95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386584" y="8220456"/>
            <a:ext cx="1097280" cy="219456"/>
          </a:xfrm>
          <a:prstGeom prst="rect">
            <a:avLst/>
          </a:prstGeom>
          <a:noFill/>
        </p:spPr>
        <p:txBody>
          <a:bodyPr wrap="square" lIns="18288" tIns="0" rIns="18288" bIns="0" anchor="t">
            <a:spAutoFit/>
          </a:bodyPr>
          <a:lstStyle/>
          <a:p>
            <a:pPr algn="l">
              <a:lnSpc>
                <a:spcPct val="100000"/>
              </a:lnSpc>
              <a:spcBef>
                <a:spcPts val="0"/>
              </a:spcBef>
              <a:spcAft>
                <a:spcPts val="0"/>
              </a:spcAft>
            </a:pPr>
            <a:r>
              <a:rPr sz="880" b="0">
                <a:solidFill>
                  <a:srgbClr val="4A4A5C"/>
                </a:solidFill>
                <a:latin typeface="Arial"/>
              </a:rPr>
              <a:t>dynamic</a:t>
            </a:r>
          </a:p>
        </p:txBody>
      </p:sp>
      <p:sp>
        <p:nvSpPr>
          <p:cNvPr id="51" name="Oval 50"/>
          <p:cNvSpPr/>
          <p:nvPr/>
        </p:nvSpPr>
        <p:spPr>
          <a:xfrm>
            <a:off x="3493008" y="8284464"/>
            <a:ext cx="105156" cy="105156"/>
          </a:xfrm>
          <a:prstGeom prst="ellipse">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66744" y="8220456"/>
            <a:ext cx="914400" cy="219456"/>
          </a:xfrm>
          <a:prstGeom prst="rect">
            <a:avLst/>
          </a:prstGeom>
          <a:noFill/>
        </p:spPr>
        <p:txBody>
          <a:bodyPr wrap="square" lIns="18288" tIns="0" rIns="18288" bIns="0" anchor="t">
            <a:spAutoFit/>
          </a:bodyPr>
          <a:lstStyle/>
          <a:p>
            <a:pPr algn="l">
              <a:lnSpc>
                <a:spcPct val="100000"/>
              </a:lnSpc>
              <a:spcBef>
                <a:spcPts val="0"/>
              </a:spcBef>
              <a:spcAft>
                <a:spcPts val="0"/>
              </a:spcAft>
            </a:pPr>
            <a:r>
              <a:rPr sz="880" b="0">
                <a:solidFill>
                  <a:srgbClr val="4A4A5C"/>
                </a:solidFill>
                <a:latin typeface="Arial"/>
              </a:rPr>
              <a:t>fusion</a:t>
            </a:r>
          </a:p>
        </p:txBody>
      </p:sp>
      <p:sp>
        <p:nvSpPr>
          <p:cNvPr id="53" name="TextBox 52"/>
          <p:cNvSpPr txBox="1"/>
          <p:nvPr/>
        </p:nvSpPr>
        <p:spPr>
          <a:xfrm>
            <a:off x="4617720" y="8220456"/>
            <a:ext cx="7315200" cy="219456"/>
          </a:xfrm>
          <a:prstGeom prst="rect">
            <a:avLst/>
          </a:prstGeom>
          <a:noFill/>
        </p:spPr>
        <p:txBody>
          <a:bodyPr wrap="square" lIns="18288" tIns="0" rIns="18288" bIns="0" anchor="t">
            <a:spAutoFit/>
          </a:bodyPr>
          <a:lstStyle/>
          <a:p>
            <a:pPr algn="l">
              <a:lnSpc>
                <a:spcPct val="100000"/>
              </a:lnSpc>
              <a:spcBef>
                <a:spcPts val="0"/>
              </a:spcBef>
              <a:spcAft>
                <a:spcPts val="0"/>
              </a:spcAft>
            </a:pPr>
            <a:r>
              <a:rPr sz="860" b="0">
                <a:solidFill>
                  <a:srgbClr val="4A4A5C"/>
                </a:solidFill>
                <a:latin typeface="Arial"/>
              </a:rPr>
              <a:t>Fast path 0.60 s  ·  cached verdict 0.3 s  ·  dynamic package ≈ 6 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1560" y="859536"/>
            <a:ext cx="16459200" cy="329184"/>
          </a:xfrm>
          <a:prstGeom prst="rect">
            <a:avLst/>
          </a:prstGeom>
          <a:noFill/>
        </p:spPr>
        <p:txBody>
          <a:bodyPr wrap="square" lIns="18288" tIns="0" rIns="18288" bIns="0" anchor="t">
            <a:spAutoFit/>
          </a:bodyPr>
          <a:lstStyle/>
          <a:p>
            <a:pPr algn="l">
              <a:lnSpc>
                <a:spcPct val="100000"/>
              </a:lnSpc>
              <a:spcBef>
                <a:spcPts val="0"/>
              </a:spcBef>
              <a:spcAft>
                <a:spcPts val="0"/>
              </a:spcAft>
            </a:pPr>
            <a:r>
              <a:rPr sz="1875" b="1" spc="60">
                <a:solidFill>
                  <a:srgbClr val="1200FF"/>
                </a:solidFill>
                <a:latin typeface="Arial"/>
              </a:rPr>
              <a:t>07 — SYSTEM DESIGN</a:t>
            </a:r>
          </a:p>
        </p:txBody>
      </p:sp>
      <p:sp>
        <p:nvSpPr>
          <p:cNvPr id="3" name="TextBox 2"/>
          <p:cNvSpPr txBox="1"/>
          <p:nvPr/>
        </p:nvSpPr>
        <p:spPr>
          <a:xfrm>
            <a:off x="1051560" y="1261872"/>
            <a:ext cx="16093440" cy="713232"/>
          </a:xfrm>
          <a:prstGeom prst="rect">
            <a:avLst/>
          </a:prstGeom>
          <a:noFill/>
        </p:spPr>
        <p:txBody>
          <a:bodyPr wrap="square" lIns="18288" tIns="0" rIns="18288" bIns="0" anchor="t">
            <a:spAutoFit/>
          </a:bodyPr>
          <a:lstStyle/>
          <a:p>
            <a:pPr algn="l">
              <a:lnSpc>
                <a:spcPct val="100000"/>
              </a:lnSpc>
              <a:spcBef>
                <a:spcPts val="0"/>
              </a:spcBef>
              <a:spcAft>
                <a:spcPts val="0"/>
              </a:spcAft>
            </a:pPr>
            <a:r>
              <a:rPr sz="4300" b="1">
                <a:solidFill>
                  <a:srgbClr val="10101B"/>
                </a:solidFill>
                <a:latin typeface="Arial"/>
              </a:rPr>
              <a:t>The Install Gate Is a Wrapper, Not a Proxy</a:t>
            </a:r>
          </a:p>
        </p:txBody>
      </p:sp>
      <p:sp>
        <p:nvSpPr>
          <p:cNvPr id="4" name="Rectangle 3"/>
          <p:cNvSpPr/>
          <p:nvPr/>
        </p:nvSpPr>
        <p:spPr>
          <a:xfrm>
            <a:off x="1051560" y="2075688"/>
            <a:ext cx="1097280" cy="38404"/>
          </a:xfrm>
          <a:prstGeom prst="rect">
            <a:avLst/>
          </a:prstGeom>
          <a:solidFill>
            <a:srgbClr val="12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84880" cy="12801"/>
          </a:xfrm>
          <a:prstGeom prst="rect">
            <a:avLst/>
          </a:prstGeom>
          <a:solidFill>
            <a:srgbClr val="D9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18288" tIns="0" rIns="18288" bIns="0" anchor="t">
            <a:spAutoFit/>
          </a:bodyPr>
          <a:lstStyle/>
          <a:p>
            <a:pPr algn="l">
              <a:lnSpc>
                <a:spcPct val="100000"/>
              </a:lnSpc>
              <a:spcBef>
                <a:spcPts val="0"/>
              </a:spcBef>
              <a:spcAft>
                <a:spcPts val="0"/>
              </a:spcAft>
            </a:pPr>
            <a:r>
              <a:rPr sz="1125" b="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18288" tIns="0" rIns="18288" bIns="0" anchor="t">
            <a:spAutoFit/>
          </a:bodyPr>
          <a:lstStyle/>
          <a:p>
            <a:pPr algn="r">
              <a:lnSpc>
                <a:spcPct val="100000"/>
              </a:lnSpc>
              <a:spcBef>
                <a:spcPts val="0"/>
              </a:spcBef>
              <a:spcAft>
                <a:spcPts val="0"/>
              </a:spcAft>
            </a:pPr>
            <a:r>
              <a:rPr sz="1125" b="0">
                <a:solidFill>
                  <a:srgbClr val="4A4A5C"/>
                </a:solidFill>
                <a:latin typeface="Arial"/>
              </a:rPr>
              <a:t>11 / 22</a:t>
            </a:r>
          </a:p>
        </p:txBody>
      </p:sp>
      <p:sp>
        <p:nvSpPr>
          <p:cNvPr id="9" name="Rounded Rectangle 8"/>
          <p:cNvSpPr/>
          <p:nvPr/>
        </p:nvSpPr>
        <p:spPr>
          <a:xfrm>
            <a:off x="1051560" y="2487168"/>
            <a:ext cx="8366760" cy="4791456"/>
          </a:xfrm>
          <a:prstGeom prst="roundRect">
            <a:avLst>
              <a:gd name="adj" fmla="val 3500"/>
            </a:avLst>
          </a:prstGeom>
          <a:solidFill>
            <a:srgbClr val="F7F7FA"/>
          </a:solidFill>
          <a:ln w="11430">
            <a:solidFill>
              <a:srgbClr val="D9D9E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243584" y="2606040"/>
            <a:ext cx="5303520" cy="246888"/>
          </a:xfrm>
          <a:prstGeom prst="rect">
            <a:avLst/>
          </a:prstGeom>
          <a:noFill/>
        </p:spPr>
        <p:txBody>
          <a:bodyPr wrap="square" lIns="18288" tIns="0" rIns="18288" bIns="0" anchor="t">
            <a:spAutoFit/>
          </a:bodyPr>
          <a:lstStyle/>
          <a:p>
            <a:pPr algn="l">
              <a:lnSpc>
                <a:spcPct val="100000"/>
              </a:lnSpc>
              <a:spcBef>
                <a:spcPts val="0"/>
              </a:spcBef>
              <a:spcAft>
                <a:spcPts val="0"/>
              </a:spcAft>
            </a:pPr>
            <a:r>
              <a:rPr sz="830" b="1" spc="110">
                <a:solidFill>
                  <a:srgbClr val="1200FF"/>
                </a:solidFill>
                <a:latin typeface="Arial"/>
              </a:rPr>
              <a:t>IMPLEMENTED CONTROL FLOW</a:t>
            </a:r>
          </a:p>
        </p:txBody>
      </p:sp>
      <p:sp>
        <p:nvSpPr>
          <p:cNvPr id="11" name="TextBox 10"/>
          <p:cNvSpPr txBox="1"/>
          <p:nvPr/>
        </p:nvSpPr>
        <p:spPr>
          <a:xfrm>
            <a:off x="5577840" y="2596896"/>
            <a:ext cx="3611880" cy="246888"/>
          </a:xfrm>
          <a:prstGeom prst="rect">
            <a:avLst/>
          </a:prstGeom>
          <a:noFill/>
        </p:spPr>
        <p:txBody>
          <a:bodyPr wrap="square" lIns="18288" tIns="0" rIns="18288" bIns="0" anchor="t">
            <a:spAutoFit/>
          </a:bodyPr>
          <a:lstStyle/>
          <a:p>
            <a:pPr algn="r">
              <a:lnSpc>
                <a:spcPct val="100000"/>
              </a:lnSpc>
              <a:spcBef>
                <a:spcPts val="0"/>
              </a:spcBef>
              <a:spcAft>
                <a:spcPts val="0"/>
              </a:spcAft>
            </a:pPr>
            <a:r>
              <a:rPr sz="830" b="1" spc="110">
                <a:solidFill>
                  <a:srgbClr val="1F7A6F"/>
                </a:solidFill>
                <a:latin typeface="Arial"/>
              </a:rPr>
              <a:t>COOPERATIVE, NOT TRANSPARENT</a:t>
            </a:r>
          </a:p>
        </p:txBody>
      </p:sp>
      <p:sp>
        <p:nvSpPr>
          <p:cNvPr id="12" name="Rounded Rectangle 11"/>
          <p:cNvSpPr/>
          <p:nvPr/>
        </p:nvSpPr>
        <p:spPr>
          <a:xfrm>
            <a:off x="1417320" y="2944368"/>
            <a:ext cx="4937760" cy="667512"/>
          </a:xfrm>
          <a:prstGeom prst="roundRect">
            <a:avLst>
              <a:gd name="adj" fmla="val 8000"/>
            </a:avLst>
          </a:prstGeom>
          <a:solidFill>
            <a:srgbClr val="FFFFFF"/>
          </a:solidFill>
          <a:ln w="13970">
            <a:solidFill>
              <a:srgbClr val="C9C5FF"/>
            </a:solidFill>
          </a:ln>
          <a:effectLst>
            <a:outerShdw blurRad="101600" dist="25400" dir="5400000" algn="ctr" rotWithShape="0">
              <a:srgbClr val="10101B">
                <a:alpha val="10000"/>
              </a:srgbClr>
            </a:outerShdw>
          </a:effectLst>
        </p:spPr>
        <p:style>
          <a:lnRef idx="1">
            <a:schemeClr val="accent1"/>
          </a:lnRef>
          <a:fillRef idx="3">
            <a:schemeClr val="accent1"/>
          </a:fillRef>
          <a:effectRef idx="2">
            <a:schemeClr val="accent1"/>
          </a:effectRef>
          <a:fontRef idx="minor">
            <a:schemeClr val="lt1"/>
          </a:fontRef>
        </p:style>
        <p:txBody>
          <a:bodyPr wrap="square" lIns="146304" tIns="64008" rIns="109728" bIns="36576" rtlCol="0" anchor="t"/>
          <a:lstStyle/>
          <a:p>
            <a:pPr algn="l">
              <a:lnSpc>
                <a:spcPct val="100000"/>
              </a:lnSpc>
              <a:spcBef>
                <a:spcPts val="0"/>
              </a:spcBef>
              <a:spcAft>
                <a:spcPts val="0"/>
              </a:spcAft>
            </a:pPr>
            <a:r>
              <a:rPr sz="780" b="1" spc="110">
                <a:solidFill>
                  <a:srgbClr val="1200FF"/>
                </a:solidFill>
                <a:latin typeface="Arial"/>
              </a:rPr>
              <a:t>1   WRAPPER</a:t>
            </a:r>
          </a:p>
          <a:p>
            <a:pPr algn="l">
              <a:lnSpc>
                <a:spcPct val="98000"/>
              </a:lnSpc>
              <a:spcBef>
                <a:spcPts val="200"/>
              </a:spcBef>
              <a:spcAft>
                <a:spcPts val="0"/>
              </a:spcAft>
            </a:pPr>
            <a:r>
              <a:rPr sz="1380" b="1">
                <a:solidFill>
                  <a:srgbClr val="10101B"/>
                </a:solidFill>
                <a:latin typeface="Arial"/>
              </a:rPr>
              <a:t>hookguard-install &lt;spec&gt;...</a:t>
            </a:r>
          </a:p>
          <a:p>
            <a:pPr algn="l">
              <a:lnSpc>
                <a:spcPct val="96000"/>
              </a:lnSpc>
              <a:spcBef>
                <a:spcPts val="200"/>
              </a:spcBef>
              <a:spcAft>
                <a:spcPts val="0"/>
              </a:spcAft>
            </a:pPr>
            <a:r>
              <a:rPr sz="919" b="0">
                <a:solidFill>
                  <a:srgbClr val="4A4A5C"/>
                </a:solidFill>
                <a:latin typeface="Arial"/>
              </a:rPr>
              <a:t>explicit invocation, not a proxy</a:t>
            </a:r>
          </a:p>
        </p:txBody>
      </p:sp>
      <p:sp>
        <p:nvSpPr>
          <p:cNvPr id="13" name="Rounded Rectangle 12"/>
          <p:cNvSpPr/>
          <p:nvPr/>
        </p:nvSpPr>
        <p:spPr>
          <a:xfrm>
            <a:off x="1417320" y="3822191"/>
            <a:ext cx="4937760" cy="667512"/>
          </a:xfrm>
          <a:prstGeom prst="roundRect">
            <a:avLst>
              <a:gd name="adj" fmla="val 8000"/>
            </a:avLst>
          </a:prstGeom>
          <a:solidFill>
            <a:srgbClr val="FFFFFF"/>
          </a:solidFill>
          <a:ln w="13970">
            <a:solidFill>
              <a:srgbClr val="C9C5FF"/>
            </a:solidFill>
          </a:ln>
          <a:effectLst>
            <a:outerShdw blurRad="101600" dist="25400" dir="5400000" algn="ctr" rotWithShape="0">
              <a:srgbClr val="10101B">
                <a:alpha val="10000"/>
              </a:srgbClr>
            </a:outerShdw>
          </a:effectLst>
        </p:spPr>
        <p:style>
          <a:lnRef idx="1">
            <a:schemeClr val="accent1"/>
          </a:lnRef>
          <a:fillRef idx="3">
            <a:schemeClr val="accent1"/>
          </a:fillRef>
          <a:effectRef idx="2">
            <a:schemeClr val="accent1"/>
          </a:effectRef>
          <a:fontRef idx="minor">
            <a:schemeClr val="lt1"/>
          </a:fontRef>
        </p:style>
        <p:txBody>
          <a:bodyPr wrap="square" lIns="146304" tIns="64008" rIns="109728" bIns="36576" rtlCol="0" anchor="t"/>
          <a:lstStyle/>
          <a:p>
            <a:pPr algn="l">
              <a:lnSpc>
                <a:spcPct val="100000"/>
              </a:lnSpc>
              <a:spcBef>
                <a:spcPts val="0"/>
              </a:spcBef>
              <a:spcAft>
                <a:spcPts val="0"/>
              </a:spcAft>
            </a:pPr>
            <a:r>
              <a:rPr sz="780" b="1" spc="110">
                <a:solidFill>
                  <a:srgbClr val="1200FF"/>
                </a:solidFill>
                <a:latin typeface="Arial"/>
              </a:rPr>
              <a:t>2   SCAN</a:t>
            </a:r>
          </a:p>
          <a:p>
            <a:pPr algn="l">
              <a:lnSpc>
                <a:spcPct val="98000"/>
              </a:lnSpc>
              <a:spcBef>
                <a:spcPts val="200"/>
              </a:spcBef>
              <a:spcAft>
                <a:spcPts val="0"/>
              </a:spcAft>
            </a:pPr>
            <a:r>
              <a:rPr sz="1380" b="1">
                <a:solidFill>
                  <a:srgbClr val="10101B"/>
                </a:solidFill>
                <a:latin typeface="Arial"/>
              </a:rPr>
              <a:t>hookguard install &lt;spec&gt;</a:t>
            </a:r>
          </a:p>
          <a:p>
            <a:pPr algn="l">
              <a:lnSpc>
                <a:spcPct val="96000"/>
              </a:lnSpc>
              <a:spcBef>
                <a:spcPts val="200"/>
              </a:spcBef>
              <a:spcAft>
                <a:spcPts val="0"/>
              </a:spcAft>
            </a:pPr>
            <a:r>
              <a:rPr sz="919" b="0">
                <a:solidFill>
                  <a:srgbClr val="4A4A5C"/>
                </a:solidFill>
                <a:latin typeface="Arial"/>
              </a:rPr>
              <a:t>HTTPS fetch · SRI check · L1–L7 pipeline</a:t>
            </a:r>
          </a:p>
        </p:txBody>
      </p:sp>
      <p:sp>
        <p:nvSpPr>
          <p:cNvPr id="14" name="Diamond 13"/>
          <p:cNvSpPr/>
          <p:nvPr/>
        </p:nvSpPr>
        <p:spPr>
          <a:xfrm>
            <a:off x="2697480" y="4818888"/>
            <a:ext cx="2377440" cy="932688"/>
          </a:xfrm>
          <a:prstGeom prst="diamond">
            <a:avLst/>
          </a:prstGeom>
          <a:solidFill>
            <a:srgbClr val="FDF7EE"/>
          </a:solidFill>
          <a:ln w="13970">
            <a:solidFill>
              <a:srgbClr val="EFD3A6"/>
            </a:solidFill>
          </a:ln>
          <a:effectLst>
            <a:outerShdw blurRad="88900" dist="25400" dir="5400000" algn="ctr" rotWithShape="0">
              <a:srgbClr val="10101B">
                <a:alpha val="9000"/>
              </a:srgbClr>
            </a:outerShdw>
          </a:effectLst>
        </p:spPr>
        <p:style>
          <a:lnRef idx="1">
            <a:schemeClr val="accent1"/>
          </a:lnRef>
          <a:fillRef idx="3">
            <a:schemeClr val="accent1"/>
          </a:fillRef>
          <a:effectRef idx="2">
            <a:schemeClr val="accent1"/>
          </a:effectRef>
          <a:fontRef idx="minor">
            <a:schemeClr val="lt1"/>
          </a:fontRef>
        </p:style>
        <p:txBody>
          <a:bodyPr wrap="square" lIns="164592" tIns="118872" rIns="164592" bIns="91440" rtlCol="0" anchor="ctr"/>
          <a:lstStyle/>
          <a:p>
            <a:pPr algn="ctr">
              <a:lnSpc>
                <a:spcPct val="100000"/>
              </a:lnSpc>
              <a:spcBef>
                <a:spcPts val="0"/>
              </a:spcBef>
              <a:spcAft>
                <a:spcPts val="0"/>
              </a:spcAft>
            </a:pPr>
            <a:r>
              <a:rPr sz="800" b="1" spc="80">
                <a:solidFill>
                  <a:srgbClr val="D98E2B"/>
                </a:solidFill>
                <a:latin typeface="Arial"/>
              </a:rPr>
              <a:t>all verdicts</a:t>
            </a:r>
          </a:p>
          <a:p>
            <a:pPr algn="ctr">
              <a:lnSpc>
                <a:spcPct val="100000"/>
              </a:lnSpc>
              <a:spcBef>
                <a:spcPts val="100"/>
              </a:spcBef>
              <a:spcAft>
                <a:spcPts val="0"/>
              </a:spcAft>
            </a:pPr>
            <a:r>
              <a:rPr sz="1420" b="1">
                <a:solidFill>
                  <a:srgbClr val="10101B"/>
                </a:solidFill>
                <a:latin typeface="Arial"/>
              </a:rPr>
              <a:t>BENIGN?</a:t>
            </a:r>
          </a:p>
        </p:txBody>
      </p:sp>
      <p:sp>
        <p:nvSpPr>
          <p:cNvPr id="15" name="Rounded Rectangle 14"/>
          <p:cNvSpPr/>
          <p:nvPr/>
        </p:nvSpPr>
        <p:spPr>
          <a:xfrm>
            <a:off x="1417320" y="5998464"/>
            <a:ext cx="2542032" cy="731520"/>
          </a:xfrm>
          <a:prstGeom prst="roundRect">
            <a:avLst>
              <a:gd name="adj" fmla="val 8000"/>
            </a:avLst>
          </a:prstGeom>
          <a:solidFill>
            <a:srgbClr val="EDF8F6"/>
          </a:solidFill>
          <a:ln w="13970">
            <a:solidFill>
              <a:srgbClr val="B9E3DC"/>
            </a:solidFill>
          </a:ln>
          <a:effectLst>
            <a:outerShdw blurRad="101600" dist="25400" dir="5400000" algn="ctr" rotWithShape="0">
              <a:srgbClr val="10101B">
                <a:alpha val="10000"/>
              </a:srgbClr>
            </a:outerShdw>
          </a:effectLst>
        </p:spPr>
        <p:style>
          <a:lnRef idx="1">
            <a:schemeClr val="accent1"/>
          </a:lnRef>
          <a:fillRef idx="3">
            <a:schemeClr val="accent1"/>
          </a:fillRef>
          <a:effectRef idx="2">
            <a:schemeClr val="accent1"/>
          </a:effectRef>
          <a:fontRef idx="minor">
            <a:schemeClr val="lt1"/>
          </a:fontRef>
        </p:style>
        <p:txBody>
          <a:bodyPr wrap="square" lIns="146304" tIns="64008" rIns="109728" bIns="36576" rtlCol="0" anchor="t"/>
          <a:lstStyle/>
          <a:p>
            <a:pPr algn="l">
              <a:lnSpc>
                <a:spcPct val="100000"/>
              </a:lnSpc>
              <a:spcBef>
                <a:spcPts val="0"/>
              </a:spcBef>
              <a:spcAft>
                <a:spcPts val="0"/>
              </a:spcAft>
            </a:pPr>
            <a:r>
              <a:rPr sz="780" b="1" spc="110">
                <a:solidFill>
                  <a:srgbClr val="2A9D8F"/>
                </a:solidFill>
                <a:latin typeface="Arial"/>
              </a:rPr>
              <a:t>3   RELEASE</a:t>
            </a:r>
          </a:p>
          <a:p>
            <a:pPr algn="l">
              <a:lnSpc>
                <a:spcPct val="98000"/>
              </a:lnSpc>
              <a:spcBef>
                <a:spcPts val="200"/>
              </a:spcBef>
              <a:spcAft>
                <a:spcPts val="0"/>
              </a:spcAft>
            </a:pPr>
            <a:r>
              <a:rPr sz="1280" b="1">
                <a:solidFill>
                  <a:srgbClr val="10101B"/>
                </a:solidFill>
                <a:latin typeface="Arial"/>
              </a:rPr>
              <a:t>npm install &lt;specs&gt;</a:t>
            </a:r>
          </a:p>
          <a:p>
            <a:pPr algn="l">
              <a:lnSpc>
                <a:spcPct val="96000"/>
              </a:lnSpc>
              <a:spcBef>
                <a:spcPts val="200"/>
              </a:spcBef>
              <a:spcAft>
                <a:spcPts val="0"/>
              </a:spcAft>
            </a:pPr>
            <a:r>
              <a:rPr sz="880" b="0">
                <a:solidFill>
                  <a:srgbClr val="4A4A5C"/>
                </a:solidFill>
                <a:latin typeface="Arial"/>
              </a:rPr>
              <a:t>only after clearance</a:t>
            </a:r>
          </a:p>
        </p:txBody>
      </p:sp>
      <p:sp>
        <p:nvSpPr>
          <p:cNvPr id="16" name="Rounded Rectangle 15"/>
          <p:cNvSpPr/>
          <p:nvPr/>
        </p:nvSpPr>
        <p:spPr>
          <a:xfrm>
            <a:off x="4983480" y="5998464"/>
            <a:ext cx="2542032" cy="731520"/>
          </a:xfrm>
          <a:prstGeom prst="roundRect">
            <a:avLst>
              <a:gd name="adj" fmla="val 8000"/>
            </a:avLst>
          </a:prstGeom>
          <a:solidFill>
            <a:srgbClr val="FEF8F6"/>
          </a:solidFill>
          <a:ln w="13970">
            <a:solidFill>
              <a:srgbClr val="F2C9BE"/>
            </a:solidFill>
          </a:ln>
          <a:effectLst>
            <a:outerShdw blurRad="101600" dist="25400" dir="5400000" algn="ctr" rotWithShape="0">
              <a:srgbClr val="10101B">
                <a:alpha val="10000"/>
              </a:srgbClr>
            </a:outerShdw>
          </a:effectLst>
        </p:spPr>
        <p:style>
          <a:lnRef idx="1">
            <a:schemeClr val="accent1"/>
          </a:lnRef>
          <a:fillRef idx="3">
            <a:schemeClr val="accent1"/>
          </a:fillRef>
          <a:effectRef idx="2">
            <a:schemeClr val="accent1"/>
          </a:effectRef>
          <a:fontRef idx="minor">
            <a:schemeClr val="lt1"/>
          </a:fontRef>
        </p:style>
        <p:txBody>
          <a:bodyPr wrap="square" lIns="146304" tIns="64008" rIns="109728" bIns="36576" rtlCol="0" anchor="t"/>
          <a:lstStyle/>
          <a:p>
            <a:pPr algn="l">
              <a:lnSpc>
                <a:spcPct val="100000"/>
              </a:lnSpc>
              <a:spcBef>
                <a:spcPts val="0"/>
              </a:spcBef>
              <a:spcAft>
                <a:spcPts val="0"/>
              </a:spcAft>
            </a:pPr>
            <a:r>
              <a:rPr sz="780" b="1" spc="110">
                <a:solidFill>
                  <a:srgbClr val="D95D45"/>
                </a:solidFill>
                <a:latin typeface="Arial"/>
              </a:rPr>
              <a:t>BLOCKED</a:t>
            </a:r>
          </a:p>
          <a:p>
            <a:pPr algn="l">
              <a:lnSpc>
                <a:spcPct val="98000"/>
              </a:lnSpc>
              <a:spcBef>
                <a:spcPts val="200"/>
              </a:spcBef>
              <a:spcAft>
                <a:spcPts val="0"/>
              </a:spcAft>
            </a:pPr>
            <a:r>
              <a:rPr sz="1280" b="1">
                <a:solidFill>
                  <a:srgbClr val="10101B"/>
                </a:solidFill>
                <a:latin typeface="Arial"/>
              </a:rPr>
              <a:t>exit 1 + evidence</a:t>
            </a:r>
          </a:p>
          <a:p>
            <a:pPr algn="l">
              <a:lnSpc>
                <a:spcPct val="96000"/>
              </a:lnSpc>
              <a:spcBef>
                <a:spcPts val="200"/>
              </a:spcBef>
              <a:spcAft>
                <a:spcPts val="0"/>
              </a:spcAft>
            </a:pPr>
            <a:r>
              <a:rPr sz="880" b="0">
                <a:solidFill>
                  <a:srgbClr val="4A4A5C"/>
                </a:solidFill>
                <a:latin typeface="Arial"/>
              </a:rPr>
              <a:t>request never reaches npm</a:t>
            </a:r>
          </a:p>
        </p:txBody>
      </p:sp>
      <p:sp>
        <p:nvSpPr>
          <p:cNvPr id="17" name="Freeform 16"/>
          <p:cNvSpPr/>
          <p:nvPr/>
        </p:nvSpPr>
        <p:spPr>
          <a:xfrm>
            <a:off x="3886200" y="3611880"/>
            <a:ext cx="0" cy="210312"/>
          </a:xfrm>
          <a:custGeom>
            <a:avLst/>
            <a:gdLst/>
            <a:ahLst/>
            <a:cxnLst/>
            <a:rect l="l" t="t" r="r" b="b"/>
            <a:pathLst>
              <a:path h="23">
                <a:moveTo>
                  <a:pt x="0" y="0"/>
                </a:moveTo>
                <a:lnTo>
                  <a:pt x="0" y="23"/>
                </a:lnTo>
              </a:path>
            </a:pathLst>
          </a:custGeom>
          <a:noFill/>
          <a:ln w="22860" cap="rnd">
            <a:solidFill>
              <a:srgbClr val="1200FF"/>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p:cNvSpPr/>
          <p:nvPr/>
        </p:nvSpPr>
        <p:spPr>
          <a:xfrm>
            <a:off x="3886200" y="4489704"/>
            <a:ext cx="0" cy="310896"/>
          </a:xfrm>
          <a:custGeom>
            <a:avLst/>
            <a:gdLst/>
            <a:ahLst/>
            <a:cxnLst/>
            <a:rect l="l" t="t" r="r" b="b"/>
            <a:pathLst>
              <a:path h="34">
                <a:moveTo>
                  <a:pt x="0" y="0"/>
                </a:moveTo>
                <a:lnTo>
                  <a:pt x="0" y="34"/>
                </a:lnTo>
              </a:path>
            </a:pathLst>
          </a:custGeom>
          <a:noFill/>
          <a:ln w="22860" cap="rnd">
            <a:solidFill>
              <a:srgbClr val="1200FF"/>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2688336" y="5751576"/>
            <a:ext cx="1197864" cy="246888"/>
          </a:xfrm>
          <a:custGeom>
            <a:avLst/>
            <a:gdLst/>
            <a:ahLst/>
            <a:cxnLst/>
            <a:rect l="l" t="t" r="r" b="b"/>
            <a:pathLst>
              <a:path w="131" h="27">
                <a:moveTo>
                  <a:pt x="131" y="0"/>
                </a:moveTo>
                <a:lnTo>
                  <a:pt x="131" y="14"/>
                </a:lnTo>
                <a:lnTo>
                  <a:pt x="0" y="14"/>
                </a:lnTo>
                <a:lnTo>
                  <a:pt x="0" y="27"/>
                </a:lnTo>
              </a:path>
            </a:pathLst>
          </a:custGeom>
          <a:noFill/>
          <a:ln w="24130" cap="rnd">
            <a:solidFill>
              <a:srgbClr val="2A9D8F"/>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3886200" y="5751576"/>
            <a:ext cx="2368296" cy="246888"/>
          </a:xfrm>
          <a:custGeom>
            <a:avLst/>
            <a:gdLst/>
            <a:ahLst/>
            <a:cxnLst/>
            <a:rect l="l" t="t" r="r" b="b"/>
            <a:pathLst>
              <a:path w="259" h="27">
                <a:moveTo>
                  <a:pt x="0" y="0"/>
                </a:moveTo>
                <a:lnTo>
                  <a:pt x="0" y="14"/>
                </a:lnTo>
                <a:lnTo>
                  <a:pt x="259" y="14"/>
                </a:lnTo>
                <a:lnTo>
                  <a:pt x="259" y="27"/>
                </a:lnTo>
              </a:path>
            </a:pathLst>
          </a:custGeom>
          <a:noFill/>
          <a:ln w="24130" cap="rnd">
            <a:solidFill>
              <a:srgbClr val="D95D45"/>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61488" y="5742432"/>
            <a:ext cx="502920" cy="182880"/>
          </a:xfrm>
          <a:prstGeom prst="rect">
            <a:avLst/>
          </a:prstGeom>
          <a:noFill/>
        </p:spPr>
        <p:txBody>
          <a:bodyPr wrap="square" lIns="18288" tIns="0" rIns="18288" bIns="0" anchor="t">
            <a:spAutoFit/>
          </a:bodyPr>
          <a:lstStyle/>
          <a:p>
            <a:pPr algn="l">
              <a:lnSpc>
                <a:spcPct val="100000"/>
              </a:lnSpc>
              <a:spcBef>
                <a:spcPts val="0"/>
              </a:spcBef>
              <a:spcAft>
                <a:spcPts val="0"/>
              </a:spcAft>
            </a:pPr>
            <a:r>
              <a:rPr sz="819" b="1">
                <a:solidFill>
                  <a:srgbClr val="1F7A6F"/>
                </a:solidFill>
                <a:latin typeface="Arial"/>
              </a:rPr>
              <a:t>yes</a:t>
            </a:r>
          </a:p>
        </p:txBody>
      </p:sp>
      <p:sp>
        <p:nvSpPr>
          <p:cNvPr id="22" name="TextBox 21"/>
          <p:cNvSpPr txBox="1"/>
          <p:nvPr/>
        </p:nvSpPr>
        <p:spPr>
          <a:xfrm>
            <a:off x="5532120" y="5742432"/>
            <a:ext cx="502920" cy="182880"/>
          </a:xfrm>
          <a:prstGeom prst="rect">
            <a:avLst/>
          </a:prstGeom>
          <a:noFill/>
        </p:spPr>
        <p:txBody>
          <a:bodyPr wrap="square" lIns="18288" tIns="0" rIns="18288" bIns="0" anchor="t">
            <a:spAutoFit/>
          </a:bodyPr>
          <a:lstStyle/>
          <a:p>
            <a:pPr algn="l">
              <a:lnSpc>
                <a:spcPct val="100000"/>
              </a:lnSpc>
              <a:spcBef>
                <a:spcPts val="0"/>
              </a:spcBef>
              <a:spcAft>
                <a:spcPts val="0"/>
              </a:spcAft>
            </a:pPr>
            <a:r>
              <a:rPr sz="819" b="1">
                <a:solidFill>
                  <a:srgbClr val="D95D45"/>
                </a:solidFill>
                <a:latin typeface="Arial"/>
              </a:rPr>
              <a:t>no</a:t>
            </a:r>
          </a:p>
        </p:txBody>
      </p:sp>
      <p:sp>
        <p:nvSpPr>
          <p:cNvPr id="23" name="Rounded Rectangle 22"/>
          <p:cNvSpPr/>
          <p:nvPr/>
        </p:nvSpPr>
        <p:spPr>
          <a:xfrm>
            <a:off x="1417320" y="6903720"/>
            <a:ext cx="6108192" cy="246888"/>
          </a:xfrm>
          <a:prstGeom prst="roundRect">
            <a:avLst>
              <a:gd name="adj" fmla="val 3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lnSpc>
                <a:spcPct val="100000"/>
              </a:lnSpc>
              <a:spcBef>
                <a:spcPts val="0"/>
              </a:spcBef>
              <a:spcAft>
                <a:spcPts val="0"/>
              </a:spcAft>
            </a:pPr>
            <a:r>
              <a:rPr sz="800" b="1" spc="20">
                <a:solidFill>
                  <a:srgbClr val="4A4A5C"/>
                </a:solidFill>
                <a:latin typeface="Arial"/>
              </a:rPr>
              <a:t>No HTTP proxy  ·  no registry rewrite  ·  no ordinary-npm interception</a:t>
            </a:r>
          </a:p>
        </p:txBody>
      </p:sp>
      <p:sp>
        <p:nvSpPr>
          <p:cNvPr id="24" name="Rounded Rectangle 23"/>
          <p:cNvSpPr/>
          <p:nvPr/>
        </p:nvSpPr>
        <p:spPr>
          <a:xfrm>
            <a:off x="9646920" y="2487168"/>
            <a:ext cx="6903720" cy="1325880"/>
          </a:xfrm>
          <a:prstGeom prst="roundRect">
            <a:avLst>
              <a:gd name="adj" fmla="val 7000"/>
            </a:avLst>
          </a:prstGeom>
          <a:solidFill>
            <a:srgbClr val="FFFFFF"/>
          </a:solidFill>
          <a:ln w="13335">
            <a:solidFill>
              <a:srgbClr val="C9C5FF"/>
            </a:solidFill>
          </a:ln>
          <a:effectLst>
            <a:outerShdw blurRad="101600" dist="25400" dir="5400000" algn="ctr" rotWithShape="0">
              <a:srgbClr val="10101B">
                <a:alpha val="10000"/>
              </a:srgbClr>
            </a:outerShdw>
          </a:effectLst>
        </p:spPr>
        <p:style>
          <a:lnRef idx="1">
            <a:schemeClr val="accent1"/>
          </a:lnRef>
          <a:fillRef idx="3">
            <a:schemeClr val="accent1"/>
          </a:fillRef>
          <a:effectRef idx="2">
            <a:schemeClr val="accent1"/>
          </a:effectRef>
          <a:fontRef idx="minor">
            <a:schemeClr val="lt1"/>
          </a:fontRef>
        </p:style>
        <p:txBody>
          <a:bodyPr wrap="square" lIns="173736" tIns="91440" rIns="118872" rtlCol="0" anchor="t"/>
          <a:lstStyle/>
          <a:p>
            <a:pPr algn="l">
              <a:lnSpc>
                <a:spcPct val="100000"/>
              </a:lnSpc>
              <a:spcBef>
                <a:spcPts val="0"/>
              </a:spcBef>
              <a:spcAft>
                <a:spcPts val="0"/>
              </a:spcAft>
            </a:pPr>
            <a:r>
              <a:rPr sz="770" b="1" spc="110">
                <a:solidFill>
                  <a:srgbClr val="1200FF"/>
                </a:solidFill>
                <a:latin typeface="Arial"/>
              </a:rPr>
              <a:t>DIRECT FETCH</a:t>
            </a:r>
          </a:p>
          <a:p>
            <a:pPr algn="l">
              <a:lnSpc>
                <a:spcPct val="98000"/>
              </a:lnSpc>
              <a:spcBef>
                <a:spcPts val="200"/>
              </a:spcBef>
              <a:spcAft>
                <a:spcPts val="0"/>
              </a:spcAft>
            </a:pPr>
            <a:r>
              <a:rPr sz="1340" b="1">
                <a:solidFill>
                  <a:srgbClr val="10101B"/>
                </a:solidFill>
                <a:latin typeface="Arial"/>
              </a:rPr>
              <a:t>HTTPS + SRI</a:t>
            </a:r>
          </a:p>
          <a:p>
            <a:pPr algn="l">
              <a:lnSpc>
                <a:spcPct val="95000"/>
              </a:lnSpc>
              <a:spcBef>
                <a:spcPts val="300"/>
              </a:spcBef>
              <a:spcAft>
                <a:spcPts val="0"/>
              </a:spcAft>
            </a:pPr>
            <a:r>
              <a:rPr sz="969" b="0">
                <a:solidFill>
                  <a:srgbClr val="4A4A5C"/>
                </a:solidFill>
                <a:latin typeface="Arial"/>
              </a:rPr>
              <a:t>Metadata and tarball come straight from the npm registry. The SRI digest is checked before analysis; npm then resolves the package independently.</a:t>
            </a:r>
          </a:p>
        </p:txBody>
      </p:sp>
      <p:sp>
        <p:nvSpPr>
          <p:cNvPr id="25" name="Rounded Rectangle 24"/>
          <p:cNvSpPr/>
          <p:nvPr/>
        </p:nvSpPr>
        <p:spPr>
          <a:xfrm>
            <a:off x="9692640" y="2615184"/>
            <a:ext cx="50292" cy="1069848"/>
          </a:xfrm>
          <a:prstGeom prst="roundRect">
            <a:avLst>
              <a:gd name="adj" fmla="val 50000"/>
            </a:avLst>
          </a:prstGeom>
          <a:solidFill>
            <a:srgbClr val="12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646920" y="3977639"/>
            <a:ext cx="6903720" cy="1325880"/>
          </a:xfrm>
          <a:prstGeom prst="roundRect">
            <a:avLst>
              <a:gd name="adj" fmla="val 7000"/>
            </a:avLst>
          </a:prstGeom>
          <a:solidFill>
            <a:srgbClr val="FFFFFF"/>
          </a:solidFill>
          <a:ln w="13335">
            <a:solidFill>
              <a:srgbClr val="EFD3A6"/>
            </a:solidFill>
          </a:ln>
          <a:effectLst>
            <a:outerShdw blurRad="101600" dist="25400" dir="5400000" algn="ctr" rotWithShape="0">
              <a:srgbClr val="10101B">
                <a:alpha val="10000"/>
              </a:srgbClr>
            </a:outerShdw>
          </a:effectLst>
        </p:spPr>
        <p:style>
          <a:lnRef idx="1">
            <a:schemeClr val="accent1"/>
          </a:lnRef>
          <a:fillRef idx="3">
            <a:schemeClr val="accent1"/>
          </a:fillRef>
          <a:effectRef idx="2">
            <a:schemeClr val="accent1"/>
          </a:effectRef>
          <a:fontRef idx="minor">
            <a:schemeClr val="lt1"/>
          </a:fontRef>
        </p:style>
        <p:txBody>
          <a:bodyPr wrap="square" lIns="173736" tIns="91440" rIns="118872" rtlCol="0" anchor="t"/>
          <a:lstStyle/>
          <a:p>
            <a:pPr algn="l">
              <a:lnSpc>
                <a:spcPct val="100000"/>
              </a:lnSpc>
              <a:spcBef>
                <a:spcPts val="0"/>
              </a:spcBef>
              <a:spcAft>
                <a:spcPts val="0"/>
              </a:spcAft>
            </a:pPr>
            <a:r>
              <a:rPr sz="770" b="1" spc="110">
                <a:solidFill>
                  <a:srgbClr val="D98E2B"/>
                </a:solidFill>
                <a:latin typeface="Arial"/>
              </a:rPr>
              <a:t>EXPLICIT SCOPE</a:t>
            </a:r>
          </a:p>
          <a:p>
            <a:pPr algn="l">
              <a:lnSpc>
                <a:spcPct val="98000"/>
              </a:lnSpc>
              <a:spcBef>
                <a:spcPts val="200"/>
              </a:spcBef>
              <a:spcAft>
                <a:spcPts val="0"/>
              </a:spcAft>
            </a:pPr>
            <a:r>
              <a:rPr sz="1340" b="1">
                <a:solidFill>
                  <a:srgbClr val="10101B"/>
                </a:solidFill>
                <a:latin typeface="Arial"/>
              </a:rPr>
              <a:t>Named specs only</a:t>
            </a:r>
          </a:p>
          <a:p>
            <a:pPr algn="l">
              <a:lnSpc>
                <a:spcPct val="95000"/>
              </a:lnSpc>
              <a:spcBef>
                <a:spcPts val="300"/>
              </a:spcBef>
              <a:spcAft>
                <a:spcPts val="0"/>
              </a:spcAft>
            </a:pPr>
            <a:r>
              <a:rPr sz="969" b="0">
                <a:solidFill>
                  <a:srgbClr val="4A4A5C"/>
                </a:solidFill>
                <a:latin typeface="Arial"/>
              </a:rPr>
              <a:t>Plain npm install is untouched. Only named specs are checked; transitive dependencies are not individually scanned.</a:t>
            </a:r>
          </a:p>
        </p:txBody>
      </p:sp>
      <p:sp>
        <p:nvSpPr>
          <p:cNvPr id="27" name="Rounded Rectangle 26"/>
          <p:cNvSpPr/>
          <p:nvPr/>
        </p:nvSpPr>
        <p:spPr>
          <a:xfrm>
            <a:off x="9692640" y="4105655"/>
            <a:ext cx="50292" cy="1069848"/>
          </a:xfrm>
          <a:prstGeom prst="roundRect">
            <a:avLst>
              <a:gd name="adj" fmla="val 50000"/>
            </a:avLst>
          </a:prstGeom>
          <a:solidFill>
            <a:srgbClr val="D98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646920" y="5468112"/>
            <a:ext cx="6903720" cy="1325880"/>
          </a:xfrm>
          <a:prstGeom prst="roundRect">
            <a:avLst>
              <a:gd name="adj" fmla="val 7000"/>
            </a:avLst>
          </a:prstGeom>
          <a:solidFill>
            <a:srgbClr val="FFFFFF"/>
          </a:solidFill>
          <a:ln w="13335">
            <a:solidFill>
              <a:srgbClr val="B9E3DC"/>
            </a:solidFill>
          </a:ln>
          <a:effectLst>
            <a:outerShdw blurRad="101600" dist="25400" dir="5400000" algn="ctr" rotWithShape="0">
              <a:srgbClr val="10101B">
                <a:alpha val="10000"/>
              </a:srgbClr>
            </a:outerShdw>
          </a:effectLst>
        </p:spPr>
        <p:style>
          <a:lnRef idx="1">
            <a:schemeClr val="accent1"/>
          </a:lnRef>
          <a:fillRef idx="3">
            <a:schemeClr val="accent1"/>
          </a:fillRef>
          <a:effectRef idx="2">
            <a:schemeClr val="accent1"/>
          </a:effectRef>
          <a:fontRef idx="minor">
            <a:schemeClr val="lt1"/>
          </a:fontRef>
        </p:style>
        <p:txBody>
          <a:bodyPr wrap="square" lIns="173736" tIns="91440" rIns="118872" rtlCol="0" anchor="t"/>
          <a:lstStyle/>
          <a:p>
            <a:pPr algn="l">
              <a:lnSpc>
                <a:spcPct val="100000"/>
              </a:lnSpc>
              <a:spcBef>
                <a:spcPts val="0"/>
              </a:spcBef>
              <a:spcAft>
                <a:spcPts val="0"/>
              </a:spcAft>
            </a:pPr>
            <a:r>
              <a:rPr sz="770" b="1" spc="110">
                <a:solidFill>
                  <a:srgbClr val="1F7A6F"/>
                </a:solidFill>
                <a:latin typeface="Arial"/>
              </a:rPr>
              <a:t>LOCAL EVIDENCE</a:t>
            </a:r>
          </a:p>
          <a:p>
            <a:pPr algn="l">
              <a:lnSpc>
                <a:spcPct val="98000"/>
              </a:lnSpc>
              <a:spcBef>
                <a:spcPts val="200"/>
              </a:spcBef>
              <a:spcAft>
                <a:spcPts val="0"/>
              </a:spcAft>
            </a:pPr>
            <a:r>
              <a:rPr sz="1340" b="1">
                <a:solidFill>
                  <a:srgbClr val="10101B"/>
                </a:solidFill>
                <a:latin typeface="Arial"/>
              </a:rPr>
              <a:t>Nothing external</a:t>
            </a:r>
          </a:p>
          <a:p>
            <a:pPr algn="l">
              <a:lnSpc>
                <a:spcPct val="95000"/>
              </a:lnSpc>
              <a:spcBef>
                <a:spcPts val="300"/>
              </a:spcBef>
              <a:spcAft>
                <a:spcPts val="0"/>
              </a:spcAft>
            </a:pPr>
            <a:r>
              <a:rPr sz="969" b="0">
                <a:solidFill>
                  <a:srgbClr val="4A4A5C"/>
                </a:solidFill>
                <a:latin typeface="Arial"/>
              </a:rPr>
              <a:t>CLI verdict, JSON/HTML report, and logs. No webhook, SIEM, or live registry feed.</a:t>
            </a:r>
          </a:p>
        </p:txBody>
      </p:sp>
      <p:sp>
        <p:nvSpPr>
          <p:cNvPr id="29" name="Rounded Rectangle 28"/>
          <p:cNvSpPr/>
          <p:nvPr/>
        </p:nvSpPr>
        <p:spPr>
          <a:xfrm>
            <a:off x="9692640" y="5596128"/>
            <a:ext cx="50292" cy="1069848"/>
          </a:xfrm>
          <a:prstGeom prst="roundRect">
            <a:avLst>
              <a:gd name="adj" fmla="val 50000"/>
            </a:avLst>
          </a:prstGeom>
          <a:solidFill>
            <a:srgbClr val="1F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1051560" y="7479792"/>
            <a:ext cx="15672816" cy="566928"/>
          </a:xfrm>
          <a:prstGeom prst="roundRect">
            <a:avLst>
              <a:gd name="adj" fmla="val 6000"/>
            </a:avLst>
          </a:prstGeom>
          <a:solidFill>
            <a:srgbClr val="FFFFFF"/>
          </a:solidFill>
          <a:ln w="11430">
            <a:solidFill>
              <a:srgbClr val="D9D9E3"/>
            </a:solidFill>
          </a:ln>
        </p:spPr>
        <p:style>
          <a:lnRef idx="1">
            <a:schemeClr val="accent1"/>
          </a:lnRef>
          <a:fillRef idx="3">
            <a:schemeClr val="accent1"/>
          </a:fillRef>
          <a:effectRef idx="2">
            <a:schemeClr val="accent1"/>
          </a:effectRef>
          <a:fontRef idx="minor">
            <a:schemeClr val="lt1"/>
          </a:fontRef>
        </p:style>
        <p:txBody>
          <a:bodyPr wrap="square" lIns="201168" tIns="64008" rIns="164592" bIns="36576" rtlCol="0" anchor="ctr"/>
          <a:lstStyle/>
          <a:p>
            <a:pPr algn="l">
              <a:lnSpc>
                <a:spcPct val="100000"/>
              </a:lnSpc>
              <a:spcBef>
                <a:spcPts val="0"/>
              </a:spcBef>
              <a:spcAft>
                <a:spcPts val="0"/>
              </a:spcAft>
            </a:pPr>
            <a:r>
              <a:rPr sz="860" b="1" spc="110">
                <a:solidFill>
                  <a:srgbClr val="D95D45"/>
                </a:solidFill>
                <a:latin typeface="Arial"/>
              </a:rPr>
              <a:t>SCOPE   </a:t>
            </a:r>
            <a:r>
              <a:rPr sz="1060" b="0">
                <a:solidFill>
                  <a:srgbClr val="10101B"/>
                </a:solidFill>
                <a:latin typeface="Arial"/>
              </a:rPr>
              <a:t>Runtime detection here means install-phase lifecycle hooks — not a long-lived monitor and not require-time execution.</a:t>
            </a:r>
          </a:p>
        </p:txBody>
      </p:sp>
      <p:sp>
        <p:nvSpPr>
          <p:cNvPr id="31" name="Rounded Rectangle 30"/>
          <p:cNvSpPr/>
          <p:nvPr/>
        </p:nvSpPr>
        <p:spPr>
          <a:xfrm>
            <a:off x="1106424" y="7580375"/>
            <a:ext cx="50292" cy="365760"/>
          </a:xfrm>
          <a:prstGeom prst="roundRect">
            <a:avLst>
              <a:gd name="adj" fmla="val 50000"/>
            </a:avLst>
          </a:prstGeom>
          <a:solidFill>
            <a:srgbClr val="D95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08 — IMPLEMENTATION</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Implementation Details</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12 / 22</a:t>
            </a:r>
          </a:p>
        </p:txBody>
      </p:sp>
      <p:sp>
        <p:nvSpPr>
          <p:cNvPr id="9" name="TextBox 8"/>
          <p:cNvSpPr txBox="1"/>
          <p:nvPr/>
        </p:nvSpPr>
        <p:spPr>
          <a:xfrm>
            <a:off x="1051560" y="2487168"/>
            <a:ext cx="7680960" cy="256032"/>
          </a:xfrm>
          <a:prstGeom prst="rect">
            <a:avLst/>
          </a:prstGeom>
          <a:noFill/>
        </p:spPr>
        <p:txBody>
          <a:bodyPr wrap="square" lIns="0" tIns="0" rIns="0" bIns="0" anchor="t">
            <a:noAutofit/>
          </a:bodyPr>
          <a:lstStyle/>
          <a:p>
            <a:pPr algn="l"/>
            <a:r>
              <a:rPr sz="1150" b="1" i="0">
                <a:solidFill>
                  <a:srgbClr val="4A4A5C"/>
                </a:solidFill>
                <a:latin typeface="Arial"/>
              </a:rPr>
              <a:t>TOOLS &amp; TECHNOLOGIES</a:t>
            </a:r>
          </a:p>
        </p:txBody>
      </p:sp>
      <p:sp>
        <p:nvSpPr>
          <p:cNvPr id="10" name="Rounded Rectangle 9"/>
          <p:cNvSpPr/>
          <p:nvPr/>
        </p:nvSpPr>
        <p:spPr>
          <a:xfrm>
            <a:off x="1051560" y="2788920"/>
            <a:ext cx="2468880" cy="502920"/>
          </a:xfrm>
          <a:prstGeom prst="roundRect">
            <a:avLst>
              <a:gd name="adj" fmla="val 25000"/>
            </a:avLst>
          </a:prstGeom>
          <a:solidFill>
            <a:srgbClr val="F4F5FC"/>
          </a:solidFill>
          <a:ln w="1143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320" b="1">
                <a:solidFill>
                  <a:srgbClr val="10101B"/>
                </a:solidFill>
                <a:latin typeface="Arial"/>
              </a:rPr>
              <a:t>Python 3.11+</a:t>
            </a:r>
          </a:p>
        </p:txBody>
      </p:sp>
      <p:sp>
        <p:nvSpPr>
          <p:cNvPr id="11" name="Rounded Rectangle 10"/>
          <p:cNvSpPr/>
          <p:nvPr/>
        </p:nvSpPr>
        <p:spPr>
          <a:xfrm>
            <a:off x="3749039" y="2788920"/>
            <a:ext cx="2468880" cy="502920"/>
          </a:xfrm>
          <a:prstGeom prst="roundRect">
            <a:avLst>
              <a:gd name="adj" fmla="val 25000"/>
            </a:avLst>
          </a:prstGeom>
          <a:solidFill>
            <a:srgbClr val="F4F5FC"/>
          </a:solidFill>
          <a:ln w="1143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320" b="1">
                <a:solidFill>
                  <a:srgbClr val="10101B"/>
                </a:solidFill>
                <a:latin typeface="Arial"/>
              </a:rPr>
              <a:t>BCC / eBPF</a:t>
            </a:r>
          </a:p>
        </p:txBody>
      </p:sp>
      <p:sp>
        <p:nvSpPr>
          <p:cNvPr id="12" name="Rounded Rectangle 11"/>
          <p:cNvSpPr/>
          <p:nvPr/>
        </p:nvSpPr>
        <p:spPr>
          <a:xfrm>
            <a:off x="6446520" y="2788920"/>
            <a:ext cx="2468880" cy="502920"/>
          </a:xfrm>
          <a:prstGeom prst="roundRect">
            <a:avLst>
              <a:gd name="adj" fmla="val 25000"/>
            </a:avLst>
          </a:prstGeom>
          <a:solidFill>
            <a:srgbClr val="F4F5FC"/>
          </a:solidFill>
          <a:ln w="1143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320" b="1">
                <a:solidFill>
                  <a:srgbClr val="10101B"/>
                </a:solidFill>
                <a:latin typeface="Arial"/>
              </a:rPr>
              <a:t>Docker</a:t>
            </a:r>
          </a:p>
        </p:txBody>
      </p:sp>
      <p:sp>
        <p:nvSpPr>
          <p:cNvPr id="13" name="Rounded Rectangle 12"/>
          <p:cNvSpPr/>
          <p:nvPr/>
        </p:nvSpPr>
        <p:spPr>
          <a:xfrm>
            <a:off x="1051560" y="3410712"/>
            <a:ext cx="2468880" cy="502920"/>
          </a:xfrm>
          <a:prstGeom prst="roundRect">
            <a:avLst>
              <a:gd name="adj" fmla="val 25000"/>
            </a:avLst>
          </a:prstGeom>
          <a:solidFill>
            <a:srgbClr val="F4F5FC"/>
          </a:solidFill>
          <a:ln w="1143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320" b="1">
                <a:solidFill>
                  <a:srgbClr val="10101B"/>
                </a:solidFill>
                <a:latin typeface="Arial"/>
              </a:rPr>
              <a:t>scikit-learn</a:t>
            </a:r>
          </a:p>
        </p:txBody>
      </p:sp>
      <p:sp>
        <p:nvSpPr>
          <p:cNvPr id="14" name="Rounded Rectangle 13"/>
          <p:cNvSpPr/>
          <p:nvPr/>
        </p:nvSpPr>
        <p:spPr>
          <a:xfrm>
            <a:off x="3749039" y="3410712"/>
            <a:ext cx="2468880" cy="502920"/>
          </a:xfrm>
          <a:prstGeom prst="roundRect">
            <a:avLst>
              <a:gd name="adj" fmla="val 25000"/>
            </a:avLst>
          </a:prstGeom>
          <a:solidFill>
            <a:srgbClr val="F4F5FC"/>
          </a:solidFill>
          <a:ln w="1143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320" b="1">
                <a:solidFill>
                  <a:srgbClr val="10101B"/>
                </a:solidFill>
                <a:latin typeface="Arial"/>
              </a:rPr>
              <a:t>734 tests</a:t>
            </a:r>
          </a:p>
        </p:txBody>
      </p:sp>
      <p:sp>
        <p:nvSpPr>
          <p:cNvPr id="15" name="Rounded Rectangle 14"/>
          <p:cNvSpPr/>
          <p:nvPr/>
        </p:nvSpPr>
        <p:spPr>
          <a:xfrm>
            <a:off x="6446520" y="3410712"/>
            <a:ext cx="2468880" cy="502920"/>
          </a:xfrm>
          <a:prstGeom prst="roundRect">
            <a:avLst>
              <a:gd name="adj" fmla="val 25000"/>
            </a:avLst>
          </a:prstGeom>
          <a:solidFill>
            <a:srgbClr val="F4F5FC"/>
          </a:solidFill>
          <a:ln w="1143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r>
              <a:rPr sz="1320" b="1">
                <a:solidFill>
                  <a:srgbClr val="10101B"/>
                </a:solidFill>
                <a:latin typeface="Arial"/>
              </a:rPr>
              <a:t>YAML / JSON</a:t>
            </a:r>
          </a:p>
        </p:txBody>
      </p:sp>
      <p:sp>
        <p:nvSpPr>
          <p:cNvPr id="16" name="TextBox 15"/>
          <p:cNvSpPr txBox="1"/>
          <p:nvPr/>
        </p:nvSpPr>
        <p:spPr>
          <a:xfrm>
            <a:off x="1051560" y="4114800"/>
            <a:ext cx="7680960" cy="256032"/>
          </a:xfrm>
          <a:prstGeom prst="rect">
            <a:avLst/>
          </a:prstGeom>
          <a:noFill/>
        </p:spPr>
        <p:txBody>
          <a:bodyPr wrap="square" lIns="0" tIns="0" rIns="0" bIns="0" anchor="t">
            <a:noAutofit/>
          </a:bodyPr>
          <a:lstStyle/>
          <a:p>
            <a:pPr algn="l"/>
            <a:r>
              <a:rPr sz="1150" b="1" i="0">
                <a:solidFill>
                  <a:srgbClr val="4A4A5C"/>
                </a:solidFill>
                <a:latin typeface="Arial"/>
              </a:rPr>
              <a:t>KEY IMPLEMENTATION DECISIONS</a:t>
            </a:r>
          </a:p>
        </p:txBody>
      </p:sp>
      <p:sp>
        <p:nvSpPr>
          <p:cNvPr id="17" name="TextBox 16"/>
          <p:cNvSpPr txBox="1"/>
          <p:nvPr/>
        </p:nvSpPr>
        <p:spPr>
          <a:xfrm>
            <a:off x="1051560" y="4443984"/>
            <a:ext cx="228600" cy="292608"/>
          </a:xfrm>
          <a:prstGeom prst="rect">
            <a:avLst/>
          </a:prstGeom>
          <a:noFill/>
        </p:spPr>
        <p:txBody>
          <a:bodyPr wrap="square" lIns="0" tIns="0" rIns="0" bIns="0" anchor="t">
            <a:noAutofit/>
          </a:bodyPr>
          <a:lstStyle/>
          <a:p>
            <a:pPr algn="l"/>
            <a:r>
              <a:rPr sz="1400" b="1" i="0">
                <a:solidFill>
                  <a:srgbClr val="1200FF"/>
                </a:solidFill>
                <a:latin typeface="Arial"/>
              </a:rPr>
              <a:t>—</a:t>
            </a:r>
          </a:p>
        </p:txBody>
      </p:sp>
      <p:sp>
        <p:nvSpPr>
          <p:cNvPr id="18" name="TextBox 17"/>
          <p:cNvSpPr txBox="1"/>
          <p:nvPr/>
        </p:nvSpPr>
        <p:spPr>
          <a:xfrm>
            <a:off x="1353312" y="4434840"/>
            <a:ext cx="7315200" cy="621792"/>
          </a:xfrm>
          <a:prstGeom prst="rect">
            <a:avLst/>
          </a:prstGeom>
          <a:noFill/>
        </p:spPr>
        <p:txBody>
          <a:bodyPr wrap="square" lIns="0" tIns="0" rIns="0" bIns="0" anchor="t">
            <a:noAutofit/>
          </a:bodyPr>
          <a:lstStyle/>
          <a:p>
            <a:pPr algn="l">
              <a:lnSpc>
                <a:spcPct val="106000"/>
              </a:lnSpc>
            </a:pPr>
            <a:r>
              <a:rPr sz="1420" b="0" i="0">
                <a:solidFill>
                  <a:srgbClr val="10101B"/>
                </a:solidFill>
                <a:latin typeface="Arial"/>
              </a:rPr>
              <a:t>≈16,000 lines of Python + 1,000 lines of C; 734 collected unit tests.</a:t>
            </a:r>
          </a:p>
        </p:txBody>
      </p:sp>
      <p:sp>
        <p:nvSpPr>
          <p:cNvPr id="19" name="TextBox 18"/>
          <p:cNvSpPr txBox="1"/>
          <p:nvPr/>
        </p:nvSpPr>
        <p:spPr>
          <a:xfrm>
            <a:off x="1051560" y="5148072"/>
            <a:ext cx="228600" cy="292608"/>
          </a:xfrm>
          <a:prstGeom prst="rect">
            <a:avLst/>
          </a:prstGeom>
          <a:noFill/>
        </p:spPr>
        <p:txBody>
          <a:bodyPr wrap="square" lIns="0" tIns="0" rIns="0" bIns="0" anchor="t">
            <a:noAutofit/>
          </a:bodyPr>
          <a:lstStyle/>
          <a:p>
            <a:pPr algn="l"/>
            <a:r>
              <a:rPr sz="1400" b="1" i="0">
                <a:solidFill>
                  <a:srgbClr val="1200FF"/>
                </a:solidFill>
                <a:latin typeface="Arial"/>
              </a:rPr>
              <a:t>—</a:t>
            </a:r>
          </a:p>
        </p:txBody>
      </p:sp>
      <p:sp>
        <p:nvSpPr>
          <p:cNvPr id="20" name="TextBox 19"/>
          <p:cNvSpPr txBox="1"/>
          <p:nvPr/>
        </p:nvSpPr>
        <p:spPr>
          <a:xfrm>
            <a:off x="1353312" y="5138928"/>
            <a:ext cx="7315200" cy="621792"/>
          </a:xfrm>
          <a:prstGeom prst="rect">
            <a:avLst/>
          </a:prstGeom>
          <a:noFill/>
        </p:spPr>
        <p:txBody>
          <a:bodyPr wrap="square" lIns="0" tIns="0" rIns="0" bIns="0" anchor="t">
            <a:noAutofit/>
          </a:bodyPr>
          <a:lstStyle/>
          <a:p>
            <a:pPr algn="l">
              <a:lnSpc>
                <a:spcPct val="106000"/>
              </a:lnSpc>
            </a:pPr>
            <a:r>
              <a:rPr sz="1420" b="0" i="0">
                <a:solidFill>
                  <a:srgbClr val="10101B"/>
                </a:solidFill>
                <a:latin typeface="Arial"/>
              </a:rPr>
              <a:t>45-feature contract with fixed order and a loud drift check; RF τ = 0.4.</a:t>
            </a:r>
          </a:p>
        </p:txBody>
      </p:sp>
      <p:sp>
        <p:nvSpPr>
          <p:cNvPr id="21" name="TextBox 20"/>
          <p:cNvSpPr txBox="1"/>
          <p:nvPr/>
        </p:nvSpPr>
        <p:spPr>
          <a:xfrm>
            <a:off x="1051560" y="5852160"/>
            <a:ext cx="228600" cy="292608"/>
          </a:xfrm>
          <a:prstGeom prst="rect">
            <a:avLst/>
          </a:prstGeom>
          <a:noFill/>
        </p:spPr>
        <p:txBody>
          <a:bodyPr wrap="square" lIns="0" tIns="0" rIns="0" bIns="0" anchor="t">
            <a:noAutofit/>
          </a:bodyPr>
          <a:lstStyle/>
          <a:p>
            <a:pPr algn="l"/>
            <a:r>
              <a:rPr sz="1400" b="1" i="0">
                <a:solidFill>
                  <a:srgbClr val="1200FF"/>
                </a:solidFill>
                <a:latin typeface="Arial"/>
              </a:rPr>
              <a:t>—</a:t>
            </a:r>
          </a:p>
        </p:txBody>
      </p:sp>
      <p:sp>
        <p:nvSpPr>
          <p:cNvPr id="22" name="TextBox 21"/>
          <p:cNvSpPr txBox="1"/>
          <p:nvPr/>
        </p:nvSpPr>
        <p:spPr>
          <a:xfrm>
            <a:off x="1353312" y="5843016"/>
            <a:ext cx="7315200" cy="621792"/>
          </a:xfrm>
          <a:prstGeom prst="rect">
            <a:avLst/>
          </a:prstGeom>
          <a:noFill/>
        </p:spPr>
        <p:txBody>
          <a:bodyPr wrap="square" lIns="0" tIns="0" rIns="0" bIns="0" anchor="t">
            <a:noAutofit/>
          </a:bodyPr>
          <a:lstStyle/>
          <a:p>
            <a:pPr algn="l">
              <a:lnSpc>
                <a:spcPct val="106000"/>
              </a:lnSpc>
            </a:pPr>
            <a:r>
              <a:rPr sz="1420" b="0" i="0">
                <a:solidFill>
                  <a:srgbClr val="10101B"/>
                </a:solidFill>
                <a:latin typeface="Arial"/>
              </a:rPr>
              <a:t>Canaries injected through the Docker archive API so paths match the host.</a:t>
            </a:r>
          </a:p>
        </p:txBody>
      </p:sp>
      <p:sp>
        <p:nvSpPr>
          <p:cNvPr id="23" name="TextBox 22"/>
          <p:cNvSpPr txBox="1"/>
          <p:nvPr/>
        </p:nvSpPr>
        <p:spPr>
          <a:xfrm>
            <a:off x="1051560" y="6556248"/>
            <a:ext cx="228600" cy="292608"/>
          </a:xfrm>
          <a:prstGeom prst="rect">
            <a:avLst/>
          </a:prstGeom>
          <a:noFill/>
        </p:spPr>
        <p:txBody>
          <a:bodyPr wrap="square" lIns="0" tIns="0" rIns="0" bIns="0" anchor="t">
            <a:noAutofit/>
          </a:bodyPr>
          <a:lstStyle/>
          <a:p>
            <a:pPr algn="l"/>
            <a:r>
              <a:rPr sz="1400" b="1" i="0">
                <a:solidFill>
                  <a:srgbClr val="1200FF"/>
                </a:solidFill>
                <a:latin typeface="Arial"/>
              </a:rPr>
              <a:t>—</a:t>
            </a:r>
          </a:p>
        </p:txBody>
      </p:sp>
      <p:sp>
        <p:nvSpPr>
          <p:cNvPr id="24" name="TextBox 23"/>
          <p:cNvSpPr txBox="1"/>
          <p:nvPr/>
        </p:nvSpPr>
        <p:spPr>
          <a:xfrm>
            <a:off x="1353312" y="6547104"/>
            <a:ext cx="7315200" cy="621792"/>
          </a:xfrm>
          <a:prstGeom prst="rect">
            <a:avLst/>
          </a:prstGeom>
          <a:noFill/>
        </p:spPr>
        <p:txBody>
          <a:bodyPr wrap="square" lIns="0" tIns="0" rIns="0" bIns="0" anchor="t">
            <a:noAutofit/>
          </a:bodyPr>
          <a:lstStyle/>
          <a:p>
            <a:pPr algn="l">
              <a:lnSpc>
                <a:spcPct val="106000"/>
              </a:lnSpc>
            </a:pPr>
            <a:r>
              <a:rPr sz="1420" b="0" i="0">
                <a:solidFill>
                  <a:srgbClr val="10101B"/>
                </a:solidFill>
                <a:latin typeface="Arial"/>
              </a:rPr>
              <a:t>Four eBPF programs share pinned maps; kill is phase-gated to uid 65534.</a:t>
            </a:r>
          </a:p>
        </p:txBody>
      </p:sp>
      <p:sp>
        <p:nvSpPr>
          <p:cNvPr id="25" name="TextBox 24"/>
          <p:cNvSpPr txBox="1"/>
          <p:nvPr/>
        </p:nvSpPr>
        <p:spPr>
          <a:xfrm>
            <a:off x="1051560" y="7260336"/>
            <a:ext cx="228600" cy="292608"/>
          </a:xfrm>
          <a:prstGeom prst="rect">
            <a:avLst/>
          </a:prstGeom>
          <a:noFill/>
        </p:spPr>
        <p:txBody>
          <a:bodyPr wrap="square" lIns="0" tIns="0" rIns="0" bIns="0" anchor="t">
            <a:noAutofit/>
          </a:bodyPr>
          <a:lstStyle/>
          <a:p>
            <a:pPr algn="l"/>
            <a:r>
              <a:rPr sz="1400" b="1" i="0">
                <a:solidFill>
                  <a:srgbClr val="1200FF"/>
                </a:solidFill>
                <a:latin typeface="Arial"/>
              </a:rPr>
              <a:t>—</a:t>
            </a:r>
          </a:p>
        </p:txBody>
      </p:sp>
      <p:sp>
        <p:nvSpPr>
          <p:cNvPr id="26" name="TextBox 25"/>
          <p:cNvSpPr txBox="1"/>
          <p:nvPr/>
        </p:nvSpPr>
        <p:spPr>
          <a:xfrm>
            <a:off x="1353312" y="7251192"/>
            <a:ext cx="7315200" cy="621792"/>
          </a:xfrm>
          <a:prstGeom prst="rect">
            <a:avLst/>
          </a:prstGeom>
          <a:noFill/>
        </p:spPr>
        <p:txBody>
          <a:bodyPr wrap="square" lIns="0" tIns="0" rIns="0" bIns="0" anchor="t">
            <a:noAutofit/>
          </a:bodyPr>
          <a:lstStyle/>
          <a:p>
            <a:pPr algn="l">
              <a:lnSpc>
                <a:spcPct val="106000"/>
              </a:lnSpc>
            </a:pPr>
            <a:r>
              <a:rPr sz="1420" b="0" i="0">
                <a:solidFill>
                  <a:srgbClr val="10101B"/>
                </a:solidFill>
                <a:latin typeface="Arial"/>
              </a:rPr>
              <a:t>Dynamic decisions serialize the filtered syscall events into JSON evidence.</a:t>
            </a:r>
          </a:p>
        </p:txBody>
      </p:sp>
      <p:sp>
        <p:nvSpPr>
          <p:cNvPr id="31" name="Rounded Rectangle 30"/>
          <p:cNvSpPr/>
          <p:nvPr/>
        </p:nvSpPr>
        <p:spPr>
          <a:xfrm>
            <a:off x="9281160" y="6053328"/>
            <a:ext cx="7973568" cy="1700784"/>
          </a:xfrm>
          <a:prstGeom prst="roundRect">
            <a:avLst>
              <a:gd name="adj" fmla="val 3500"/>
            </a:avLst>
          </a:prstGeom>
          <a:solidFill>
            <a:srgbClr val="F4F5FC"/>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32" name="TextBox 31"/>
          <p:cNvSpPr txBox="1"/>
          <p:nvPr/>
        </p:nvSpPr>
        <p:spPr>
          <a:xfrm>
            <a:off x="9509760" y="6181344"/>
            <a:ext cx="7498079" cy="256032"/>
          </a:xfrm>
          <a:prstGeom prst="rect">
            <a:avLst/>
          </a:prstGeom>
          <a:noFill/>
        </p:spPr>
        <p:txBody>
          <a:bodyPr wrap="square" lIns="0" tIns="0" rIns="0" bIns="0" anchor="t">
            <a:noAutofit/>
          </a:bodyPr>
          <a:lstStyle/>
          <a:p>
            <a:pPr algn="l"/>
            <a:r>
              <a:rPr sz="1150" b="1" i="0">
                <a:solidFill>
                  <a:srgbClr val="4A4A5C"/>
                </a:solidFill>
                <a:latin typeface="Arial"/>
              </a:rPr>
              <a:t>NARROW KILL CONTRACT</a:t>
            </a:r>
          </a:p>
        </p:txBody>
      </p:sp>
      <p:sp>
        <p:nvSpPr>
          <p:cNvPr id="33" name="TextBox 32"/>
          <p:cNvSpPr txBox="1"/>
          <p:nvPr/>
        </p:nvSpPr>
        <p:spPr>
          <a:xfrm>
            <a:off x="9509760" y="6528816"/>
            <a:ext cx="201168" cy="237744"/>
          </a:xfrm>
          <a:prstGeom prst="rect">
            <a:avLst/>
          </a:prstGeom>
          <a:noFill/>
        </p:spPr>
        <p:txBody>
          <a:bodyPr wrap="square" lIns="0" tIns="0" rIns="0" bIns="0" anchor="t">
            <a:noAutofit/>
          </a:bodyPr>
          <a:lstStyle/>
          <a:p>
            <a:pPr algn="l"/>
            <a:r>
              <a:rPr sz="1200" b="1" i="0">
                <a:solidFill>
                  <a:srgbClr val="1200FF"/>
                </a:solidFill>
                <a:latin typeface="Arial"/>
              </a:rPr>
              <a:t>•</a:t>
            </a:r>
          </a:p>
        </p:txBody>
      </p:sp>
      <p:sp>
        <p:nvSpPr>
          <p:cNvPr id="34" name="TextBox 33"/>
          <p:cNvSpPr txBox="1"/>
          <p:nvPr/>
        </p:nvSpPr>
        <p:spPr>
          <a:xfrm>
            <a:off x="9765792" y="6510528"/>
            <a:ext cx="7132320" cy="329184"/>
          </a:xfrm>
          <a:prstGeom prst="rect">
            <a:avLst/>
          </a:prstGeom>
          <a:noFill/>
        </p:spPr>
        <p:txBody>
          <a:bodyPr wrap="square" lIns="0" tIns="0" rIns="0" bIns="0" anchor="t">
            <a:noAutofit/>
          </a:bodyPr>
          <a:lstStyle/>
          <a:p>
            <a:pPr algn="l"/>
            <a:r>
              <a:rPr sz="1300" b="0" i="0">
                <a:solidFill>
                  <a:srgbClr val="10101B"/>
                </a:solidFill>
                <a:latin typeface="Arial"/>
              </a:rPr>
              <a:t>Install phase only</a:t>
            </a:r>
          </a:p>
        </p:txBody>
      </p:sp>
      <p:sp>
        <p:nvSpPr>
          <p:cNvPr id="35" name="TextBox 34"/>
          <p:cNvSpPr txBox="1"/>
          <p:nvPr/>
        </p:nvSpPr>
        <p:spPr>
          <a:xfrm>
            <a:off x="9509760" y="6894576"/>
            <a:ext cx="201168" cy="237744"/>
          </a:xfrm>
          <a:prstGeom prst="rect">
            <a:avLst/>
          </a:prstGeom>
          <a:noFill/>
        </p:spPr>
        <p:txBody>
          <a:bodyPr wrap="square" lIns="0" tIns="0" rIns="0" bIns="0" anchor="t">
            <a:noAutofit/>
          </a:bodyPr>
          <a:lstStyle/>
          <a:p>
            <a:pPr algn="l"/>
            <a:r>
              <a:rPr sz="1200" b="1" i="0">
                <a:solidFill>
                  <a:srgbClr val="1200FF"/>
                </a:solidFill>
                <a:latin typeface="Arial"/>
              </a:rPr>
              <a:t>•</a:t>
            </a:r>
          </a:p>
        </p:txBody>
      </p:sp>
      <p:sp>
        <p:nvSpPr>
          <p:cNvPr id="36" name="TextBox 35"/>
          <p:cNvSpPr txBox="1"/>
          <p:nvPr/>
        </p:nvSpPr>
        <p:spPr>
          <a:xfrm>
            <a:off x="9765792" y="6876288"/>
            <a:ext cx="7132320" cy="329184"/>
          </a:xfrm>
          <a:prstGeom prst="rect">
            <a:avLst/>
          </a:prstGeom>
          <a:noFill/>
        </p:spPr>
        <p:txBody>
          <a:bodyPr wrap="square" lIns="0" tIns="0" rIns="0" bIns="0" anchor="t">
            <a:noAutofit/>
          </a:bodyPr>
          <a:lstStyle/>
          <a:p>
            <a:pPr algn="l"/>
            <a:r>
              <a:rPr sz="1300" b="0" i="0">
                <a:solidFill>
                  <a:srgbClr val="10101B"/>
                </a:solidFill>
                <a:latin typeface="Arial"/>
              </a:rPr>
              <a:t>Kill-marked access only</a:t>
            </a:r>
          </a:p>
        </p:txBody>
      </p:sp>
      <p:sp>
        <p:nvSpPr>
          <p:cNvPr id="37" name="TextBox 36"/>
          <p:cNvSpPr txBox="1"/>
          <p:nvPr/>
        </p:nvSpPr>
        <p:spPr>
          <a:xfrm>
            <a:off x="9509760" y="7260336"/>
            <a:ext cx="201168" cy="237744"/>
          </a:xfrm>
          <a:prstGeom prst="rect">
            <a:avLst/>
          </a:prstGeom>
          <a:noFill/>
        </p:spPr>
        <p:txBody>
          <a:bodyPr wrap="square" lIns="0" tIns="0" rIns="0" bIns="0" anchor="t">
            <a:noAutofit/>
          </a:bodyPr>
          <a:lstStyle/>
          <a:p>
            <a:pPr algn="l"/>
            <a:r>
              <a:rPr sz="1200" b="1" i="0">
                <a:solidFill>
                  <a:srgbClr val="1200FF"/>
                </a:solidFill>
                <a:latin typeface="Arial"/>
              </a:rPr>
              <a:t>•</a:t>
            </a:r>
          </a:p>
        </p:txBody>
      </p:sp>
      <p:sp>
        <p:nvSpPr>
          <p:cNvPr id="38" name="TextBox 37"/>
          <p:cNvSpPr txBox="1"/>
          <p:nvPr/>
        </p:nvSpPr>
        <p:spPr>
          <a:xfrm>
            <a:off x="9765792" y="7242048"/>
            <a:ext cx="7132320" cy="329184"/>
          </a:xfrm>
          <a:prstGeom prst="rect">
            <a:avLst/>
          </a:prstGeom>
          <a:noFill/>
        </p:spPr>
        <p:txBody>
          <a:bodyPr wrap="square" lIns="0" tIns="0" rIns="0" bIns="0" anchor="t">
            <a:noAutofit/>
          </a:bodyPr>
          <a:lstStyle/>
          <a:p>
            <a:pPr algn="l"/>
            <a:r>
              <a:rPr sz="1300" b="0" i="0">
                <a:solidFill>
                  <a:srgbClr val="10101B"/>
                </a:solidFill>
                <a:latin typeface="Arial"/>
              </a:rPr>
              <a:t>Untrusted uid 65534 only</a:t>
            </a:r>
          </a:p>
        </p:txBody>
      </p:sp>
      <p:sp>
        <p:nvSpPr>
          <p:cNvPr id="39" name="TextBox 38"/>
          <p:cNvSpPr txBox="1"/>
          <p:nvPr/>
        </p:nvSpPr>
        <p:spPr>
          <a:xfrm>
            <a:off x="1051560" y="7991856"/>
            <a:ext cx="6949440" cy="256032"/>
          </a:xfrm>
          <a:prstGeom prst="rect">
            <a:avLst/>
          </a:prstGeom>
          <a:noFill/>
        </p:spPr>
        <p:txBody>
          <a:bodyPr wrap="square" lIns="0" tIns="0" rIns="0" bIns="0" anchor="t">
            <a:spAutoFit/>
          </a:bodyPr>
          <a:lstStyle/>
          <a:p>
            <a:pPr algn="l">
              <a:lnSpc>
                <a:spcPct val="100000"/>
              </a:lnSpc>
              <a:spcBef>
                <a:spcPts val="0"/>
              </a:spcBef>
              <a:spcAft>
                <a:spcPts val="0"/>
              </a:spcAft>
            </a:pPr>
            <a:r>
              <a:rPr sz="1050" b="0" i="0">
                <a:solidFill>
                  <a:srgbClr val="5C677D"/>
                </a:solidFill>
                <a:latin typeface="Arial"/>
              </a:rPr>
              <a:t>Reproducibility: frozen feature order · provenance sidecar · JSON evidence · released scripts.</a:t>
            </a:r>
          </a:p>
        </p:txBody>
      </p:sp>
      <p:pic>
        <p:nvPicPr>
          <p:cNvPr id="43" name="Picture 42">
            <a:extLst>
              <a:ext uri="{FF2B5EF4-FFF2-40B4-BE49-F238E27FC236}">
                <a16:creationId xmlns:a16="http://schemas.microsoft.com/office/drawing/2014/main" id="{8BCDCDD9-26E9-B85F-78E6-065083B1C21E}"/>
              </a:ext>
            </a:extLst>
          </p:cNvPr>
          <p:cNvPicPr>
            <a:picLocks noChangeAspect="1"/>
          </p:cNvPicPr>
          <p:nvPr/>
        </p:nvPicPr>
        <p:blipFill>
          <a:blip r:embed="rId4"/>
          <a:stretch>
            <a:fillRect/>
          </a:stretch>
        </p:blipFill>
        <p:spPr>
          <a:xfrm>
            <a:off x="9372602" y="859536"/>
            <a:ext cx="7863838" cy="494554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09 — EXPERIMENTAL SETUP</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Experimental Setup &amp; Data</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13 / 22</a:t>
            </a:r>
          </a:p>
        </p:txBody>
      </p:sp>
      <p:graphicFrame>
        <p:nvGraphicFramePr>
          <p:cNvPr id="9" name="Table 8"/>
          <p:cNvGraphicFramePr>
            <a:graphicFrameLocks noGrp="1"/>
          </p:cNvGraphicFramePr>
          <p:nvPr/>
        </p:nvGraphicFramePr>
        <p:xfrm>
          <a:off x="1051560" y="2542032"/>
          <a:ext cx="8915400" cy="4700016"/>
        </p:xfrm>
        <a:graphic>
          <a:graphicData uri="http://schemas.openxmlformats.org/drawingml/2006/table">
            <a:tbl>
              <a:tblPr firstRow="1"/>
              <a:tblGrid>
                <a:gridCol w="19659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4663440">
                  <a:extLst>
                    <a:ext uri="{9D8B030D-6E8A-4147-A177-3AD203B41FA5}">
                      <a16:colId xmlns:a16="http://schemas.microsoft.com/office/drawing/2014/main" val="20004"/>
                    </a:ext>
                  </a:extLst>
                </a:gridCol>
              </a:tblGrid>
              <a:tr h="420624">
                <a:tc>
                  <a:txBody>
                    <a:bodyPr/>
                    <a:lstStyle/>
                    <a:p>
                      <a:pPr algn="l"/>
                      <a:r>
                        <a:rPr sz="980" b="1">
                          <a:solidFill>
                            <a:srgbClr val="FFFFFF"/>
                          </a:solidFill>
                          <a:latin typeface="Arial"/>
                        </a:rPr>
                        <a:t>CORPUS</a:t>
                      </a:r>
                    </a:p>
                  </a:txBody>
                  <a:tcPr marL="68580" marR="68580" marT="18288" marB="18288" anchor="ctr">
                    <a:lnB w="8255" cap="flat" cmpd="sng" algn="ctr">
                      <a:solidFill>
                        <a:srgbClr val="E1E3F0"/>
                      </a:solidFill>
                      <a:prstDash val="solid"/>
                    </a:lnB>
                    <a:solidFill>
                      <a:srgbClr val="10101B"/>
                    </a:solidFill>
                  </a:tcPr>
                </a:tc>
                <a:tc>
                  <a:txBody>
                    <a:bodyPr/>
                    <a:lstStyle/>
                    <a:p>
                      <a:pPr algn="ctr"/>
                      <a:r>
                        <a:rPr sz="980" b="1">
                          <a:solidFill>
                            <a:srgbClr val="FFFFFF"/>
                          </a:solidFill>
                          <a:latin typeface="Arial"/>
                        </a:rPr>
                        <a:t>BEN</a:t>
                      </a:r>
                    </a:p>
                  </a:txBody>
                  <a:tcPr marL="68580" marR="68580" marT="18288" marB="18288" anchor="ctr">
                    <a:lnB w="8255" cap="flat" cmpd="sng" algn="ctr">
                      <a:solidFill>
                        <a:srgbClr val="E1E3F0"/>
                      </a:solidFill>
                      <a:prstDash val="solid"/>
                    </a:lnB>
                    <a:solidFill>
                      <a:srgbClr val="10101B"/>
                    </a:solidFill>
                  </a:tcPr>
                </a:tc>
                <a:tc>
                  <a:txBody>
                    <a:bodyPr/>
                    <a:lstStyle/>
                    <a:p>
                      <a:pPr algn="ctr"/>
                      <a:r>
                        <a:rPr sz="980" b="1">
                          <a:solidFill>
                            <a:srgbClr val="FFFFFF"/>
                          </a:solidFill>
                          <a:latin typeface="Arial"/>
                        </a:rPr>
                        <a:t>MAL</a:t>
                      </a:r>
                    </a:p>
                  </a:txBody>
                  <a:tcPr marL="68580" marR="68580" marT="18288" marB="18288" anchor="ctr">
                    <a:lnB w="8255" cap="flat" cmpd="sng" algn="ctr">
                      <a:solidFill>
                        <a:srgbClr val="E1E3F0"/>
                      </a:solidFill>
                      <a:prstDash val="solid"/>
                    </a:lnB>
                    <a:solidFill>
                      <a:srgbClr val="10101B"/>
                    </a:solidFill>
                  </a:tcPr>
                </a:tc>
                <a:tc>
                  <a:txBody>
                    <a:bodyPr/>
                    <a:lstStyle/>
                    <a:p>
                      <a:pPr algn="ctr"/>
                      <a:r>
                        <a:rPr sz="980" b="1">
                          <a:solidFill>
                            <a:srgbClr val="FFFFFF"/>
                          </a:solidFill>
                          <a:latin typeface="Arial"/>
                        </a:rPr>
                        <a:t>TOTAL</a:t>
                      </a:r>
                    </a:p>
                  </a:txBody>
                  <a:tcPr marL="68580" marR="68580" marT="18288" marB="18288" anchor="ctr">
                    <a:lnB w="8255" cap="flat" cmpd="sng" algn="ctr">
                      <a:solidFill>
                        <a:srgbClr val="E1E3F0"/>
                      </a:solidFill>
                      <a:prstDash val="solid"/>
                    </a:lnB>
                    <a:solidFill>
                      <a:srgbClr val="10101B"/>
                    </a:solidFill>
                  </a:tcPr>
                </a:tc>
                <a:tc>
                  <a:txBody>
                    <a:bodyPr/>
                    <a:lstStyle/>
                    <a:p>
                      <a:pPr algn="l"/>
                      <a:r>
                        <a:rPr sz="980" b="1">
                          <a:solidFill>
                            <a:srgbClr val="FFFFFF"/>
                          </a:solidFill>
                          <a:latin typeface="Arial"/>
                        </a:rPr>
                        <a:t>EVIDENTIAL ROLE</a:t>
                      </a:r>
                    </a:p>
                  </a:txBody>
                  <a:tcPr marL="68580" marR="68580" marT="18288" marB="18288" anchor="ctr">
                    <a:lnB w="8255" cap="flat" cmpd="sng" algn="ctr">
                      <a:solidFill>
                        <a:srgbClr val="E1E3F0"/>
                      </a:solidFill>
                      <a:prstDash val="solid"/>
                    </a:lnB>
                    <a:solidFill>
                      <a:srgbClr val="10101B"/>
                    </a:solidFill>
                  </a:tcPr>
                </a:tc>
                <a:extLst>
                  <a:ext uri="{0D108BD9-81ED-4DB2-BD59-A6C34878D82A}">
                    <a16:rowId xmlns:a16="http://schemas.microsoft.com/office/drawing/2014/main" val="10000"/>
                  </a:ext>
                </a:extLst>
              </a:tr>
              <a:tr h="713232">
                <a:tc>
                  <a:txBody>
                    <a:bodyPr/>
                    <a:lstStyle/>
                    <a:p>
                      <a:pPr algn="l"/>
                      <a:r>
                        <a:rPr sz="1280" b="1">
                          <a:solidFill>
                            <a:srgbClr val="10101B"/>
                          </a:solidFill>
                          <a:latin typeface="Arial"/>
                        </a:rPr>
                        <a:t>PoC</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280" b="0">
                          <a:solidFill>
                            <a:srgbClr val="10101B"/>
                          </a:solidFill>
                          <a:latin typeface="Arial"/>
                        </a:rPr>
                        <a:t>14</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280" b="0">
                          <a:solidFill>
                            <a:srgbClr val="10101B"/>
                          </a:solidFill>
                          <a:latin typeface="Arial"/>
                        </a:rPr>
                        <a:t>5</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280" b="0">
                          <a:solidFill>
                            <a:srgbClr val="10101B"/>
                          </a:solidFill>
                          <a:latin typeface="Arial"/>
                        </a:rPr>
                        <a:t>19</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l"/>
                      <a:r>
                        <a:rPr sz="1280" b="0">
                          <a:solidFill>
                            <a:srgbClr val="10101B"/>
                          </a:solidFill>
                          <a:latin typeface="Arial"/>
                        </a:rPr>
                        <a:t>Layer coverage; ablation</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extLst>
                  <a:ext uri="{0D108BD9-81ED-4DB2-BD59-A6C34878D82A}">
                    <a16:rowId xmlns:a16="http://schemas.microsoft.com/office/drawing/2014/main" val="10001"/>
                  </a:ext>
                </a:extLst>
              </a:tr>
              <a:tr h="713232">
                <a:tc>
                  <a:txBody>
                    <a:bodyPr/>
                    <a:lstStyle/>
                    <a:p>
                      <a:pPr algn="l"/>
                      <a:r>
                        <a:rPr sz="1280" b="1">
                          <a:solidFill>
                            <a:srgbClr val="10101B"/>
                          </a:solidFill>
                          <a:latin typeface="Arial"/>
                        </a:rPr>
                        <a:t>q2 real-world</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E8ECFF"/>
                    </a:solidFill>
                  </a:tcPr>
                </a:tc>
                <a:tc>
                  <a:txBody>
                    <a:bodyPr/>
                    <a:lstStyle/>
                    <a:p>
                      <a:pPr algn="ctr"/>
                      <a:r>
                        <a:rPr sz="1280" b="1">
                          <a:solidFill>
                            <a:srgbClr val="10101B"/>
                          </a:solidFill>
                          <a:latin typeface="Arial"/>
                        </a:rPr>
                        <a:t>293</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E8ECFF"/>
                    </a:solidFill>
                  </a:tcPr>
                </a:tc>
                <a:tc>
                  <a:txBody>
                    <a:bodyPr/>
                    <a:lstStyle/>
                    <a:p>
                      <a:pPr algn="ctr"/>
                      <a:r>
                        <a:rPr sz="1280" b="1">
                          <a:solidFill>
                            <a:srgbClr val="10101B"/>
                          </a:solidFill>
                          <a:latin typeface="Arial"/>
                        </a:rPr>
                        <a:t>64</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E8ECFF"/>
                    </a:solidFill>
                  </a:tcPr>
                </a:tc>
                <a:tc>
                  <a:txBody>
                    <a:bodyPr/>
                    <a:lstStyle/>
                    <a:p>
                      <a:pPr algn="ctr"/>
                      <a:r>
                        <a:rPr sz="1280" b="1">
                          <a:solidFill>
                            <a:srgbClr val="10101B"/>
                          </a:solidFill>
                          <a:latin typeface="Arial"/>
                        </a:rPr>
                        <a:t>357</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E8ECFF"/>
                    </a:solidFill>
                  </a:tcPr>
                </a:tc>
                <a:tc>
                  <a:txBody>
                    <a:bodyPr/>
                    <a:lstStyle/>
                    <a:p>
                      <a:pPr algn="l"/>
                      <a:r>
                        <a:rPr sz="1280" b="1">
                          <a:solidFill>
                            <a:srgbClr val="10101B"/>
                          </a:solidFill>
                          <a:latin typeface="Arial"/>
                        </a:rPr>
                        <a:t>Main baseline comparison</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E8ECFF"/>
                    </a:solidFill>
                  </a:tcPr>
                </a:tc>
                <a:extLst>
                  <a:ext uri="{0D108BD9-81ED-4DB2-BD59-A6C34878D82A}">
                    <a16:rowId xmlns:a16="http://schemas.microsoft.com/office/drawing/2014/main" val="10002"/>
                  </a:ext>
                </a:extLst>
              </a:tr>
              <a:tr h="713232">
                <a:tc>
                  <a:txBody>
                    <a:bodyPr/>
                    <a:lstStyle/>
                    <a:p>
                      <a:pPr algn="l"/>
                      <a:r>
                        <a:rPr sz="1280" b="1">
                          <a:solidFill>
                            <a:srgbClr val="10101B"/>
                          </a:solidFill>
                          <a:latin typeface="Arial"/>
                        </a:rPr>
                        <a:t>Mutation</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280" b="0">
                          <a:solidFill>
                            <a:srgbClr val="10101B"/>
                          </a:solidFill>
                          <a:latin typeface="Arial"/>
                        </a:rPr>
                        <a: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280" b="0">
                          <a:solidFill>
                            <a:srgbClr val="10101B"/>
                          </a:solidFill>
                          <a:latin typeface="Arial"/>
                        </a:rPr>
                        <a:t>78</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280" b="0">
                          <a:solidFill>
                            <a:srgbClr val="10101B"/>
                          </a:solidFill>
                          <a:latin typeface="Arial"/>
                        </a:rPr>
                        <a:t>78</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l"/>
                      <a:r>
                        <a:rPr sz="1280" b="0">
                          <a:solidFill>
                            <a:srgbClr val="10101B"/>
                          </a:solidFill>
                          <a:latin typeface="Arial"/>
                        </a:rPr>
                        <a:t>Hook-evasion robustness</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extLst>
                  <a:ext uri="{0D108BD9-81ED-4DB2-BD59-A6C34878D82A}">
                    <a16:rowId xmlns:a16="http://schemas.microsoft.com/office/drawing/2014/main" val="10003"/>
                  </a:ext>
                </a:extLst>
              </a:tr>
              <a:tr h="713232">
                <a:tc>
                  <a:txBody>
                    <a:bodyPr/>
                    <a:lstStyle/>
                    <a:p>
                      <a:pPr algn="l"/>
                      <a:r>
                        <a:rPr sz="1280" b="1">
                          <a:solidFill>
                            <a:srgbClr val="10101B"/>
                          </a:solidFill>
                          <a:latin typeface="Arial"/>
                        </a:rPr>
                        <a:t>Guo holdout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280" b="0">
                          <a:solidFill>
                            <a:srgbClr val="10101B"/>
                          </a:solidFill>
                          <a:latin typeface="Arial"/>
                        </a:rPr>
                        <a:t>2,064</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280" b="0">
                          <a:solidFill>
                            <a:srgbClr val="10101B"/>
                          </a:solidFill>
                          <a:latin typeface="Arial"/>
                        </a:rPr>
                        <a:t>146</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280" b="0">
                          <a:solidFill>
                            <a:srgbClr val="10101B"/>
                          </a:solidFill>
                          <a:latin typeface="Arial"/>
                        </a:rPr>
                        <a:t>2,210</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l"/>
                      <a:r>
                        <a:rPr sz="1280" b="0">
                          <a:solidFill>
                            <a:srgbClr val="10101B"/>
                          </a:solidFill>
                          <a:latin typeface="Arial"/>
                        </a:rPr>
                        <a:t>Large real-world comparison</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extLst>
                  <a:ext uri="{0D108BD9-81ED-4DB2-BD59-A6C34878D82A}">
                    <a16:rowId xmlns:a16="http://schemas.microsoft.com/office/drawing/2014/main" val="10004"/>
                  </a:ext>
                </a:extLst>
              </a:tr>
              <a:tr h="713232">
                <a:tc>
                  <a:txBody>
                    <a:bodyPr/>
                    <a:lstStyle/>
                    <a:p>
                      <a:pPr algn="l"/>
                      <a:r>
                        <a:rPr sz="1280" b="1">
                          <a:solidFill>
                            <a:srgbClr val="10101B"/>
                          </a:solidFill>
                          <a:latin typeface="Arial"/>
                        </a:rPr>
                        <a:t>Medium</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280" b="0">
                          <a:solidFill>
                            <a:srgbClr val="10101B"/>
                          </a:solidFill>
                          <a:latin typeface="Arial"/>
                        </a:rPr>
                        <a:t>150</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280" b="0">
                          <a:solidFill>
                            <a:srgbClr val="10101B"/>
                          </a:solidFill>
                          <a:latin typeface="Arial"/>
                        </a:rPr>
                        <a:t>150</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280" b="0">
                          <a:solidFill>
                            <a:srgbClr val="10101B"/>
                          </a:solidFill>
                          <a:latin typeface="Arial"/>
                        </a:rPr>
                        <a:t>300</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l"/>
                      <a:r>
                        <a:rPr sz="1280" b="0">
                          <a:solidFill>
                            <a:srgbClr val="10101B"/>
                          </a:solidFill>
                          <a:latin typeface="Arial"/>
                        </a:rPr>
                        <a:t>In-distribution end-to-end check</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extLst>
                  <a:ext uri="{0D108BD9-81ED-4DB2-BD59-A6C34878D82A}">
                    <a16:rowId xmlns:a16="http://schemas.microsoft.com/office/drawing/2014/main" val="10005"/>
                  </a:ext>
                </a:extLst>
              </a:tr>
              <a:tr h="713232">
                <a:tc>
                  <a:txBody>
                    <a:bodyPr/>
                    <a:lstStyle/>
                    <a:p>
                      <a:pPr algn="l"/>
                      <a:r>
                        <a:rPr sz="1280" b="1" dirty="0">
                          <a:solidFill>
                            <a:srgbClr val="10101B"/>
                          </a:solidFill>
                          <a:latin typeface="Arial"/>
                        </a:rPr>
                        <a:t>Generated</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280" b="0">
                          <a:solidFill>
                            <a:srgbClr val="10101B"/>
                          </a:solidFill>
                          <a:latin typeface="Arial"/>
                        </a:rPr>
                        <a:t>800</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280" b="0">
                          <a:solidFill>
                            <a:srgbClr val="10101B"/>
                          </a:solidFill>
                          <a:latin typeface="Arial"/>
                        </a:rPr>
                        <a:t>5,000</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280" b="0">
                          <a:solidFill>
                            <a:srgbClr val="10101B"/>
                          </a:solidFill>
                          <a:latin typeface="Arial"/>
                        </a:rPr>
                        <a:t>5,800</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l"/>
                      <a:r>
                        <a:rPr sz="1280" b="0" dirty="0">
                          <a:solidFill>
                            <a:srgbClr val="10101B"/>
                          </a:solidFill>
                          <a:latin typeface="Arial"/>
                        </a:rPr>
                        <a:t>Static regression only</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1051560" y="7351775"/>
            <a:ext cx="8778240" cy="502920"/>
          </a:xfrm>
          <a:prstGeom prst="rect">
            <a:avLst/>
          </a:prstGeom>
          <a:noFill/>
        </p:spPr>
        <p:txBody>
          <a:bodyPr wrap="square" lIns="0" tIns="0" rIns="0" bIns="0" anchor="t">
            <a:noAutofit/>
          </a:bodyPr>
          <a:lstStyle/>
          <a:p>
            <a:pPr algn="l"/>
            <a:r>
              <a:rPr sz="1100" b="0" i="1" dirty="0">
                <a:solidFill>
                  <a:srgbClr val="D95D45"/>
                </a:solidFill>
                <a:latin typeface="Arial"/>
              </a:rPr>
              <a:t>Generated corpora are regression-only. q2 malicious labels: </a:t>
            </a:r>
            <a:r>
              <a:rPr sz="1100" b="0" i="1" dirty="0" err="1">
                <a:solidFill>
                  <a:srgbClr val="D95D45"/>
                </a:solidFill>
                <a:latin typeface="Arial"/>
              </a:rPr>
              <a:t>OpenSSF</a:t>
            </a:r>
            <a:r>
              <a:rPr sz="1100" b="0" i="1" dirty="0">
                <a:solidFill>
                  <a:srgbClr val="D95D45"/>
                </a:solidFill>
                <a:latin typeface="Arial"/>
              </a:rPr>
              <a:t> [3]; Guo split: [1].</a:t>
            </a:r>
          </a:p>
        </p:txBody>
      </p:sp>
      <p:sp>
        <p:nvSpPr>
          <p:cNvPr id="11" name="TextBox 10"/>
          <p:cNvSpPr txBox="1"/>
          <p:nvPr/>
        </p:nvSpPr>
        <p:spPr>
          <a:xfrm>
            <a:off x="10287000" y="2487168"/>
            <a:ext cx="6858000" cy="256032"/>
          </a:xfrm>
          <a:prstGeom prst="rect">
            <a:avLst/>
          </a:prstGeom>
          <a:noFill/>
        </p:spPr>
        <p:txBody>
          <a:bodyPr wrap="square" lIns="0" tIns="0" rIns="0" bIns="0" anchor="t">
            <a:noAutofit/>
          </a:bodyPr>
          <a:lstStyle/>
          <a:p>
            <a:pPr algn="l"/>
            <a:r>
              <a:rPr sz="1150" b="1" i="0">
                <a:solidFill>
                  <a:srgbClr val="4A4A5C"/>
                </a:solidFill>
                <a:latin typeface="Arial"/>
              </a:rPr>
              <a:t>PROTOCOL</a:t>
            </a:r>
          </a:p>
        </p:txBody>
      </p:sp>
      <p:sp>
        <p:nvSpPr>
          <p:cNvPr id="12" name="TextBox 11"/>
          <p:cNvSpPr txBox="1"/>
          <p:nvPr/>
        </p:nvSpPr>
        <p:spPr>
          <a:xfrm>
            <a:off x="10287000" y="2798064"/>
            <a:ext cx="201168" cy="256032"/>
          </a:xfrm>
          <a:prstGeom prst="rect">
            <a:avLst/>
          </a:prstGeom>
          <a:noFill/>
        </p:spPr>
        <p:txBody>
          <a:bodyPr wrap="square" lIns="0" tIns="0" rIns="0" bIns="0" anchor="t">
            <a:noAutofit/>
          </a:bodyPr>
          <a:lstStyle/>
          <a:p>
            <a:pPr algn="l"/>
            <a:r>
              <a:rPr sz="1300" b="1" i="0">
                <a:solidFill>
                  <a:srgbClr val="1200FF"/>
                </a:solidFill>
                <a:latin typeface="Arial"/>
              </a:rPr>
              <a:t>•</a:t>
            </a:r>
          </a:p>
        </p:txBody>
      </p:sp>
      <p:sp>
        <p:nvSpPr>
          <p:cNvPr id="13" name="TextBox 12"/>
          <p:cNvSpPr txBox="1"/>
          <p:nvPr/>
        </p:nvSpPr>
        <p:spPr>
          <a:xfrm>
            <a:off x="10533888" y="2779776"/>
            <a:ext cx="6537960" cy="384048"/>
          </a:xfrm>
          <a:prstGeom prst="rect">
            <a:avLst/>
          </a:prstGeom>
          <a:noFill/>
        </p:spPr>
        <p:txBody>
          <a:bodyPr wrap="square" lIns="0" tIns="0" rIns="0" bIns="0" anchor="t">
            <a:noAutofit/>
          </a:bodyPr>
          <a:lstStyle/>
          <a:p>
            <a:pPr algn="l">
              <a:lnSpc>
                <a:spcPct val="102000"/>
              </a:lnSpc>
            </a:pPr>
            <a:r>
              <a:rPr sz="1260" b="0" i="0">
                <a:solidFill>
                  <a:srgbClr val="10101B"/>
                </a:solidFill>
                <a:latin typeface="Arial"/>
              </a:rPr>
              <a:t>Same tarballs for every tool; baselines re-measured offline.</a:t>
            </a:r>
          </a:p>
        </p:txBody>
      </p:sp>
      <p:sp>
        <p:nvSpPr>
          <p:cNvPr id="14" name="TextBox 13"/>
          <p:cNvSpPr txBox="1"/>
          <p:nvPr/>
        </p:nvSpPr>
        <p:spPr>
          <a:xfrm>
            <a:off x="10287000" y="3191256"/>
            <a:ext cx="201168" cy="256032"/>
          </a:xfrm>
          <a:prstGeom prst="rect">
            <a:avLst/>
          </a:prstGeom>
          <a:noFill/>
        </p:spPr>
        <p:txBody>
          <a:bodyPr wrap="square" lIns="0" tIns="0" rIns="0" bIns="0" anchor="t">
            <a:noAutofit/>
          </a:bodyPr>
          <a:lstStyle/>
          <a:p>
            <a:pPr algn="l"/>
            <a:r>
              <a:rPr sz="1300" b="1" i="0">
                <a:solidFill>
                  <a:srgbClr val="1200FF"/>
                </a:solidFill>
                <a:latin typeface="Arial"/>
              </a:rPr>
              <a:t>•</a:t>
            </a:r>
          </a:p>
        </p:txBody>
      </p:sp>
      <p:sp>
        <p:nvSpPr>
          <p:cNvPr id="15" name="TextBox 14"/>
          <p:cNvSpPr txBox="1"/>
          <p:nvPr/>
        </p:nvSpPr>
        <p:spPr>
          <a:xfrm>
            <a:off x="10533888" y="3172968"/>
            <a:ext cx="6537960" cy="384048"/>
          </a:xfrm>
          <a:prstGeom prst="rect">
            <a:avLst/>
          </a:prstGeom>
          <a:noFill/>
        </p:spPr>
        <p:txBody>
          <a:bodyPr wrap="square" lIns="0" tIns="0" rIns="0" bIns="0" anchor="t">
            <a:noAutofit/>
          </a:bodyPr>
          <a:lstStyle/>
          <a:p>
            <a:pPr algn="l">
              <a:lnSpc>
                <a:spcPct val="102000"/>
              </a:lnSpc>
            </a:pPr>
            <a:r>
              <a:rPr sz="1260" b="0" i="0">
                <a:solidFill>
                  <a:srgbClr val="10101B"/>
                </a:solidFill>
                <a:latin typeface="Arial"/>
              </a:rPr>
              <a:t>Registry-dependent metadata rules excluded on both sides.</a:t>
            </a:r>
          </a:p>
        </p:txBody>
      </p:sp>
      <p:sp>
        <p:nvSpPr>
          <p:cNvPr id="16" name="TextBox 15"/>
          <p:cNvSpPr txBox="1"/>
          <p:nvPr/>
        </p:nvSpPr>
        <p:spPr>
          <a:xfrm>
            <a:off x="10287000" y="3584448"/>
            <a:ext cx="201168" cy="256032"/>
          </a:xfrm>
          <a:prstGeom prst="rect">
            <a:avLst/>
          </a:prstGeom>
          <a:noFill/>
        </p:spPr>
        <p:txBody>
          <a:bodyPr wrap="square" lIns="0" tIns="0" rIns="0" bIns="0" anchor="t">
            <a:noAutofit/>
          </a:bodyPr>
          <a:lstStyle/>
          <a:p>
            <a:pPr algn="l"/>
            <a:r>
              <a:rPr sz="1300" b="1" i="0">
                <a:solidFill>
                  <a:srgbClr val="1200FF"/>
                </a:solidFill>
                <a:latin typeface="Arial"/>
              </a:rPr>
              <a:t>•</a:t>
            </a:r>
          </a:p>
        </p:txBody>
      </p:sp>
      <p:sp>
        <p:nvSpPr>
          <p:cNvPr id="17" name="TextBox 16"/>
          <p:cNvSpPr txBox="1"/>
          <p:nvPr/>
        </p:nvSpPr>
        <p:spPr>
          <a:xfrm>
            <a:off x="10533888" y="3566160"/>
            <a:ext cx="6537960" cy="384048"/>
          </a:xfrm>
          <a:prstGeom prst="rect">
            <a:avLst/>
          </a:prstGeom>
          <a:noFill/>
        </p:spPr>
        <p:txBody>
          <a:bodyPr wrap="square" lIns="0" tIns="0" rIns="0" bIns="0" anchor="t">
            <a:noAutofit/>
          </a:bodyPr>
          <a:lstStyle/>
          <a:p>
            <a:pPr algn="l">
              <a:lnSpc>
                <a:spcPct val="102000"/>
              </a:lnSpc>
            </a:pPr>
            <a:r>
              <a:rPr sz="1260" b="0" i="0">
                <a:solidFill>
                  <a:srgbClr val="10101B"/>
                </a:solidFill>
                <a:latin typeface="Arial"/>
              </a:rPr>
              <a:t>HookGuard flags MALICIOUS or SUSPICIOUS; GuardDog strict vs alert.</a:t>
            </a:r>
          </a:p>
        </p:txBody>
      </p:sp>
      <p:sp>
        <p:nvSpPr>
          <p:cNvPr id="18" name="TextBox 17"/>
          <p:cNvSpPr txBox="1"/>
          <p:nvPr/>
        </p:nvSpPr>
        <p:spPr>
          <a:xfrm>
            <a:off x="10287000" y="4133087"/>
            <a:ext cx="6858000" cy="256032"/>
          </a:xfrm>
          <a:prstGeom prst="rect">
            <a:avLst/>
          </a:prstGeom>
          <a:noFill/>
        </p:spPr>
        <p:txBody>
          <a:bodyPr wrap="square" lIns="0" tIns="0" rIns="0" bIns="0" anchor="t">
            <a:noAutofit/>
          </a:bodyPr>
          <a:lstStyle/>
          <a:p>
            <a:pPr algn="l"/>
            <a:r>
              <a:rPr sz="1150" b="1" i="0">
                <a:solidFill>
                  <a:srgbClr val="4A4A5C"/>
                </a:solidFill>
                <a:latin typeface="Arial"/>
              </a:rPr>
              <a:t>METRICS</a:t>
            </a:r>
          </a:p>
        </p:txBody>
      </p:sp>
      <p:sp>
        <p:nvSpPr>
          <p:cNvPr id="19" name="TextBox 18"/>
          <p:cNvSpPr txBox="1"/>
          <p:nvPr/>
        </p:nvSpPr>
        <p:spPr>
          <a:xfrm>
            <a:off x="10287000" y="4425696"/>
            <a:ext cx="6766560" cy="658368"/>
          </a:xfrm>
          <a:prstGeom prst="rect">
            <a:avLst/>
          </a:prstGeom>
          <a:noFill/>
        </p:spPr>
        <p:txBody>
          <a:bodyPr wrap="square" lIns="0" tIns="0" rIns="0" bIns="0" anchor="t">
            <a:noAutofit/>
          </a:bodyPr>
          <a:lstStyle/>
          <a:p>
            <a:pPr algn="l">
              <a:lnSpc>
                <a:spcPct val="105000"/>
              </a:lnSpc>
            </a:pPr>
            <a:r>
              <a:rPr sz="1340" b="0" i="0">
                <a:solidFill>
                  <a:srgbClr val="10101B"/>
                </a:solidFill>
                <a:latin typeface="Arial"/>
              </a:rPr>
              <a:t>TPR · FPR · precision · F1 · average precision · Wilson 95% CI · exact McNemar · runtime.</a:t>
            </a:r>
          </a:p>
        </p:txBody>
      </p:sp>
      <p:sp>
        <p:nvSpPr>
          <p:cNvPr id="20" name="TextBox 19"/>
          <p:cNvSpPr txBox="1"/>
          <p:nvPr/>
        </p:nvSpPr>
        <p:spPr>
          <a:xfrm>
            <a:off x="10287000" y="5230368"/>
            <a:ext cx="6858000" cy="256032"/>
          </a:xfrm>
          <a:prstGeom prst="rect">
            <a:avLst/>
          </a:prstGeom>
          <a:noFill/>
        </p:spPr>
        <p:txBody>
          <a:bodyPr wrap="square" lIns="0" tIns="0" rIns="0" bIns="0" anchor="t">
            <a:noAutofit/>
          </a:bodyPr>
          <a:lstStyle/>
          <a:p>
            <a:pPr algn="l"/>
            <a:r>
              <a:rPr sz="1150" b="1" i="0">
                <a:solidFill>
                  <a:srgbClr val="4A4A5C"/>
                </a:solidFill>
                <a:latin typeface="Arial"/>
              </a:rPr>
              <a:t>BASELINES</a:t>
            </a:r>
          </a:p>
        </p:txBody>
      </p:sp>
      <p:sp>
        <p:nvSpPr>
          <p:cNvPr id="21" name="TextBox 20"/>
          <p:cNvSpPr txBox="1"/>
          <p:nvPr/>
        </p:nvSpPr>
        <p:spPr>
          <a:xfrm>
            <a:off x="10287000" y="5522976"/>
            <a:ext cx="6766560" cy="566928"/>
          </a:xfrm>
          <a:prstGeom prst="rect">
            <a:avLst/>
          </a:prstGeom>
          <a:noFill/>
        </p:spPr>
        <p:txBody>
          <a:bodyPr wrap="square" lIns="0" tIns="0" rIns="0" bIns="0" anchor="t">
            <a:noAutofit/>
          </a:bodyPr>
          <a:lstStyle/>
          <a:p>
            <a:pPr algn="l">
              <a:lnSpc>
                <a:spcPct val="105000"/>
              </a:lnSpc>
            </a:pPr>
            <a:r>
              <a:rPr sz="1320" b="0" i="0">
                <a:solidFill>
                  <a:srgbClr val="10101B"/>
                </a:solidFill>
                <a:latin typeface="Arial"/>
              </a:rPr>
              <a:t>GuardDog 3.2.0 · Packj static · OSSGadget 0.2.20 · Docker+strace pilot.</a:t>
            </a:r>
          </a:p>
        </p:txBody>
      </p:sp>
      <p:sp>
        <p:nvSpPr>
          <p:cNvPr id="22" name="TextBox 21"/>
          <p:cNvSpPr txBox="1"/>
          <p:nvPr/>
        </p:nvSpPr>
        <p:spPr>
          <a:xfrm>
            <a:off x="10287000" y="6272784"/>
            <a:ext cx="6858000" cy="256032"/>
          </a:xfrm>
          <a:prstGeom prst="rect">
            <a:avLst/>
          </a:prstGeom>
          <a:noFill/>
        </p:spPr>
        <p:txBody>
          <a:bodyPr wrap="square" lIns="0" tIns="0" rIns="0" bIns="0" anchor="t">
            <a:noAutofit/>
          </a:bodyPr>
          <a:lstStyle/>
          <a:p>
            <a:pPr algn="l"/>
            <a:r>
              <a:rPr sz="1150" b="1" i="0">
                <a:solidFill>
                  <a:srgbClr val="4A4A5C"/>
                </a:solidFill>
                <a:latin typeface="Arial"/>
              </a:rPr>
              <a:t>ENVIRONMENT</a:t>
            </a:r>
          </a:p>
        </p:txBody>
      </p:sp>
      <p:sp>
        <p:nvSpPr>
          <p:cNvPr id="23" name="TextBox 22"/>
          <p:cNvSpPr txBox="1"/>
          <p:nvPr/>
        </p:nvSpPr>
        <p:spPr>
          <a:xfrm>
            <a:off x="10287000" y="6565392"/>
            <a:ext cx="6812280" cy="960120"/>
          </a:xfrm>
          <a:prstGeom prst="rect">
            <a:avLst/>
          </a:prstGeom>
          <a:noFill/>
        </p:spPr>
        <p:txBody>
          <a:bodyPr wrap="square" lIns="0" tIns="0" rIns="0" bIns="0" anchor="t">
            <a:noAutofit/>
          </a:bodyPr>
          <a:lstStyle/>
          <a:p>
            <a:pPr algn="l">
              <a:lnSpc>
                <a:spcPct val="104000"/>
              </a:lnSpc>
            </a:pPr>
            <a:r>
              <a:rPr sz="1220" b="0" i="0">
                <a:solidFill>
                  <a:srgbClr val="10101B"/>
                </a:solidFill>
                <a:latin typeface="Arial"/>
              </a:rPr>
              <a:t>Linux 6.8 · Docker 24.0 · BCC 0.29. Re-verified on Linux 7.0.12 · Docker 28.5.2 · BCC 0.35. Timing from one 10-core host.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10 — RESULTS &amp; ANALYSIS</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Results: Ablation &amp; PoC</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14 / 22</a:t>
            </a:r>
          </a:p>
        </p:txBody>
      </p:sp>
      <p:sp>
        <p:nvSpPr>
          <p:cNvPr id="9" name="Rounded Rectangle 8"/>
          <p:cNvSpPr/>
          <p:nvPr/>
        </p:nvSpPr>
        <p:spPr>
          <a:xfrm>
            <a:off x="1051560" y="2304288"/>
            <a:ext cx="5212080" cy="1170432"/>
          </a:xfrm>
          <a:prstGeom prst="roundRect">
            <a:avLst>
              <a:gd name="adj" fmla="val 8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0" name="Rectangle 9"/>
          <p:cNvSpPr/>
          <p:nvPr/>
        </p:nvSpPr>
        <p:spPr>
          <a:xfrm>
            <a:off x="1051560" y="2304288"/>
            <a:ext cx="64008" cy="1170432"/>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1" name="TextBox 10"/>
          <p:cNvSpPr txBox="1"/>
          <p:nvPr/>
        </p:nvSpPr>
        <p:spPr>
          <a:xfrm>
            <a:off x="1252728" y="2414016"/>
            <a:ext cx="4919472" cy="502920"/>
          </a:xfrm>
          <a:prstGeom prst="rect">
            <a:avLst/>
          </a:prstGeom>
          <a:noFill/>
        </p:spPr>
        <p:txBody>
          <a:bodyPr wrap="square" lIns="0" tIns="0" rIns="0" bIns="0" anchor="t">
            <a:noAutofit/>
          </a:bodyPr>
          <a:lstStyle/>
          <a:p>
            <a:pPr algn="l"/>
            <a:r>
              <a:rPr sz="2700" b="1" i="0">
                <a:solidFill>
                  <a:srgbClr val="1200FF"/>
                </a:solidFill>
                <a:latin typeface="Arial"/>
              </a:rPr>
              <a:t>100%</a:t>
            </a:r>
          </a:p>
        </p:txBody>
      </p:sp>
      <p:sp>
        <p:nvSpPr>
          <p:cNvPr id="12" name="TextBox 11"/>
          <p:cNvSpPr txBox="1"/>
          <p:nvPr/>
        </p:nvSpPr>
        <p:spPr>
          <a:xfrm>
            <a:off x="1252728" y="2916936"/>
            <a:ext cx="4919472" cy="512064"/>
          </a:xfrm>
          <a:prstGeom prst="rect">
            <a:avLst/>
          </a:prstGeom>
          <a:noFill/>
        </p:spPr>
        <p:txBody>
          <a:bodyPr wrap="square" lIns="0" tIns="0" rIns="0" bIns="0" anchor="t">
            <a:noAutofit/>
          </a:bodyPr>
          <a:lstStyle/>
          <a:p>
            <a:pPr algn="l">
              <a:lnSpc>
                <a:spcPct val="100000"/>
              </a:lnSpc>
            </a:pPr>
            <a:r>
              <a:rPr sz="1150" b="0" i="0">
                <a:solidFill>
                  <a:srgbClr val="4A4A5C"/>
                </a:solidFill>
                <a:latin typeface="Arial"/>
              </a:rPr>
              <a:t>PoC detection (5/5 malicious)</a:t>
            </a:r>
          </a:p>
        </p:txBody>
      </p:sp>
      <p:sp>
        <p:nvSpPr>
          <p:cNvPr id="13" name="Rounded Rectangle 12"/>
          <p:cNvSpPr/>
          <p:nvPr/>
        </p:nvSpPr>
        <p:spPr>
          <a:xfrm>
            <a:off x="6556248" y="2304288"/>
            <a:ext cx="5212080" cy="1170432"/>
          </a:xfrm>
          <a:prstGeom prst="roundRect">
            <a:avLst>
              <a:gd name="adj" fmla="val 8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4" name="Rectangle 13"/>
          <p:cNvSpPr/>
          <p:nvPr/>
        </p:nvSpPr>
        <p:spPr>
          <a:xfrm>
            <a:off x="6556248" y="2304288"/>
            <a:ext cx="64008" cy="1170432"/>
          </a:xfrm>
          <a:prstGeom prst="rect">
            <a:avLst/>
          </a:prstGeom>
          <a:solidFill>
            <a:srgbClr val="D95D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5" name="TextBox 14"/>
          <p:cNvSpPr txBox="1"/>
          <p:nvPr/>
        </p:nvSpPr>
        <p:spPr>
          <a:xfrm>
            <a:off x="6757416" y="2414016"/>
            <a:ext cx="4919472" cy="502920"/>
          </a:xfrm>
          <a:prstGeom prst="rect">
            <a:avLst/>
          </a:prstGeom>
          <a:noFill/>
        </p:spPr>
        <p:txBody>
          <a:bodyPr wrap="square" lIns="0" tIns="0" rIns="0" bIns="0" anchor="t">
            <a:noAutofit/>
          </a:bodyPr>
          <a:lstStyle/>
          <a:p>
            <a:pPr algn="l"/>
            <a:r>
              <a:rPr sz="2700" b="1" i="0">
                <a:solidFill>
                  <a:srgbClr val="D95D45"/>
                </a:solidFill>
                <a:latin typeface="Arial"/>
              </a:rPr>
              <a:t>7.1%</a:t>
            </a:r>
          </a:p>
        </p:txBody>
      </p:sp>
      <p:sp>
        <p:nvSpPr>
          <p:cNvPr id="16" name="TextBox 15"/>
          <p:cNvSpPr txBox="1"/>
          <p:nvPr/>
        </p:nvSpPr>
        <p:spPr>
          <a:xfrm>
            <a:off x="6757416" y="2916936"/>
            <a:ext cx="4919472" cy="512064"/>
          </a:xfrm>
          <a:prstGeom prst="rect">
            <a:avLst/>
          </a:prstGeom>
          <a:noFill/>
        </p:spPr>
        <p:txBody>
          <a:bodyPr wrap="square" lIns="0" tIns="0" rIns="0" bIns="0" anchor="t">
            <a:noAutofit/>
          </a:bodyPr>
          <a:lstStyle/>
          <a:p>
            <a:pPr algn="l">
              <a:lnSpc>
                <a:spcPct val="100000"/>
              </a:lnSpc>
            </a:pPr>
            <a:r>
              <a:rPr sz="1150" b="0" i="0">
                <a:solidFill>
                  <a:srgbClr val="4A4A5C"/>
                </a:solidFill>
                <a:latin typeface="Arial"/>
              </a:rPr>
              <a:t>PoC false-positive rate (1/14)</a:t>
            </a:r>
          </a:p>
        </p:txBody>
      </p:sp>
      <p:sp>
        <p:nvSpPr>
          <p:cNvPr id="17" name="Rounded Rectangle 16"/>
          <p:cNvSpPr/>
          <p:nvPr/>
        </p:nvSpPr>
        <p:spPr>
          <a:xfrm>
            <a:off x="12060936" y="2304288"/>
            <a:ext cx="5212080" cy="1170432"/>
          </a:xfrm>
          <a:prstGeom prst="roundRect">
            <a:avLst>
              <a:gd name="adj" fmla="val 8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8" name="Rectangle 17"/>
          <p:cNvSpPr/>
          <p:nvPr/>
        </p:nvSpPr>
        <p:spPr>
          <a:xfrm>
            <a:off x="12060936" y="2304288"/>
            <a:ext cx="64008" cy="11704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9" name="TextBox 18"/>
          <p:cNvSpPr txBox="1"/>
          <p:nvPr/>
        </p:nvSpPr>
        <p:spPr>
          <a:xfrm>
            <a:off x="12262104" y="2414016"/>
            <a:ext cx="4919472" cy="502920"/>
          </a:xfrm>
          <a:prstGeom prst="rect">
            <a:avLst/>
          </a:prstGeom>
          <a:noFill/>
        </p:spPr>
        <p:txBody>
          <a:bodyPr wrap="square" lIns="0" tIns="0" rIns="0" bIns="0" anchor="t">
            <a:noAutofit/>
          </a:bodyPr>
          <a:lstStyle/>
          <a:p>
            <a:pPr algn="l"/>
            <a:r>
              <a:rPr sz="2700" b="1" i="0">
                <a:solidFill>
                  <a:srgbClr val="0E7C86"/>
                </a:solidFill>
                <a:latin typeface="Arial"/>
              </a:rPr>
              <a:t>98.7%</a:t>
            </a:r>
          </a:p>
        </p:txBody>
      </p:sp>
      <p:sp>
        <p:nvSpPr>
          <p:cNvPr id="20" name="TextBox 19"/>
          <p:cNvSpPr txBox="1"/>
          <p:nvPr/>
        </p:nvSpPr>
        <p:spPr>
          <a:xfrm>
            <a:off x="12262104" y="2916936"/>
            <a:ext cx="4919472" cy="512064"/>
          </a:xfrm>
          <a:prstGeom prst="rect">
            <a:avLst/>
          </a:prstGeom>
          <a:noFill/>
        </p:spPr>
        <p:txBody>
          <a:bodyPr wrap="square" lIns="0" tIns="0" rIns="0" bIns="0" anchor="t">
            <a:noAutofit/>
          </a:bodyPr>
          <a:lstStyle/>
          <a:p>
            <a:pPr algn="l">
              <a:lnSpc>
                <a:spcPct val="100000"/>
              </a:lnSpc>
            </a:pPr>
            <a:r>
              <a:rPr sz="1150" b="0" i="0">
                <a:solidFill>
                  <a:srgbClr val="4A4A5C"/>
                </a:solidFill>
                <a:latin typeface="Arial"/>
              </a:rPr>
              <a:t>recall on 78 hook mutants</a:t>
            </a:r>
          </a:p>
        </p:txBody>
      </p:sp>
      <p:graphicFrame>
        <p:nvGraphicFramePr>
          <p:cNvPr id="21" name="Chart 20"/>
          <p:cNvGraphicFramePr>
            <a:graphicFrameLocks noGrp="1"/>
          </p:cNvGraphicFramePr>
          <p:nvPr/>
        </p:nvGraphicFramePr>
        <p:xfrm>
          <a:off x="1051560" y="3794760"/>
          <a:ext cx="7818120" cy="4160520"/>
        </p:xfrm>
        <a:graphic>
          <a:graphicData uri="http://schemas.openxmlformats.org/drawingml/2006/chart">
            <c:chart xmlns:c="http://schemas.openxmlformats.org/drawingml/2006/chart" xmlns:r="http://schemas.openxmlformats.org/officeDocument/2006/relationships" r:id="rId4"/>
          </a:graphicData>
        </a:graphic>
      </p:graphicFrame>
      <p:sp>
        <p:nvSpPr>
          <p:cNvPr id="22" name="TextBox 21"/>
          <p:cNvSpPr txBox="1"/>
          <p:nvPr/>
        </p:nvSpPr>
        <p:spPr>
          <a:xfrm>
            <a:off x="1051560" y="3584448"/>
            <a:ext cx="7680960" cy="237744"/>
          </a:xfrm>
          <a:prstGeom prst="rect">
            <a:avLst/>
          </a:prstGeom>
          <a:noFill/>
        </p:spPr>
        <p:txBody>
          <a:bodyPr wrap="square" lIns="0" tIns="0" rIns="0" bIns="0" anchor="t">
            <a:noAutofit/>
          </a:bodyPr>
          <a:lstStyle/>
          <a:p>
            <a:pPr algn="l"/>
            <a:r>
              <a:rPr sz="1250" b="1" i="0">
                <a:solidFill>
                  <a:srgbClr val="4A4A5C"/>
                </a:solidFill>
                <a:latin typeface="Arial"/>
              </a:rPr>
              <a:t>Proof-of-concept corpus: detection vs. false positives</a:t>
            </a:r>
          </a:p>
        </p:txBody>
      </p:sp>
      <p:sp>
        <p:nvSpPr>
          <p:cNvPr id="23" name="TextBox 22"/>
          <p:cNvSpPr txBox="1"/>
          <p:nvPr/>
        </p:nvSpPr>
        <p:spPr>
          <a:xfrm>
            <a:off x="1051560" y="7991856"/>
            <a:ext cx="7680960" cy="256032"/>
          </a:xfrm>
          <a:prstGeom prst="rect">
            <a:avLst/>
          </a:prstGeom>
          <a:noFill/>
        </p:spPr>
        <p:txBody>
          <a:bodyPr wrap="square" lIns="0" tIns="0" rIns="0" bIns="0" anchor="t">
            <a:noAutofit/>
          </a:bodyPr>
          <a:lstStyle/>
          <a:p>
            <a:pPr algn="l"/>
            <a:r>
              <a:rPr sz="950" b="0" i="1">
                <a:solidFill>
                  <a:srgbClr val="4A4A5C"/>
                </a:solidFill>
                <a:latin typeface="Arial"/>
              </a:rPr>
              <a:t>5 malicious / 14 benign. Detection counts only MALICIOUS; FPR counts MALICIOUS or SUSPICIOUS.</a:t>
            </a:r>
          </a:p>
        </p:txBody>
      </p:sp>
      <p:sp>
        <p:nvSpPr>
          <p:cNvPr id="24" name="Rounded Rectangle 23"/>
          <p:cNvSpPr/>
          <p:nvPr/>
        </p:nvSpPr>
        <p:spPr>
          <a:xfrm>
            <a:off x="9189720" y="3794760"/>
            <a:ext cx="8065008" cy="4160520"/>
          </a:xfrm>
          <a:prstGeom prst="roundRect">
            <a:avLst>
              <a:gd name="adj" fmla="val 3500"/>
            </a:avLst>
          </a:prstGeom>
          <a:solidFill>
            <a:srgbClr val="F4F5FC"/>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5" name="TextBox 24"/>
          <p:cNvSpPr txBox="1"/>
          <p:nvPr/>
        </p:nvSpPr>
        <p:spPr>
          <a:xfrm>
            <a:off x="9436608" y="3931920"/>
            <a:ext cx="7498079" cy="292608"/>
          </a:xfrm>
          <a:prstGeom prst="rect">
            <a:avLst/>
          </a:prstGeom>
          <a:noFill/>
        </p:spPr>
        <p:txBody>
          <a:bodyPr wrap="square" lIns="0" tIns="0" rIns="0" bIns="0" anchor="t">
            <a:noAutofit/>
          </a:bodyPr>
          <a:lstStyle/>
          <a:p>
            <a:pPr algn="l"/>
            <a:r>
              <a:rPr sz="1150" b="1" i="0">
                <a:solidFill>
                  <a:srgbClr val="4A4A5C"/>
                </a:solidFill>
                <a:latin typeface="Arial"/>
              </a:rPr>
              <a:t>WHAT THE ABLATION SHOWS</a:t>
            </a:r>
          </a:p>
        </p:txBody>
      </p:sp>
      <p:sp>
        <p:nvSpPr>
          <p:cNvPr id="26" name="TextBox 25"/>
          <p:cNvSpPr txBox="1"/>
          <p:nvPr/>
        </p:nvSpPr>
        <p:spPr>
          <a:xfrm>
            <a:off x="9436608" y="4297680"/>
            <a:ext cx="201168" cy="256032"/>
          </a:xfrm>
          <a:prstGeom prst="rect">
            <a:avLst/>
          </a:prstGeom>
          <a:noFill/>
        </p:spPr>
        <p:txBody>
          <a:bodyPr wrap="square" lIns="0" tIns="0" rIns="0" bIns="0" anchor="t">
            <a:noAutofit/>
          </a:bodyPr>
          <a:lstStyle/>
          <a:p>
            <a:pPr algn="l"/>
            <a:r>
              <a:rPr sz="1200" b="1" i="0">
                <a:solidFill>
                  <a:srgbClr val="1200FF"/>
                </a:solidFill>
                <a:latin typeface="Arial"/>
              </a:rPr>
              <a:t>•</a:t>
            </a:r>
          </a:p>
        </p:txBody>
      </p:sp>
      <p:sp>
        <p:nvSpPr>
          <p:cNvPr id="27" name="TextBox 26"/>
          <p:cNvSpPr txBox="1"/>
          <p:nvPr/>
        </p:nvSpPr>
        <p:spPr>
          <a:xfrm>
            <a:off x="9674352" y="4279392"/>
            <a:ext cx="7315200" cy="640080"/>
          </a:xfrm>
          <a:prstGeom prst="rect">
            <a:avLst/>
          </a:prstGeom>
          <a:noFill/>
        </p:spPr>
        <p:txBody>
          <a:bodyPr wrap="square" lIns="0" tIns="0" rIns="0" bIns="0" anchor="t">
            <a:noAutofit/>
          </a:bodyPr>
          <a:lstStyle/>
          <a:p>
            <a:pPr algn="l">
              <a:lnSpc>
                <a:spcPct val="100000"/>
              </a:lnSpc>
            </a:pPr>
            <a:r>
              <a:rPr sz="1240" b="0" i="0">
                <a:solidFill>
                  <a:srgbClr val="10101B"/>
                </a:solidFill>
                <a:latin typeface="Arial"/>
              </a:rPr>
              <a:t>Static only: catches 2/5 malicious but flags 9/14 benign.</a:t>
            </a:r>
          </a:p>
        </p:txBody>
      </p:sp>
      <p:sp>
        <p:nvSpPr>
          <p:cNvPr id="28" name="TextBox 27"/>
          <p:cNvSpPr txBox="1"/>
          <p:nvPr/>
        </p:nvSpPr>
        <p:spPr>
          <a:xfrm>
            <a:off x="9436608" y="4974336"/>
            <a:ext cx="201168" cy="256032"/>
          </a:xfrm>
          <a:prstGeom prst="rect">
            <a:avLst/>
          </a:prstGeom>
          <a:noFill/>
        </p:spPr>
        <p:txBody>
          <a:bodyPr wrap="square" lIns="0" tIns="0" rIns="0" bIns="0" anchor="t">
            <a:noAutofit/>
          </a:bodyPr>
          <a:lstStyle/>
          <a:p>
            <a:pPr algn="l"/>
            <a:r>
              <a:rPr sz="1200" b="1" i="0">
                <a:solidFill>
                  <a:srgbClr val="1200FF"/>
                </a:solidFill>
                <a:latin typeface="Arial"/>
              </a:rPr>
              <a:t>•</a:t>
            </a:r>
          </a:p>
        </p:txBody>
      </p:sp>
      <p:sp>
        <p:nvSpPr>
          <p:cNvPr id="29" name="TextBox 28"/>
          <p:cNvSpPr txBox="1"/>
          <p:nvPr/>
        </p:nvSpPr>
        <p:spPr>
          <a:xfrm>
            <a:off x="9674352" y="4956048"/>
            <a:ext cx="7315200" cy="640080"/>
          </a:xfrm>
          <a:prstGeom prst="rect">
            <a:avLst/>
          </a:prstGeom>
          <a:noFill/>
        </p:spPr>
        <p:txBody>
          <a:bodyPr wrap="square" lIns="0" tIns="0" rIns="0" bIns="0" anchor="t">
            <a:noAutofit/>
          </a:bodyPr>
          <a:lstStyle/>
          <a:p>
            <a:pPr algn="l">
              <a:lnSpc>
                <a:spcPct val="100000"/>
              </a:lnSpc>
            </a:pPr>
            <a:r>
              <a:rPr sz="1240" b="0" i="0">
                <a:solidFill>
                  <a:srgbClr val="10101B"/>
                </a:solidFill>
                <a:latin typeface="Arial"/>
              </a:rPr>
              <a:t>ML only: catches 3/5 at 0 FPR — but its training leakage is disclosed.</a:t>
            </a:r>
          </a:p>
        </p:txBody>
      </p:sp>
      <p:sp>
        <p:nvSpPr>
          <p:cNvPr id="30" name="TextBox 29"/>
          <p:cNvSpPr txBox="1"/>
          <p:nvPr/>
        </p:nvSpPr>
        <p:spPr>
          <a:xfrm>
            <a:off x="9436608" y="5650992"/>
            <a:ext cx="201168" cy="256032"/>
          </a:xfrm>
          <a:prstGeom prst="rect">
            <a:avLst/>
          </a:prstGeom>
          <a:noFill/>
        </p:spPr>
        <p:txBody>
          <a:bodyPr wrap="square" lIns="0" tIns="0" rIns="0" bIns="0" anchor="t">
            <a:noAutofit/>
          </a:bodyPr>
          <a:lstStyle/>
          <a:p>
            <a:pPr algn="l"/>
            <a:r>
              <a:rPr sz="1200" b="1" i="0">
                <a:solidFill>
                  <a:srgbClr val="1200FF"/>
                </a:solidFill>
                <a:latin typeface="Arial"/>
              </a:rPr>
              <a:t>•</a:t>
            </a:r>
          </a:p>
        </p:txBody>
      </p:sp>
      <p:sp>
        <p:nvSpPr>
          <p:cNvPr id="31" name="TextBox 30"/>
          <p:cNvSpPr txBox="1"/>
          <p:nvPr/>
        </p:nvSpPr>
        <p:spPr>
          <a:xfrm>
            <a:off x="9674352" y="5632704"/>
            <a:ext cx="7315200" cy="640080"/>
          </a:xfrm>
          <a:prstGeom prst="rect">
            <a:avLst/>
          </a:prstGeom>
          <a:noFill/>
        </p:spPr>
        <p:txBody>
          <a:bodyPr wrap="square" lIns="0" tIns="0" rIns="0" bIns="0" anchor="t">
            <a:noAutofit/>
          </a:bodyPr>
          <a:lstStyle/>
          <a:p>
            <a:pPr algn="l">
              <a:lnSpc>
                <a:spcPct val="100000"/>
              </a:lnSpc>
            </a:pPr>
            <a:r>
              <a:rPr sz="1240" b="0" i="0">
                <a:solidFill>
                  <a:srgbClr val="10101B"/>
                </a:solidFill>
                <a:latin typeface="Arial"/>
              </a:rPr>
              <a:t>Full pipeline: catches 5/5 at 1/14 FPR; dynamic layers catch the two concatenated-command Linux samples.</a:t>
            </a:r>
          </a:p>
        </p:txBody>
      </p:sp>
      <p:sp>
        <p:nvSpPr>
          <p:cNvPr id="32" name="TextBox 31"/>
          <p:cNvSpPr txBox="1"/>
          <p:nvPr/>
        </p:nvSpPr>
        <p:spPr>
          <a:xfrm>
            <a:off x="9436608" y="6327648"/>
            <a:ext cx="201168" cy="256032"/>
          </a:xfrm>
          <a:prstGeom prst="rect">
            <a:avLst/>
          </a:prstGeom>
          <a:noFill/>
        </p:spPr>
        <p:txBody>
          <a:bodyPr wrap="square" lIns="0" tIns="0" rIns="0" bIns="0" anchor="t">
            <a:noAutofit/>
          </a:bodyPr>
          <a:lstStyle/>
          <a:p>
            <a:pPr algn="l"/>
            <a:r>
              <a:rPr sz="1200" b="1" i="0">
                <a:solidFill>
                  <a:srgbClr val="1200FF"/>
                </a:solidFill>
                <a:latin typeface="Arial"/>
              </a:rPr>
              <a:t>•</a:t>
            </a:r>
          </a:p>
        </p:txBody>
      </p:sp>
      <p:sp>
        <p:nvSpPr>
          <p:cNvPr id="33" name="TextBox 32"/>
          <p:cNvSpPr txBox="1"/>
          <p:nvPr/>
        </p:nvSpPr>
        <p:spPr>
          <a:xfrm>
            <a:off x="9674352" y="6309360"/>
            <a:ext cx="7315200" cy="640080"/>
          </a:xfrm>
          <a:prstGeom prst="rect">
            <a:avLst/>
          </a:prstGeom>
          <a:noFill/>
        </p:spPr>
        <p:txBody>
          <a:bodyPr wrap="square" lIns="0" tIns="0" rIns="0" bIns="0" anchor="t">
            <a:noAutofit/>
          </a:bodyPr>
          <a:lstStyle/>
          <a:p>
            <a:pPr algn="l">
              <a:lnSpc>
                <a:spcPct val="100000"/>
              </a:lnSpc>
            </a:pPr>
            <a:r>
              <a:rPr sz="1240" b="0" i="0">
                <a:solidFill>
                  <a:srgbClr val="10101B"/>
                </a:solidFill>
                <a:latin typeface="Arial"/>
              </a:rPr>
              <a:t>The single FP: esbuild downloads and runs a native binary — a genuine capability/intent ambiguity.</a:t>
            </a:r>
          </a:p>
        </p:txBody>
      </p:sp>
      <p:sp>
        <p:nvSpPr>
          <p:cNvPr id="34" name="TextBox 33"/>
          <p:cNvSpPr txBox="1"/>
          <p:nvPr/>
        </p:nvSpPr>
        <p:spPr>
          <a:xfrm>
            <a:off x="9436608" y="7004304"/>
            <a:ext cx="201168" cy="256032"/>
          </a:xfrm>
          <a:prstGeom prst="rect">
            <a:avLst/>
          </a:prstGeom>
          <a:noFill/>
        </p:spPr>
        <p:txBody>
          <a:bodyPr wrap="square" lIns="0" tIns="0" rIns="0" bIns="0" anchor="t">
            <a:noAutofit/>
          </a:bodyPr>
          <a:lstStyle/>
          <a:p>
            <a:pPr algn="l"/>
            <a:r>
              <a:rPr sz="1200" b="1" i="0">
                <a:solidFill>
                  <a:srgbClr val="1200FF"/>
                </a:solidFill>
                <a:latin typeface="Arial"/>
              </a:rPr>
              <a:t>•</a:t>
            </a:r>
          </a:p>
        </p:txBody>
      </p:sp>
      <p:sp>
        <p:nvSpPr>
          <p:cNvPr id="35" name="TextBox 34"/>
          <p:cNvSpPr txBox="1"/>
          <p:nvPr/>
        </p:nvSpPr>
        <p:spPr>
          <a:xfrm>
            <a:off x="9674352" y="6986016"/>
            <a:ext cx="7315200" cy="640080"/>
          </a:xfrm>
          <a:prstGeom prst="rect">
            <a:avLst/>
          </a:prstGeom>
          <a:noFill/>
        </p:spPr>
        <p:txBody>
          <a:bodyPr wrap="square" lIns="0" tIns="0" rIns="0" bIns="0" anchor="t">
            <a:noAutofit/>
          </a:bodyPr>
          <a:lstStyle/>
          <a:p>
            <a:pPr algn="l">
              <a:lnSpc>
                <a:spcPct val="100000"/>
              </a:lnSpc>
            </a:pPr>
            <a:r>
              <a:rPr sz="1240" b="0" i="0">
                <a:solidFill>
                  <a:srgbClr val="10101B"/>
                </a:solidFill>
                <a:latin typeface="Arial"/>
              </a:rPr>
              <a:t>Read ML rows: as indicative, not as an operating point.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10 — REAL-WORLD RESULTS</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Results: Real-World Corpora</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15 / 22</a:t>
            </a:r>
          </a:p>
        </p:txBody>
      </p:sp>
      <p:graphicFrame>
        <p:nvGraphicFramePr>
          <p:cNvPr id="9" name="Table 8"/>
          <p:cNvGraphicFramePr>
            <a:graphicFrameLocks noGrp="1"/>
          </p:cNvGraphicFramePr>
          <p:nvPr/>
        </p:nvGraphicFramePr>
        <p:xfrm>
          <a:off x="1051560" y="2240280"/>
          <a:ext cx="11475720" cy="4544568"/>
        </p:xfrm>
        <a:graphic>
          <a:graphicData uri="http://schemas.openxmlformats.org/drawingml/2006/table">
            <a:tbl>
              <a:tblPr firstRow="1"/>
              <a:tblGrid>
                <a:gridCol w="141732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28803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tblGrid>
              <a:tr h="384048">
                <a:tc>
                  <a:txBody>
                    <a:bodyPr/>
                    <a:lstStyle/>
                    <a:p>
                      <a:pPr algn="l"/>
                      <a:r>
                        <a:rPr sz="880" b="1">
                          <a:solidFill>
                            <a:srgbClr val="FFFFFF"/>
                          </a:solidFill>
                          <a:latin typeface="Arial"/>
                        </a:rPr>
                        <a:t>CORPUS</a:t>
                      </a:r>
                    </a:p>
                  </a:txBody>
                  <a:tcPr marL="68580" marR="68580" marT="18288" marB="18288" anchor="ctr">
                    <a:lnB w="8255" cap="flat" cmpd="sng" algn="ctr">
                      <a:solidFill>
                        <a:srgbClr val="E1E3F0"/>
                      </a:solidFill>
                      <a:prstDash val="solid"/>
                    </a:lnB>
                    <a:solidFill>
                      <a:srgbClr val="10101B"/>
                    </a:solidFill>
                  </a:tcPr>
                </a:tc>
                <a:tc>
                  <a:txBody>
                    <a:bodyPr/>
                    <a:lstStyle/>
                    <a:p>
                      <a:pPr algn="l"/>
                      <a:r>
                        <a:rPr sz="880" b="1">
                          <a:solidFill>
                            <a:srgbClr val="FFFFFF"/>
                          </a:solidFill>
                          <a:latin typeface="Arial"/>
                        </a:rPr>
                        <a:t>TOOL</a:t>
                      </a:r>
                    </a:p>
                  </a:txBody>
                  <a:tcPr marL="68580" marR="68580" marT="18288" marB="18288" anchor="ctr">
                    <a:lnB w="8255" cap="flat" cmpd="sng" algn="ctr">
                      <a:solidFill>
                        <a:srgbClr val="E1E3F0"/>
                      </a:solidFill>
                      <a:prstDash val="solid"/>
                    </a:lnB>
                    <a:solidFill>
                      <a:srgbClr val="10101B"/>
                    </a:solidFill>
                  </a:tcPr>
                </a:tc>
                <a:tc>
                  <a:txBody>
                    <a:bodyPr/>
                    <a:lstStyle/>
                    <a:p>
                      <a:pPr algn="ctr"/>
                      <a:r>
                        <a:rPr sz="880" b="1">
                          <a:solidFill>
                            <a:srgbClr val="FFFFFF"/>
                          </a:solidFill>
                          <a:latin typeface="Arial"/>
                        </a:rPr>
                        <a:t>TPR [95% CI]</a:t>
                      </a:r>
                    </a:p>
                  </a:txBody>
                  <a:tcPr marL="68580" marR="68580" marT="18288" marB="18288" anchor="ctr">
                    <a:lnB w="8255" cap="flat" cmpd="sng" algn="ctr">
                      <a:solidFill>
                        <a:srgbClr val="E1E3F0"/>
                      </a:solidFill>
                      <a:prstDash val="solid"/>
                    </a:lnB>
                    <a:solidFill>
                      <a:srgbClr val="10101B"/>
                    </a:solidFill>
                  </a:tcPr>
                </a:tc>
                <a:tc>
                  <a:txBody>
                    <a:bodyPr/>
                    <a:lstStyle/>
                    <a:p>
                      <a:pPr algn="ctr"/>
                      <a:r>
                        <a:rPr sz="880" b="1">
                          <a:solidFill>
                            <a:srgbClr val="FFFFFF"/>
                          </a:solidFill>
                          <a:latin typeface="Arial"/>
                        </a:rPr>
                        <a:t>FPR [95% CI]</a:t>
                      </a:r>
                    </a:p>
                  </a:txBody>
                  <a:tcPr marL="68580" marR="68580" marT="18288" marB="18288" anchor="ctr">
                    <a:lnB w="8255" cap="flat" cmpd="sng" algn="ctr">
                      <a:solidFill>
                        <a:srgbClr val="E1E3F0"/>
                      </a:solidFill>
                      <a:prstDash val="solid"/>
                    </a:lnB>
                    <a:solidFill>
                      <a:srgbClr val="10101B"/>
                    </a:solidFill>
                  </a:tcPr>
                </a:tc>
                <a:tc>
                  <a:txBody>
                    <a:bodyPr/>
                    <a:lstStyle/>
                    <a:p>
                      <a:pPr algn="ctr"/>
                      <a:r>
                        <a:rPr sz="880" b="1">
                          <a:solidFill>
                            <a:srgbClr val="FFFFFF"/>
                          </a:solidFill>
                          <a:latin typeface="Arial"/>
                        </a:rPr>
                        <a:t>F1</a:t>
                      </a:r>
                    </a:p>
                  </a:txBody>
                  <a:tcPr marL="68580" marR="68580" marT="18288" marB="18288" anchor="ctr">
                    <a:lnB w="8255" cap="flat" cmpd="sng" algn="ctr">
                      <a:solidFill>
                        <a:srgbClr val="E1E3F0"/>
                      </a:solidFill>
                      <a:prstDash val="solid"/>
                    </a:lnB>
                    <a:solidFill>
                      <a:srgbClr val="10101B"/>
                    </a:solidFill>
                  </a:tcPr>
                </a:tc>
                <a:extLst>
                  <a:ext uri="{0D108BD9-81ED-4DB2-BD59-A6C34878D82A}">
                    <a16:rowId xmlns:a16="http://schemas.microsoft.com/office/drawing/2014/main" val="10000"/>
                  </a:ext>
                </a:extLst>
              </a:tr>
              <a:tr h="416052">
                <a:tc>
                  <a:txBody>
                    <a:bodyPr/>
                    <a:lstStyle/>
                    <a:p>
                      <a:pPr algn="l"/>
                      <a:r>
                        <a:rPr sz="1060" b="1">
                          <a:solidFill>
                            <a:srgbClr val="10101B"/>
                          </a:solidFill>
                          <a:latin typeface="Arial"/>
                        </a:rPr>
                        <a:t>q2 · 357</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E8ECFF"/>
                    </a:solidFill>
                  </a:tcPr>
                </a:tc>
                <a:tc>
                  <a:txBody>
                    <a:bodyPr/>
                    <a:lstStyle/>
                    <a:p>
                      <a:pPr algn="l"/>
                      <a:r>
                        <a:rPr sz="1060" b="1">
                          <a:solidFill>
                            <a:srgbClr val="10101B"/>
                          </a:solidFill>
                          <a:latin typeface="Arial"/>
                        </a:rPr>
                        <a:t>HookGuard</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E8ECFF"/>
                    </a:solidFill>
                  </a:tcPr>
                </a:tc>
                <a:tc>
                  <a:txBody>
                    <a:bodyPr/>
                    <a:lstStyle/>
                    <a:p>
                      <a:pPr algn="ctr"/>
                      <a:r>
                        <a:rPr sz="1060" b="1">
                          <a:solidFill>
                            <a:srgbClr val="10101B"/>
                          </a:solidFill>
                          <a:latin typeface="Arial"/>
                        </a:rPr>
                        <a:t>53.1% [41.1, 64.8]</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E8ECFF"/>
                    </a:solidFill>
                  </a:tcPr>
                </a:tc>
                <a:tc>
                  <a:txBody>
                    <a:bodyPr/>
                    <a:lstStyle/>
                    <a:p>
                      <a:pPr algn="ctr"/>
                      <a:r>
                        <a:rPr sz="1060" b="1">
                          <a:solidFill>
                            <a:srgbClr val="10101B"/>
                          </a:solidFill>
                          <a:latin typeface="Arial"/>
                        </a:rPr>
                        <a:t>0.34% [0.06, 1.9]</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E8ECFF"/>
                    </a:solidFill>
                  </a:tcPr>
                </a:tc>
                <a:tc>
                  <a:txBody>
                    <a:bodyPr/>
                    <a:lstStyle/>
                    <a:p>
                      <a:pPr algn="ctr"/>
                      <a:r>
                        <a:rPr sz="1060" b="1">
                          <a:solidFill>
                            <a:srgbClr val="10101B"/>
                          </a:solidFill>
                          <a:latin typeface="Arial"/>
                        </a:rPr>
                        <a:t>0.69</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E8ECFF"/>
                    </a:solidFill>
                  </a:tcPr>
                </a:tc>
                <a:extLst>
                  <a:ext uri="{0D108BD9-81ED-4DB2-BD59-A6C34878D82A}">
                    <a16:rowId xmlns:a16="http://schemas.microsoft.com/office/drawing/2014/main" val="10001"/>
                  </a:ext>
                </a:extLst>
              </a:tr>
              <a:tr h="416052">
                <a:tc>
                  <a:txBody>
                    <a:bodyPr/>
                    <a:lstStyle/>
                    <a:p>
                      <a:pPr algn="l"/>
                      <a:r>
                        <a:rPr sz="1060" b="1">
                          <a:solidFill>
                            <a:srgbClr val="10101B"/>
                          </a:solidFill>
                          <a:latin typeface="Arial"/>
                        </a:rPr>
                        <a:t>q2 · 357</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l"/>
                      <a:r>
                        <a:rPr sz="1060" b="0">
                          <a:solidFill>
                            <a:srgbClr val="10101B"/>
                          </a:solidFill>
                          <a:latin typeface="Arial"/>
                        </a:rPr>
                        <a:t>GuardDog strict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060" b="0">
                          <a:solidFill>
                            <a:srgbClr val="10101B"/>
                          </a:solidFill>
                          <a:latin typeface="Arial"/>
                        </a:rPr>
                        <a:t>68.8% [56.6, 78.8]</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060" b="0">
                          <a:solidFill>
                            <a:srgbClr val="10101B"/>
                          </a:solidFill>
                          <a:latin typeface="Arial"/>
                        </a:rPr>
                        <a:t>7.9% [5.3, 11.5]</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060" b="0">
                          <a:solidFill>
                            <a:srgbClr val="10101B"/>
                          </a:solidFill>
                          <a:latin typeface="Arial"/>
                        </a:rPr>
                        <a:t>0.67</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extLst>
                  <a:ext uri="{0D108BD9-81ED-4DB2-BD59-A6C34878D82A}">
                    <a16:rowId xmlns:a16="http://schemas.microsoft.com/office/drawing/2014/main" val="10002"/>
                  </a:ext>
                </a:extLst>
              </a:tr>
              <a:tr h="416052">
                <a:tc>
                  <a:txBody>
                    <a:bodyPr/>
                    <a:lstStyle/>
                    <a:p>
                      <a:pPr algn="l"/>
                      <a:r>
                        <a:rPr sz="1060" b="1">
                          <a:solidFill>
                            <a:srgbClr val="10101B"/>
                          </a:solidFill>
                          <a:latin typeface="Arial"/>
                        </a:rPr>
                        <a:t>q2 · 357</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l"/>
                      <a:r>
                        <a:rPr sz="1060" b="0">
                          <a:solidFill>
                            <a:srgbClr val="10101B"/>
                          </a:solidFill>
                          <a:latin typeface="Arial"/>
                        </a:rPr>
                        <a:t>GuardDog alert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060" b="0">
                          <a:solidFill>
                            <a:srgbClr val="10101B"/>
                          </a:solidFill>
                          <a:latin typeface="Arial"/>
                        </a:rPr>
                        <a:t>75.0% [63.2, 84.0]</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060" b="0">
                          <a:solidFill>
                            <a:srgbClr val="10101B"/>
                          </a:solidFill>
                          <a:latin typeface="Arial"/>
                        </a:rPr>
                        <a:t>43.0% [37.5, 48.7]</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060" b="0">
                          <a:solidFill>
                            <a:srgbClr val="10101B"/>
                          </a:solidFill>
                          <a:latin typeface="Arial"/>
                        </a:rPr>
                        <a:t>0.40</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extLst>
                  <a:ext uri="{0D108BD9-81ED-4DB2-BD59-A6C34878D82A}">
                    <a16:rowId xmlns:a16="http://schemas.microsoft.com/office/drawing/2014/main" val="10003"/>
                  </a:ext>
                </a:extLst>
              </a:tr>
              <a:tr h="416052">
                <a:tc>
                  <a:txBody>
                    <a:bodyPr/>
                    <a:lstStyle/>
                    <a:p>
                      <a:pPr algn="l"/>
                      <a:r>
                        <a:rPr sz="1060" b="1">
                          <a:solidFill>
                            <a:srgbClr val="10101B"/>
                          </a:solidFill>
                          <a:latin typeface="Arial"/>
                        </a:rPr>
                        <a:t>q2 · 357</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l"/>
                      <a:r>
                        <a:rPr sz="1060" b="0">
                          <a:solidFill>
                            <a:srgbClr val="10101B"/>
                          </a:solidFill>
                          <a:latin typeface="Arial"/>
                        </a:rPr>
                        <a:t>Packj static</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060" b="0">
                          <a:solidFill>
                            <a:srgbClr val="10101B"/>
                          </a:solidFill>
                          <a:latin typeface="Arial"/>
                        </a:rPr>
                        <a:t>20.3% [12.3, 31.7]</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060" b="0">
                          <a:solidFill>
                            <a:srgbClr val="10101B"/>
                          </a:solidFill>
                          <a:latin typeface="Arial"/>
                        </a:rPr>
                        <a:t>6.1% [3.9, 9.5]</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060" b="0">
                          <a:solidFill>
                            <a:srgbClr val="10101B"/>
                          </a:solidFill>
                          <a:latin typeface="Arial"/>
                        </a:rPr>
                        <a:t>0.27</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extLst>
                  <a:ext uri="{0D108BD9-81ED-4DB2-BD59-A6C34878D82A}">
                    <a16:rowId xmlns:a16="http://schemas.microsoft.com/office/drawing/2014/main" val="10004"/>
                  </a:ext>
                </a:extLst>
              </a:tr>
              <a:tr h="416052">
                <a:tc>
                  <a:txBody>
                    <a:bodyPr/>
                    <a:lstStyle/>
                    <a:p>
                      <a:pPr algn="l"/>
                      <a:r>
                        <a:rPr sz="1060" b="1">
                          <a:solidFill>
                            <a:srgbClr val="10101B"/>
                          </a:solidFill>
                          <a:latin typeface="Arial"/>
                        </a:rPr>
                        <a:t>q2 · 357</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l"/>
                      <a:r>
                        <a:rPr sz="1060" b="0">
                          <a:solidFill>
                            <a:srgbClr val="10101B"/>
                          </a:solidFill>
                          <a:latin typeface="Arial"/>
                        </a:rPr>
                        <a:t>OSSGadget any-tag</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060" b="0">
                          <a:solidFill>
                            <a:srgbClr val="10101B"/>
                          </a:solidFill>
                          <a:latin typeface="Arial"/>
                        </a:rPr>
                        <a:t>93.8% [85.0, 97.5]</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060" b="0">
                          <a:solidFill>
                            <a:srgbClr val="10101B"/>
                          </a:solidFill>
                          <a:latin typeface="Arial"/>
                        </a:rPr>
                        <a:t>97.6% [95.2, 98.8]</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060" b="0">
                          <a:solidFill>
                            <a:srgbClr val="10101B"/>
                          </a:solidFill>
                          <a:latin typeface="Arial"/>
                        </a:rPr>
                        <a:t>0.29</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extLst>
                  <a:ext uri="{0D108BD9-81ED-4DB2-BD59-A6C34878D82A}">
                    <a16:rowId xmlns:a16="http://schemas.microsoft.com/office/drawing/2014/main" val="10005"/>
                  </a:ext>
                </a:extLst>
              </a:tr>
              <a:tr h="416052">
                <a:tc>
                  <a:txBody>
                    <a:bodyPr/>
                    <a:lstStyle/>
                    <a:p>
                      <a:pPr algn="l"/>
                      <a:r>
                        <a:rPr sz="1060" b="1">
                          <a:solidFill>
                            <a:srgbClr val="10101B"/>
                          </a:solidFill>
                          <a:latin typeface="Arial"/>
                        </a:rPr>
                        <a:t>Guo · 2,210</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l"/>
                      <a:r>
                        <a:rPr sz="1060" b="0">
                          <a:solidFill>
                            <a:srgbClr val="10101B"/>
                          </a:solidFill>
                          <a:latin typeface="Arial"/>
                        </a:rPr>
                        <a:t>HookGuard</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060" b="0">
                          <a:solidFill>
                            <a:srgbClr val="10101B"/>
                          </a:solidFill>
                          <a:latin typeface="Arial"/>
                        </a:rPr>
                        <a:t>72.6% [64.9, 79.2]</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060" b="0">
                          <a:solidFill>
                            <a:srgbClr val="10101B"/>
                          </a:solidFill>
                          <a:latin typeface="Arial"/>
                        </a:rPr>
                        <a:t>1.36% [0.94, 2.0]</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060" b="0">
                          <a:solidFill>
                            <a:srgbClr val="10101B"/>
                          </a:solidFill>
                          <a:latin typeface="Arial"/>
                        </a:rPr>
                        <a:t>0.76</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extLst>
                  <a:ext uri="{0D108BD9-81ED-4DB2-BD59-A6C34878D82A}">
                    <a16:rowId xmlns:a16="http://schemas.microsoft.com/office/drawing/2014/main" val="10006"/>
                  </a:ext>
                </a:extLst>
              </a:tr>
              <a:tr h="416052">
                <a:tc>
                  <a:txBody>
                    <a:bodyPr/>
                    <a:lstStyle/>
                    <a:p>
                      <a:pPr algn="l"/>
                      <a:r>
                        <a:rPr sz="1060" b="1">
                          <a:solidFill>
                            <a:srgbClr val="10101B"/>
                          </a:solidFill>
                          <a:latin typeface="Arial"/>
                        </a:rPr>
                        <a:t>Guo · 2,210</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l"/>
                      <a:r>
                        <a:rPr sz="1060" b="0">
                          <a:solidFill>
                            <a:srgbClr val="10101B"/>
                          </a:solidFill>
                          <a:latin typeface="Arial"/>
                        </a:rPr>
                        <a:t>GuardDog strict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060" b="0">
                          <a:solidFill>
                            <a:srgbClr val="10101B"/>
                          </a:solidFill>
                          <a:latin typeface="Arial"/>
                        </a:rPr>
                        <a:t>84.9% [78.2, 89.8]</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060" b="0">
                          <a:solidFill>
                            <a:srgbClr val="10101B"/>
                          </a:solidFill>
                          <a:latin typeface="Arial"/>
                        </a:rPr>
                        <a:t>10.1% [8.9, 11.5]</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060" b="0">
                          <a:solidFill>
                            <a:srgbClr val="10101B"/>
                          </a:solidFill>
                          <a:latin typeface="Arial"/>
                        </a:rPr>
                        <a:t>0.52</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extLst>
                  <a:ext uri="{0D108BD9-81ED-4DB2-BD59-A6C34878D82A}">
                    <a16:rowId xmlns:a16="http://schemas.microsoft.com/office/drawing/2014/main" val="10007"/>
                  </a:ext>
                </a:extLst>
              </a:tr>
              <a:tr h="416052">
                <a:tc>
                  <a:txBody>
                    <a:bodyPr/>
                    <a:lstStyle/>
                    <a:p>
                      <a:pPr algn="l"/>
                      <a:r>
                        <a:rPr sz="1060" b="1">
                          <a:solidFill>
                            <a:srgbClr val="10101B"/>
                          </a:solidFill>
                          <a:latin typeface="Arial"/>
                        </a:rPr>
                        <a:t>Guo · 2,210</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l"/>
                      <a:r>
                        <a:rPr sz="1060" b="0">
                          <a:solidFill>
                            <a:srgbClr val="10101B"/>
                          </a:solidFill>
                          <a:latin typeface="Arial"/>
                        </a:rPr>
                        <a:t>GuardDog alert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060" b="0">
                          <a:solidFill>
                            <a:srgbClr val="10101B"/>
                          </a:solidFill>
                          <a:latin typeface="Arial"/>
                        </a:rPr>
                        <a:t>90.4% [84.6, 94.2]</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060" b="0">
                          <a:solidFill>
                            <a:srgbClr val="10101B"/>
                          </a:solidFill>
                          <a:latin typeface="Arial"/>
                        </a:rPr>
                        <a:t>49.2% [47.1, 51.4]</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060" b="0">
                          <a:solidFill>
                            <a:srgbClr val="10101B"/>
                          </a:solidFill>
                          <a:latin typeface="Arial"/>
                        </a:rPr>
                        <a:t>0.20</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extLst>
                  <a:ext uri="{0D108BD9-81ED-4DB2-BD59-A6C34878D82A}">
                    <a16:rowId xmlns:a16="http://schemas.microsoft.com/office/drawing/2014/main" val="10008"/>
                  </a:ext>
                </a:extLst>
              </a:tr>
              <a:tr h="416052">
                <a:tc>
                  <a:txBody>
                    <a:bodyPr/>
                    <a:lstStyle/>
                    <a:p>
                      <a:pPr algn="l"/>
                      <a:r>
                        <a:rPr sz="1060" b="1">
                          <a:solidFill>
                            <a:srgbClr val="10101B"/>
                          </a:solidFill>
                          <a:latin typeface="Arial"/>
                        </a:rPr>
                        <a:t>Guo · 2,210</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l"/>
                      <a:r>
                        <a:rPr sz="1060" b="0">
                          <a:solidFill>
                            <a:srgbClr val="10101B"/>
                          </a:solidFill>
                          <a:latin typeface="Arial"/>
                        </a:rPr>
                        <a:t>Packj static</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060" b="0">
                          <a:solidFill>
                            <a:srgbClr val="10101B"/>
                          </a:solidFill>
                          <a:latin typeface="Arial"/>
                        </a:rPr>
                        <a:t>33.3% [26.2, 41.4]</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060" b="0">
                          <a:solidFill>
                            <a:srgbClr val="10101B"/>
                          </a:solidFill>
                          <a:latin typeface="Arial"/>
                        </a:rPr>
                        <a:t>11.3% [10.0, 12.8]</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060" b="0">
                          <a:solidFill>
                            <a:srgbClr val="10101B"/>
                          </a:solidFill>
                          <a:latin typeface="Arial"/>
                        </a:rPr>
                        <a:t>0.24</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extLst>
                  <a:ext uri="{0D108BD9-81ED-4DB2-BD59-A6C34878D82A}">
                    <a16:rowId xmlns:a16="http://schemas.microsoft.com/office/drawing/2014/main" val="10009"/>
                  </a:ext>
                </a:extLst>
              </a:tr>
              <a:tr h="416052">
                <a:tc>
                  <a:txBody>
                    <a:bodyPr/>
                    <a:lstStyle/>
                    <a:p>
                      <a:pPr algn="l"/>
                      <a:r>
                        <a:rPr sz="1060" b="1">
                          <a:solidFill>
                            <a:srgbClr val="10101B"/>
                          </a:solidFill>
                          <a:latin typeface="Arial"/>
                        </a:rPr>
                        <a:t>Guo · 2,210</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l"/>
                      <a:r>
                        <a:rPr sz="1060" b="0">
                          <a:solidFill>
                            <a:srgbClr val="10101B"/>
                          </a:solidFill>
                          <a:latin typeface="Arial"/>
                        </a:rPr>
                        <a:t>OSSGadget any-tag*</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060" b="0">
                          <a:solidFill>
                            <a:srgbClr val="10101B"/>
                          </a:solidFill>
                          <a:latin typeface="Arial"/>
                        </a:rPr>
                        <a:t>83.3% [70.4, 91.3]</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060" b="0">
                          <a:solidFill>
                            <a:srgbClr val="10101B"/>
                          </a:solidFill>
                          <a:latin typeface="Arial"/>
                        </a:rPr>
                        <a:t>95.8% [93.7, 97.3]</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060" b="0">
                          <a:solidFill>
                            <a:srgbClr val="10101B"/>
                          </a:solidFill>
                          <a:latin typeface="Arial"/>
                        </a:rPr>
                        <a:t>0.14</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extLst>
                  <a:ext uri="{0D108BD9-81ED-4DB2-BD59-A6C34878D82A}">
                    <a16:rowId xmlns:a16="http://schemas.microsoft.com/office/drawing/2014/main" val="10010"/>
                  </a:ext>
                </a:extLst>
              </a:tr>
            </a:tbl>
          </a:graphicData>
        </a:graphic>
      </p:graphicFrame>
      <p:sp>
        <p:nvSpPr>
          <p:cNvPr id="10" name="TextBox 9"/>
          <p:cNvSpPr txBox="1"/>
          <p:nvPr/>
        </p:nvSpPr>
        <p:spPr>
          <a:xfrm>
            <a:off x="1051560" y="6912864"/>
            <a:ext cx="11430000" cy="256032"/>
          </a:xfrm>
          <a:prstGeom prst="rect">
            <a:avLst/>
          </a:prstGeom>
          <a:noFill/>
        </p:spPr>
        <p:txBody>
          <a:bodyPr wrap="square" lIns="0" tIns="0" rIns="0" bIns="0" anchor="t">
            <a:noAutofit/>
          </a:bodyPr>
          <a:lstStyle/>
          <a:p>
            <a:pPr algn="l"/>
            <a:r>
              <a:rPr sz="919" b="0" i="1">
                <a:solidFill>
                  <a:srgbClr val="4A4A5C"/>
                </a:solidFill>
                <a:latin typeface="Arial"/>
              </a:rPr>
              <a:t>*OSSGadget partial: shard 1 (553); BackdoorRules missing in 0.2.20. Wilson 95% CIs. q2 paired strict McNemar p = 0.12; Guo p = 0.003. Docker+strace pilot: 42.2% TPR at 0.34% FPR. Labels: [1], [3]; baselines [4], [7], [9].</a:t>
            </a:r>
          </a:p>
        </p:txBody>
      </p:sp>
      <p:sp>
        <p:nvSpPr>
          <p:cNvPr id="11" name="Rounded Rectangle 10"/>
          <p:cNvSpPr/>
          <p:nvPr/>
        </p:nvSpPr>
        <p:spPr>
          <a:xfrm>
            <a:off x="12819888" y="2240280"/>
            <a:ext cx="4434840" cy="5440680"/>
          </a:xfrm>
          <a:prstGeom prst="roundRect">
            <a:avLst>
              <a:gd name="adj" fmla="val 3500"/>
            </a:avLst>
          </a:prstGeom>
          <a:solidFill>
            <a:srgbClr val="F4F5FC"/>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2" name="TextBox 11"/>
          <p:cNvSpPr txBox="1"/>
          <p:nvPr/>
        </p:nvSpPr>
        <p:spPr>
          <a:xfrm>
            <a:off x="13030200" y="2377440"/>
            <a:ext cx="4023360" cy="292608"/>
          </a:xfrm>
          <a:prstGeom prst="rect">
            <a:avLst/>
          </a:prstGeom>
          <a:noFill/>
        </p:spPr>
        <p:txBody>
          <a:bodyPr wrap="square" lIns="0" tIns="0" rIns="0" bIns="0" anchor="t">
            <a:noAutofit/>
          </a:bodyPr>
          <a:lstStyle/>
          <a:p>
            <a:pPr algn="l"/>
            <a:r>
              <a:rPr sz="1150" b="1" i="0">
                <a:solidFill>
                  <a:srgbClr val="4A4A5C"/>
                </a:solidFill>
                <a:latin typeface="Arial"/>
              </a:rPr>
              <a:t>READ THE TRADE-OFF</a:t>
            </a:r>
          </a:p>
        </p:txBody>
      </p:sp>
      <p:sp>
        <p:nvSpPr>
          <p:cNvPr id="13" name="TextBox 12"/>
          <p:cNvSpPr txBox="1"/>
          <p:nvPr/>
        </p:nvSpPr>
        <p:spPr>
          <a:xfrm>
            <a:off x="13030200" y="2788920"/>
            <a:ext cx="201168" cy="256032"/>
          </a:xfrm>
          <a:prstGeom prst="rect">
            <a:avLst/>
          </a:prstGeom>
          <a:noFill/>
        </p:spPr>
        <p:txBody>
          <a:bodyPr wrap="square" lIns="0" tIns="0" rIns="0" bIns="0" anchor="t">
            <a:noAutofit/>
          </a:bodyPr>
          <a:lstStyle/>
          <a:p>
            <a:pPr algn="l"/>
            <a:r>
              <a:rPr sz="1200" b="1" i="0">
                <a:solidFill>
                  <a:srgbClr val="1200FF"/>
                </a:solidFill>
                <a:latin typeface="Arial"/>
              </a:rPr>
              <a:t>•</a:t>
            </a:r>
          </a:p>
        </p:txBody>
      </p:sp>
      <p:sp>
        <p:nvSpPr>
          <p:cNvPr id="14" name="TextBox 13"/>
          <p:cNvSpPr txBox="1"/>
          <p:nvPr/>
        </p:nvSpPr>
        <p:spPr>
          <a:xfrm>
            <a:off x="13258800" y="2761488"/>
            <a:ext cx="3794760" cy="822960"/>
          </a:xfrm>
          <a:prstGeom prst="rect">
            <a:avLst/>
          </a:prstGeom>
          <a:noFill/>
        </p:spPr>
        <p:txBody>
          <a:bodyPr wrap="square" lIns="0" tIns="0" rIns="0" bIns="0" anchor="t">
            <a:noAutofit/>
          </a:bodyPr>
          <a:lstStyle/>
          <a:p>
            <a:pPr algn="l">
              <a:lnSpc>
                <a:spcPct val="103000"/>
              </a:lnSpc>
            </a:pPr>
            <a:r>
              <a:rPr sz="1140" b="0" i="0">
                <a:solidFill>
                  <a:srgbClr val="10101B"/>
                </a:solidFill>
                <a:latin typeface="Arial"/>
              </a:rPr>
              <a:t>q2: 0.34% vs 7.9% blocking FPR (≈23× lower), at lower recall.</a:t>
            </a:r>
          </a:p>
        </p:txBody>
      </p:sp>
      <p:sp>
        <p:nvSpPr>
          <p:cNvPr id="15" name="TextBox 14"/>
          <p:cNvSpPr txBox="1"/>
          <p:nvPr/>
        </p:nvSpPr>
        <p:spPr>
          <a:xfrm>
            <a:off x="13030200" y="3666744"/>
            <a:ext cx="201168" cy="256032"/>
          </a:xfrm>
          <a:prstGeom prst="rect">
            <a:avLst/>
          </a:prstGeom>
          <a:noFill/>
        </p:spPr>
        <p:txBody>
          <a:bodyPr wrap="square" lIns="0" tIns="0" rIns="0" bIns="0" anchor="t">
            <a:noAutofit/>
          </a:bodyPr>
          <a:lstStyle/>
          <a:p>
            <a:pPr algn="l"/>
            <a:r>
              <a:rPr sz="1200" b="1" i="0">
                <a:solidFill>
                  <a:srgbClr val="1200FF"/>
                </a:solidFill>
                <a:latin typeface="Arial"/>
              </a:rPr>
              <a:t>•</a:t>
            </a:r>
          </a:p>
        </p:txBody>
      </p:sp>
      <p:sp>
        <p:nvSpPr>
          <p:cNvPr id="16" name="TextBox 15"/>
          <p:cNvSpPr txBox="1"/>
          <p:nvPr/>
        </p:nvSpPr>
        <p:spPr>
          <a:xfrm>
            <a:off x="13258800" y="3639312"/>
            <a:ext cx="3794760" cy="822960"/>
          </a:xfrm>
          <a:prstGeom prst="rect">
            <a:avLst/>
          </a:prstGeom>
          <a:noFill/>
        </p:spPr>
        <p:txBody>
          <a:bodyPr wrap="square" lIns="0" tIns="0" rIns="0" bIns="0" anchor="t">
            <a:noAutofit/>
          </a:bodyPr>
          <a:lstStyle/>
          <a:p>
            <a:pPr algn="l">
              <a:lnSpc>
                <a:spcPct val="103000"/>
              </a:lnSpc>
            </a:pPr>
            <a:r>
              <a:rPr sz="1140" b="0" i="0">
                <a:solidFill>
                  <a:srgbClr val="10101B"/>
                </a:solidFill>
                <a:latin typeface="Arial"/>
              </a:rPr>
              <a:t>Guo: 72.6% TPR at 1.36% FPR vs 84.9% at 10.1% (7.4× lower FPR); precision 0.79 vs 0.37.</a:t>
            </a:r>
          </a:p>
        </p:txBody>
      </p:sp>
      <p:sp>
        <p:nvSpPr>
          <p:cNvPr id="17" name="TextBox 16"/>
          <p:cNvSpPr txBox="1"/>
          <p:nvPr/>
        </p:nvSpPr>
        <p:spPr>
          <a:xfrm>
            <a:off x="13030200" y="4544568"/>
            <a:ext cx="201168" cy="256032"/>
          </a:xfrm>
          <a:prstGeom prst="rect">
            <a:avLst/>
          </a:prstGeom>
          <a:noFill/>
        </p:spPr>
        <p:txBody>
          <a:bodyPr wrap="square" lIns="0" tIns="0" rIns="0" bIns="0" anchor="t">
            <a:noAutofit/>
          </a:bodyPr>
          <a:lstStyle/>
          <a:p>
            <a:pPr algn="l"/>
            <a:r>
              <a:rPr sz="1200" b="1" i="0">
                <a:solidFill>
                  <a:srgbClr val="1200FF"/>
                </a:solidFill>
                <a:latin typeface="Arial"/>
              </a:rPr>
              <a:t>•</a:t>
            </a:r>
          </a:p>
        </p:txBody>
      </p:sp>
      <p:sp>
        <p:nvSpPr>
          <p:cNvPr id="18" name="TextBox 17"/>
          <p:cNvSpPr txBox="1"/>
          <p:nvPr/>
        </p:nvSpPr>
        <p:spPr>
          <a:xfrm>
            <a:off x="13258800" y="4517136"/>
            <a:ext cx="3794760" cy="822960"/>
          </a:xfrm>
          <a:prstGeom prst="rect">
            <a:avLst/>
          </a:prstGeom>
          <a:noFill/>
        </p:spPr>
        <p:txBody>
          <a:bodyPr wrap="square" lIns="0" tIns="0" rIns="0" bIns="0" anchor="t">
            <a:noAutofit/>
          </a:bodyPr>
          <a:lstStyle/>
          <a:p>
            <a:pPr algn="l">
              <a:lnSpc>
                <a:spcPct val="103000"/>
              </a:lnSpc>
            </a:pPr>
            <a:r>
              <a:rPr sz="1140" b="0" i="0">
                <a:solidFill>
                  <a:srgbClr val="10101B"/>
                </a:solidFill>
                <a:latin typeface="Arial"/>
              </a:rPr>
              <a:t>Guo: GuardDog catches 26 HookGuard misses; HookGuard catches 8 (p = 0.003).</a:t>
            </a:r>
          </a:p>
        </p:txBody>
      </p:sp>
      <p:sp>
        <p:nvSpPr>
          <p:cNvPr id="19" name="TextBox 18"/>
          <p:cNvSpPr txBox="1"/>
          <p:nvPr/>
        </p:nvSpPr>
        <p:spPr>
          <a:xfrm>
            <a:off x="13030200" y="5422392"/>
            <a:ext cx="201168" cy="256032"/>
          </a:xfrm>
          <a:prstGeom prst="rect">
            <a:avLst/>
          </a:prstGeom>
          <a:noFill/>
        </p:spPr>
        <p:txBody>
          <a:bodyPr wrap="square" lIns="0" tIns="0" rIns="0" bIns="0" anchor="t">
            <a:noAutofit/>
          </a:bodyPr>
          <a:lstStyle/>
          <a:p>
            <a:pPr algn="l"/>
            <a:r>
              <a:rPr sz="1200" b="1" i="0">
                <a:solidFill>
                  <a:srgbClr val="1200FF"/>
                </a:solidFill>
                <a:latin typeface="Arial"/>
              </a:rPr>
              <a:t>•</a:t>
            </a:r>
          </a:p>
        </p:txBody>
      </p:sp>
      <p:sp>
        <p:nvSpPr>
          <p:cNvPr id="20" name="TextBox 19"/>
          <p:cNvSpPr txBox="1"/>
          <p:nvPr/>
        </p:nvSpPr>
        <p:spPr>
          <a:xfrm>
            <a:off x="13258800" y="5394959"/>
            <a:ext cx="3794760" cy="822960"/>
          </a:xfrm>
          <a:prstGeom prst="rect">
            <a:avLst/>
          </a:prstGeom>
          <a:noFill/>
        </p:spPr>
        <p:txBody>
          <a:bodyPr wrap="square" lIns="0" tIns="0" rIns="0" bIns="0" anchor="t">
            <a:noAutofit/>
          </a:bodyPr>
          <a:lstStyle/>
          <a:p>
            <a:pPr algn="l">
              <a:lnSpc>
                <a:spcPct val="103000"/>
              </a:lnSpc>
            </a:pPr>
            <a:r>
              <a:rPr sz="1140" b="0" i="0">
                <a:solidFill>
                  <a:srgbClr val="10101B"/>
                </a:solidFill>
                <a:latin typeface="Arial"/>
              </a:rPr>
              <a:t>q2 two-tool union: 87.5% (56/64) at HookGuard’s blocking FPR.</a:t>
            </a:r>
          </a:p>
        </p:txBody>
      </p:sp>
      <p:sp>
        <p:nvSpPr>
          <p:cNvPr id="21" name="TextBox 20"/>
          <p:cNvSpPr txBox="1"/>
          <p:nvPr/>
        </p:nvSpPr>
        <p:spPr>
          <a:xfrm>
            <a:off x="13030200" y="6300216"/>
            <a:ext cx="201168" cy="256032"/>
          </a:xfrm>
          <a:prstGeom prst="rect">
            <a:avLst/>
          </a:prstGeom>
          <a:noFill/>
        </p:spPr>
        <p:txBody>
          <a:bodyPr wrap="square" lIns="0" tIns="0" rIns="0" bIns="0" anchor="t">
            <a:noAutofit/>
          </a:bodyPr>
          <a:lstStyle/>
          <a:p>
            <a:pPr algn="l"/>
            <a:r>
              <a:rPr sz="1200" b="1" i="0">
                <a:solidFill>
                  <a:srgbClr val="1200FF"/>
                </a:solidFill>
                <a:latin typeface="Arial"/>
              </a:rPr>
              <a:t>•</a:t>
            </a:r>
          </a:p>
        </p:txBody>
      </p:sp>
      <p:sp>
        <p:nvSpPr>
          <p:cNvPr id="22" name="TextBox 21"/>
          <p:cNvSpPr txBox="1"/>
          <p:nvPr/>
        </p:nvSpPr>
        <p:spPr>
          <a:xfrm>
            <a:off x="13258800" y="6272783"/>
            <a:ext cx="3794760" cy="822960"/>
          </a:xfrm>
          <a:prstGeom prst="rect">
            <a:avLst/>
          </a:prstGeom>
          <a:noFill/>
        </p:spPr>
        <p:txBody>
          <a:bodyPr wrap="square" lIns="0" tIns="0" rIns="0" bIns="0" anchor="t">
            <a:noAutofit/>
          </a:bodyPr>
          <a:lstStyle/>
          <a:p>
            <a:pPr algn="l">
              <a:lnSpc>
                <a:spcPct val="103000"/>
              </a:lnSpc>
            </a:pPr>
            <a:r>
              <a:rPr sz="1140" b="0" i="0">
                <a:solidFill>
                  <a:srgbClr val="10101B"/>
                </a:solidFill>
                <a:latin typeface="Arial"/>
              </a:rPr>
              <a:t>Composition — review alerting in front of a blocking gate — beats replacement.</a:t>
            </a:r>
          </a:p>
        </p:txBody>
      </p:sp>
      <p:sp>
        <p:nvSpPr>
          <p:cNvPr id="23" name="TextBox 22"/>
          <p:cNvSpPr txBox="1"/>
          <p:nvPr/>
        </p:nvSpPr>
        <p:spPr>
          <a:xfrm>
            <a:off x="1051560" y="7936992"/>
            <a:ext cx="11430000" cy="320040"/>
          </a:xfrm>
          <a:prstGeom prst="rect">
            <a:avLst/>
          </a:prstGeom>
          <a:noFill/>
        </p:spPr>
        <p:txBody>
          <a:bodyPr wrap="square" lIns="0" tIns="0" rIns="0" bIns="0" anchor="t">
            <a:noAutofit/>
          </a:bodyPr>
          <a:lstStyle/>
          <a:p>
            <a:pPr algn="l"/>
            <a:r>
              <a:rPr sz="1220" b="1" i="0">
                <a:solidFill>
                  <a:srgbClr val="D95D45"/>
                </a:solidFill>
                <a:latin typeface="Arial"/>
              </a:rPr>
              <a:t>HookGuard is not the highest-recall detector; it is the strongest precision/evidence trade-off at the blocking point.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10 — ROBUSTNESS &amp; SCALE</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Mutation, Scope &amp; Runtime</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16 / 22</a:t>
            </a:r>
          </a:p>
        </p:txBody>
      </p:sp>
      <p:graphicFrame>
        <p:nvGraphicFramePr>
          <p:cNvPr id="9" name="Chart 8"/>
          <p:cNvGraphicFramePr>
            <a:graphicFrameLocks noGrp="1"/>
          </p:cNvGraphicFramePr>
          <p:nvPr/>
        </p:nvGraphicFramePr>
        <p:xfrm>
          <a:off x="1051560" y="3337560"/>
          <a:ext cx="6903720" cy="38862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1051560" y="2971800"/>
            <a:ext cx="6766560" cy="292608"/>
          </a:xfrm>
          <a:prstGeom prst="rect">
            <a:avLst/>
          </a:prstGeom>
          <a:noFill/>
        </p:spPr>
        <p:txBody>
          <a:bodyPr wrap="square" lIns="0" tIns="0" rIns="0" bIns="0" anchor="t">
            <a:noAutofit/>
          </a:bodyPr>
          <a:lstStyle/>
          <a:p>
            <a:pPr algn="l"/>
            <a:r>
              <a:rPr sz="1300" b="1" i="0">
                <a:solidFill>
                  <a:srgbClr val="4A4A5C"/>
                </a:solidFill>
                <a:latin typeface="Arial"/>
              </a:rPr>
              <a:t>Hook-evasion mutation: recall holds when syntax changes</a:t>
            </a:r>
          </a:p>
        </p:txBody>
      </p:sp>
      <p:sp>
        <p:nvSpPr>
          <p:cNvPr id="11" name="TextBox 10"/>
          <p:cNvSpPr txBox="1"/>
          <p:nvPr/>
        </p:nvSpPr>
        <p:spPr>
          <a:xfrm>
            <a:off x="1051560" y="7260336"/>
            <a:ext cx="6766560" cy="457200"/>
          </a:xfrm>
          <a:prstGeom prst="rect">
            <a:avLst/>
          </a:prstGeom>
          <a:noFill/>
        </p:spPr>
        <p:txBody>
          <a:bodyPr wrap="square" lIns="0" tIns="0" rIns="0" bIns="0" anchor="t">
            <a:noAutofit/>
          </a:bodyPr>
          <a:lstStyle/>
          <a:p>
            <a:pPr algn="l"/>
            <a:r>
              <a:rPr sz="980" b="0" i="1">
                <a:solidFill>
                  <a:srgbClr val="4A4A5C"/>
                </a:solidFill>
                <a:latin typeface="Arial"/>
              </a:rPr>
              <a:t>GuardDog alert recall falls 61.5% → 23.1%; HookGuard holds 98.7% ([93.1, 99.8]; McNemar p &lt; 0.001). Mutant idioms follow [1], [2].</a:t>
            </a:r>
          </a:p>
        </p:txBody>
      </p:sp>
      <p:sp>
        <p:nvSpPr>
          <p:cNvPr id="12" name="Rounded Rectangle 11"/>
          <p:cNvSpPr/>
          <p:nvPr/>
        </p:nvSpPr>
        <p:spPr>
          <a:xfrm>
            <a:off x="8275320" y="2788920"/>
            <a:ext cx="4315968" cy="1298448"/>
          </a:xfrm>
          <a:prstGeom prst="roundRect">
            <a:avLst>
              <a:gd name="adj" fmla="val 8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3" name="Rectangle 12"/>
          <p:cNvSpPr/>
          <p:nvPr/>
        </p:nvSpPr>
        <p:spPr>
          <a:xfrm>
            <a:off x="8275320" y="2788920"/>
            <a:ext cx="64008" cy="1298448"/>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4" name="TextBox 13"/>
          <p:cNvSpPr txBox="1"/>
          <p:nvPr/>
        </p:nvSpPr>
        <p:spPr>
          <a:xfrm>
            <a:off x="8476488" y="2898648"/>
            <a:ext cx="4023359" cy="502920"/>
          </a:xfrm>
          <a:prstGeom prst="rect">
            <a:avLst/>
          </a:prstGeom>
          <a:noFill/>
        </p:spPr>
        <p:txBody>
          <a:bodyPr wrap="square" lIns="0" tIns="0" rIns="0" bIns="0" anchor="t">
            <a:noAutofit/>
          </a:bodyPr>
          <a:lstStyle/>
          <a:p>
            <a:pPr algn="l"/>
            <a:r>
              <a:rPr sz="2700" b="1" i="0">
                <a:solidFill>
                  <a:srgbClr val="1200FF"/>
                </a:solidFill>
                <a:latin typeface="Arial"/>
              </a:rPr>
              <a:t>34 / 35</a:t>
            </a:r>
          </a:p>
        </p:txBody>
      </p:sp>
      <p:sp>
        <p:nvSpPr>
          <p:cNvPr id="15" name="TextBox 14"/>
          <p:cNvSpPr txBox="1"/>
          <p:nvPr/>
        </p:nvSpPr>
        <p:spPr>
          <a:xfrm>
            <a:off x="8476488" y="3401568"/>
            <a:ext cx="4023359" cy="640080"/>
          </a:xfrm>
          <a:prstGeom prst="rect">
            <a:avLst/>
          </a:prstGeom>
          <a:noFill/>
        </p:spPr>
        <p:txBody>
          <a:bodyPr wrap="square" lIns="0" tIns="0" rIns="0" bIns="0" anchor="t">
            <a:noAutofit/>
          </a:bodyPr>
          <a:lstStyle/>
          <a:p>
            <a:pPr algn="l">
              <a:lnSpc>
                <a:spcPct val="100000"/>
              </a:lnSpc>
            </a:pPr>
            <a:r>
              <a:rPr sz="1150" b="0" i="0">
                <a:solidFill>
                  <a:srgbClr val="4A4A5C"/>
                </a:solidFill>
                <a:latin typeface="Arial"/>
              </a:rPr>
              <a:t>hook-carrying q2 malversions caught (97.1%)</a:t>
            </a:r>
          </a:p>
        </p:txBody>
      </p:sp>
      <p:sp>
        <p:nvSpPr>
          <p:cNvPr id="16" name="Rounded Rectangle 15"/>
          <p:cNvSpPr/>
          <p:nvPr/>
        </p:nvSpPr>
        <p:spPr>
          <a:xfrm>
            <a:off x="12783312" y="2788920"/>
            <a:ext cx="4315968" cy="1298448"/>
          </a:xfrm>
          <a:prstGeom prst="roundRect">
            <a:avLst>
              <a:gd name="adj" fmla="val 8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7" name="Rectangle 16"/>
          <p:cNvSpPr/>
          <p:nvPr/>
        </p:nvSpPr>
        <p:spPr>
          <a:xfrm>
            <a:off x="12783312" y="2788920"/>
            <a:ext cx="64008" cy="1298448"/>
          </a:xfrm>
          <a:prstGeom prst="rect">
            <a:avLst/>
          </a:prstGeom>
          <a:solidFill>
            <a:srgbClr val="D95D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8" name="TextBox 17"/>
          <p:cNvSpPr txBox="1"/>
          <p:nvPr/>
        </p:nvSpPr>
        <p:spPr>
          <a:xfrm>
            <a:off x="12984480" y="2898648"/>
            <a:ext cx="4023359" cy="502920"/>
          </a:xfrm>
          <a:prstGeom prst="rect">
            <a:avLst/>
          </a:prstGeom>
          <a:noFill/>
        </p:spPr>
        <p:txBody>
          <a:bodyPr wrap="square" lIns="0" tIns="0" rIns="0" bIns="0" anchor="t">
            <a:noAutofit/>
          </a:bodyPr>
          <a:lstStyle/>
          <a:p>
            <a:pPr algn="l"/>
            <a:r>
              <a:rPr sz="2700" b="1" i="0">
                <a:solidFill>
                  <a:srgbClr val="D95D45"/>
                </a:solidFill>
                <a:latin typeface="Arial"/>
              </a:rPr>
              <a:t>0 / 9</a:t>
            </a:r>
          </a:p>
        </p:txBody>
      </p:sp>
      <p:sp>
        <p:nvSpPr>
          <p:cNvPr id="19" name="TextBox 18"/>
          <p:cNvSpPr txBox="1"/>
          <p:nvPr/>
        </p:nvSpPr>
        <p:spPr>
          <a:xfrm>
            <a:off x="12984480" y="3401568"/>
            <a:ext cx="4023359" cy="640080"/>
          </a:xfrm>
          <a:prstGeom prst="rect">
            <a:avLst/>
          </a:prstGeom>
          <a:noFill/>
        </p:spPr>
        <p:txBody>
          <a:bodyPr wrap="square" lIns="0" tIns="0" rIns="0" bIns="0" anchor="t">
            <a:noAutofit/>
          </a:bodyPr>
          <a:lstStyle/>
          <a:p>
            <a:pPr algn="l">
              <a:lnSpc>
                <a:spcPct val="100000"/>
              </a:lnSpc>
            </a:pPr>
            <a:r>
              <a:rPr sz="1150" b="0" i="0">
                <a:solidFill>
                  <a:srgbClr val="4A4A5C"/>
                </a:solidFill>
                <a:latin typeface="Arial"/>
              </a:rPr>
              <a:t>require-time samples caught — scope limit</a:t>
            </a:r>
          </a:p>
        </p:txBody>
      </p:sp>
      <p:sp>
        <p:nvSpPr>
          <p:cNvPr id="20" name="Rounded Rectangle 19"/>
          <p:cNvSpPr/>
          <p:nvPr/>
        </p:nvSpPr>
        <p:spPr>
          <a:xfrm>
            <a:off x="8275320" y="4270248"/>
            <a:ext cx="4315968" cy="1298448"/>
          </a:xfrm>
          <a:prstGeom prst="roundRect">
            <a:avLst>
              <a:gd name="adj" fmla="val 8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1" name="Rectangle 20"/>
          <p:cNvSpPr/>
          <p:nvPr/>
        </p:nvSpPr>
        <p:spPr>
          <a:xfrm>
            <a:off x="8275320" y="4270248"/>
            <a:ext cx="64008" cy="12984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2" name="TextBox 21"/>
          <p:cNvSpPr txBox="1"/>
          <p:nvPr/>
        </p:nvSpPr>
        <p:spPr>
          <a:xfrm>
            <a:off x="8476488" y="4379976"/>
            <a:ext cx="4023359" cy="502920"/>
          </a:xfrm>
          <a:prstGeom prst="rect">
            <a:avLst/>
          </a:prstGeom>
          <a:noFill/>
        </p:spPr>
        <p:txBody>
          <a:bodyPr wrap="square" lIns="0" tIns="0" rIns="0" bIns="0" anchor="t">
            <a:noAutofit/>
          </a:bodyPr>
          <a:lstStyle/>
          <a:p>
            <a:pPr algn="l"/>
            <a:r>
              <a:rPr sz="2700" b="1" i="0">
                <a:solidFill>
                  <a:srgbClr val="0E7C86"/>
                </a:solidFill>
                <a:latin typeface="Arial"/>
              </a:rPr>
              <a:t>0.60 s</a:t>
            </a:r>
          </a:p>
        </p:txBody>
      </p:sp>
      <p:sp>
        <p:nvSpPr>
          <p:cNvPr id="23" name="TextBox 22"/>
          <p:cNvSpPr txBox="1"/>
          <p:nvPr/>
        </p:nvSpPr>
        <p:spPr>
          <a:xfrm>
            <a:off x="8476488" y="4882896"/>
            <a:ext cx="4023359" cy="640080"/>
          </a:xfrm>
          <a:prstGeom prst="rect">
            <a:avLst/>
          </a:prstGeom>
          <a:noFill/>
        </p:spPr>
        <p:txBody>
          <a:bodyPr wrap="square" lIns="0" tIns="0" rIns="0" bIns="0" anchor="t">
            <a:noAutofit/>
          </a:bodyPr>
          <a:lstStyle/>
          <a:p>
            <a:pPr algn="l">
              <a:lnSpc>
                <a:spcPct val="100000"/>
              </a:lnSpc>
            </a:pPr>
            <a:r>
              <a:rPr sz="1150" b="0" i="0">
                <a:solidFill>
                  <a:srgbClr val="4A4A5C"/>
                </a:solidFill>
                <a:latin typeface="Arial"/>
              </a:rPr>
              <a:t>median benign runtime; 0.3 s cached</a:t>
            </a:r>
          </a:p>
        </p:txBody>
      </p:sp>
      <p:sp>
        <p:nvSpPr>
          <p:cNvPr id="24" name="Rounded Rectangle 23"/>
          <p:cNvSpPr/>
          <p:nvPr/>
        </p:nvSpPr>
        <p:spPr>
          <a:xfrm>
            <a:off x="12783312" y="4270248"/>
            <a:ext cx="4315968" cy="1298448"/>
          </a:xfrm>
          <a:prstGeom prst="roundRect">
            <a:avLst>
              <a:gd name="adj" fmla="val 8000"/>
            </a:avLst>
          </a:prstGeom>
          <a:solidFill>
            <a:srgbClr val="FFFFFF"/>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5" name="Rectangle 24"/>
          <p:cNvSpPr/>
          <p:nvPr/>
        </p:nvSpPr>
        <p:spPr>
          <a:xfrm>
            <a:off x="12783312" y="4270248"/>
            <a:ext cx="64008" cy="1298448"/>
          </a:xfrm>
          <a:prstGeom prst="rect">
            <a:avLst/>
          </a:prstGeom>
          <a:solidFill>
            <a:srgbClr val="D98E2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6" name="TextBox 25"/>
          <p:cNvSpPr txBox="1"/>
          <p:nvPr/>
        </p:nvSpPr>
        <p:spPr>
          <a:xfrm>
            <a:off x="12984480" y="4379976"/>
            <a:ext cx="4023359" cy="502920"/>
          </a:xfrm>
          <a:prstGeom prst="rect">
            <a:avLst/>
          </a:prstGeom>
          <a:noFill/>
        </p:spPr>
        <p:txBody>
          <a:bodyPr wrap="square" lIns="0" tIns="0" rIns="0" bIns="0" anchor="t">
            <a:noAutofit/>
          </a:bodyPr>
          <a:lstStyle/>
          <a:p>
            <a:pPr algn="l"/>
            <a:r>
              <a:rPr sz="2700" b="1" i="0">
                <a:solidFill>
                  <a:srgbClr val="D98E2B"/>
                </a:solidFill>
                <a:latin typeface="Arial"/>
              </a:rPr>
              <a:t>286 s</a:t>
            </a:r>
          </a:p>
        </p:txBody>
      </p:sp>
      <p:sp>
        <p:nvSpPr>
          <p:cNvPr id="27" name="TextBox 26"/>
          <p:cNvSpPr txBox="1"/>
          <p:nvPr/>
        </p:nvSpPr>
        <p:spPr>
          <a:xfrm>
            <a:off x="12984480" y="4882896"/>
            <a:ext cx="4023359" cy="640080"/>
          </a:xfrm>
          <a:prstGeom prst="rect">
            <a:avLst/>
          </a:prstGeom>
          <a:noFill/>
        </p:spPr>
        <p:txBody>
          <a:bodyPr wrap="square" lIns="0" tIns="0" rIns="0" bIns="0" anchor="t">
            <a:noAutofit/>
          </a:bodyPr>
          <a:lstStyle/>
          <a:p>
            <a:pPr algn="l">
              <a:lnSpc>
                <a:spcPct val="100000"/>
              </a:lnSpc>
            </a:pPr>
            <a:r>
              <a:rPr sz="1150" b="0" i="0">
                <a:solidFill>
                  <a:srgbClr val="4A4A5C"/>
                </a:solidFill>
                <a:latin typeface="Arial"/>
              </a:rPr>
              <a:t>full 357-package run at four lanes</a:t>
            </a:r>
          </a:p>
        </p:txBody>
      </p:sp>
      <p:sp>
        <p:nvSpPr>
          <p:cNvPr id="28" name="Rounded Rectangle 27"/>
          <p:cNvSpPr/>
          <p:nvPr/>
        </p:nvSpPr>
        <p:spPr>
          <a:xfrm>
            <a:off x="8275320" y="5943600"/>
            <a:ext cx="8823960" cy="1417320"/>
          </a:xfrm>
          <a:prstGeom prst="roundRect">
            <a:avLst>
              <a:gd name="adj" fmla="val 4000"/>
            </a:avLst>
          </a:prstGeom>
          <a:solidFill>
            <a:srgbClr val="F4F5FC"/>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9" name="TextBox 28"/>
          <p:cNvSpPr txBox="1"/>
          <p:nvPr/>
        </p:nvSpPr>
        <p:spPr>
          <a:xfrm>
            <a:off x="8503920" y="6071616"/>
            <a:ext cx="8412480" cy="256032"/>
          </a:xfrm>
          <a:prstGeom prst="rect">
            <a:avLst/>
          </a:prstGeom>
          <a:noFill/>
        </p:spPr>
        <p:txBody>
          <a:bodyPr wrap="square" lIns="0" tIns="0" rIns="0" bIns="0" anchor="t">
            <a:noAutofit/>
          </a:bodyPr>
          <a:lstStyle/>
          <a:p>
            <a:pPr algn="l"/>
            <a:r>
              <a:rPr sz="1150" b="1" i="0">
                <a:solidFill>
                  <a:srgbClr val="4A4A5C"/>
                </a:solidFill>
                <a:latin typeface="Arial"/>
              </a:rPr>
              <a:t>SCALE CHECK</a:t>
            </a:r>
          </a:p>
        </p:txBody>
      </p:sp>
      <p:sp>
        <p:nvSpPr>
          <p:cNvPr id="30" name="TextBox 29"/>
          <p:cNvSpPr txBox="1"/>
          <p:nvPr/>
        </p:nvSpPr>
        <p:spPr>
          <a:xfrm>
            <a:off x="8503920" y="6355080"/>
            <a:ext cx="8412480" cy="914400"/>
          </a:xfrm>
          <a:prstGeom prst="rect">
            <a:avLst/>
          </a:prstGeom>
          <a:noFill/>
        </p:spPr>
        <p:txBody>
          <a:bodyPr wrap="square" lIns="0" tIns="0" rIns="0" bIns="0" anchor="t">
            <a:noAutofit/>
          </a:bodyPr>
          <a:lstStyle/>
          <a:p>
            <a:pPr algn="l">
              <a:lnSpc>
                <a:spcPct val="104000"/>
              </a:lnSpc>
            </a:pPr>
            <a:r>
              <a:rPr sz="1180" b="0" i="0">
                <a:solidFill>
                  <a:srgbClr val="10101B"/>
                </a:solidFill>
                <a:latin typeface="Arial"/>
              </a:rPr>
              <a:t>2,210-package Guo holdout · 300-package medium benchmark (100% TPR / 0% FPR, in-distribution) · 5,800-package generated fixture used only as a software regression check.</a:t>
            </a:r>
          </a:p>
        </p:txBody>
      </p:sp>
      <p:sp>
        <p:nvSpPr>
          <p:cNvPr id="31" name="TextBox 30"/>
          <p:cNvSpPr txBox="1"/>
          <p:nvPr/>
        </p:nvSpPr>
        <p:spPr>
          <a:xfrm>
            <a:off x="1051560" y="7845552"/>
            <a:ext cx="15910559" cy="365760"/>
          </a:xfrm>
          <a:prstGeom prst="rect">
            <a:avLst/>
          </a:prstGeom>
          <a:noFill/>
        </p:spPr>
        <p:txBody>
          <a:bodyPr wrap="square" lIns="0" tIns="0" rIns="0" bIns="0" anchor="t">
            <a:noAutofit/>
          </a:bodyPr>
          <a:lstStyle/>
          <a:p>
            <a:pPr algn="l"/>
            <a:r>
              <a:rPr sz="1300" b="1" i="0">
                <a:solidFill>
                  <a:srgbClr val="0E7C86"/>
                </a:solidFill>
                <a:latin typeface="Arial"/>
              </a:rPr>
              <a:t>The mutation result is the clearest evidence that the dynamic layers observe behavior, not hook text.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11 — COMPARISON &amp; DISCUSSION</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How It Compares</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17 / 22</a:t>
            </a:r>
          </a:p>
        </p:txBody>
      </p:sp>
      <p:graphicFrame>
        <p:nvGraphicFramePr>
          <p:cNvPr id="9" name="Table 8"/>
          <p:cNvGraphicFramePr>
            <a:graphicFrameLocks noGrp="1"/>
          </p:cNvGraphicFramePr>
          <p:nvPr/>
        </p:nvGraphicFramePr>
        <p:xfrm>
          <a:off x="1051560" y="2542032"/>
          <a:ext cx="16194024" cy="3767328"/>
        </p:xfrm>
        <a:graphic>
          <a:graphicData uri="http://schemas.openxmlformats.org/drawingml/2006/table">
            <a:tbl>
              <a:tblPr firstRow="1"/>
              <a:tblGrid>
                <a:gridCol w="41605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3246120">
                  <a:extLst>
                    <a:ext uri="{9D8B030D-6E8A-4147-A177-3AD203B41FA5}">
                      <a16:colId xmlns:a16="http://schemas.microsoft.com/office/drawing/2014/main" val="20004"/>
                    </a:ext>
                  </a:extLst>
                </a:gridCol>
                <a:gridCol w="2660904">
                  <a:extLst>
                    <a:ext uri="{9D8B030D-6E8A-4147-A177-3AD203B41FA5}">
                      <a16:colId xmlns:a16="http://schemas.microsoft.com/office/drawing/2014/main" val="20005"/>
                    </a:ext>
                  </a:extLst>
                </a:gridCol>
              </a:tblGrid>
              <a:tr h="475488">
                <a:tc>
                  <a:txBody>
                    <a:bodyPr/>
                    <a:lstStyle/>
                    <a:p>
                      <a:pPr algn="l"/>
                      <a:r>
                        <a:rPr sz="1200" b="1">
                          <a:solidFill>
                            <a:srgbClr val="FFFFFF"/>
                          </a:solidFill>
                          <a:latin typeface="Arial"/>
                        </a:rPr>
                        <a:t>APPROACH</a:t>
                      </a:r>
                    </a:p>
                  </a:txBody>
                  <a:tcPr marL="68580" marR="68580" marT="18288" marB="18288" anchor="ctr">
                    <a:lnB w="8255" cap="flat" cmpd="sng" algn="ctr">
                      <a:solidFill>
                        <a:srgbClr val="E1E3F0"/>
                      </a:solidFill>
                      <a:prstDash val="solid"/>
                    </a:lnB>
                    <a:solidFill>
                      <a:srgbClr val="10101B"/>
                    </a:solidFill>
                  </a:tcPr>
                </a:tc>
                <a:tc>
                  <a:txBody>
                    <a:bodyPr/>
                    <a:lstStyle/>
                    <a:p>
                      <a:pPr algn="ctr"/>
                      <a:r>
                        <a:rPr sz="1200" b="1">
                          <a:solidFill>
                            <a:srgbClr val="FFFFFF"/>
                          </a:solidFill>
                          <a:latin typeface="Arial"/>
                        </a:rPr>
                        <a:t>INTENT</a:t>
                      </a:r>
                    </a:p>
                  </a:txBody>
                  <a:tcPr marL="68580" marR="68580" marT="18288" marB="18288" anchor="ctr">
                    <a:lnB w="8255" cap="flat" cmpd="sng" algn="ctr">
                      <a:solidFill>
                        <a:srgbClr val="E1E3F0"/>
                      </a:solidFill>
                      <a:prstDash val="solid"/>
                    </a:lnB>
                    <a:solidFill>
                      <a:srgbClr val="10101B"/>
                    </a:solidFill>
                  </a:tcPr>
                </a:tc>
                <a:tc>
                  <a:txBody>
                    <a:bodyPr/>
                    <a:lstStyle/>
                    <a:p>
                      <a:pPr algn="ctr"/>
                      <a:r>
                        <a:rPr sz="1200" b="1">
                          <a:solidFill>
                            <a:srgbClr val="FFFFFF"/>
                          </a:solidFill>
                          <a:latin typeface="Arial"/>
                        </a:rPr>
                        <a:t>KERNEL</a:t>
                      </a:r>
                    </a:p>
                  </a:txBody>
                  <a:tcPr marL="68580" marR="68580" marT="18288" marB="18288" anchor="ctr">
                    <a:lnB w="8255" cap="flat" cmpd="sng" algn="ctr">
                      <a:solidFill>
                        <a:srgbClr val="E1E3F0"/>
                      </a:solidFill>
                      <a:prstDash val="solid"/>
                    </a:lnB>
                    <a:solidFill>
                      <a:srgbClr val="10101B"/>
                    </a:solidFill>
                  </a:tcPr>
                </a:tc>
                <a:tc>
                  <a:txBody>
                    <a:bodyPr/>
                    <a:lstStyle/>
                    <a:p>
                      <a:pPr algn="ctr"/>
                      <a:r>
                        <a:rPr sz="1200" b="1">
                          <a:solidFill>
                            <a:srgbClr val="FFFFFF"/>
                          </a:solidFill>
                          <a:latin typeface="Arial"/>
                        </a:rPr>
                        <a:t>GATE</a:t>
                      </a:r>
                    </a:p>
                  </a:txBody>
                  <a:tcPr marL="68580" marR="68580" marT="18288" marB="18288" anchor="ctr">
                    <a:lnB w="8255" cap="flat" cmpd="sng" algn="ctr">
                      <a:solidFill>
                        <a:srgbClr val="E1E3F0"/>
                      </a:solidFill>
                      <a:prstDash val="solid"/>
                    </a:lnB>
                    <a:solidFill>
                      <a:srgbClr val="10101B"/>
                    </a:solidFill>
                  </a:tcPr>
                </a:tc>
                <a:tc>
                  <a:txBody>
                    <a:bodyPr/>
                    <a:lstStyle/>
                    <a:p>
                      <a:pPr algn="ctr"/>
                      <a:r>
                        <a:rPr sz="1200" b="1">
                          <a:solidFill>
                            <a:srgbClr val="FFFFFF"/>
                          </a:solidFill>
                          <a:latin typeface="Arial"/>
                        </a:rPr>
                        <a:t>EVIDENCE</a:t>
                      </a:r>
                    </a:p>
                  </a:txBody>
                  <a:tcPr marL="68580" marR="68580" marT="18288" marB="18288" anchor="ctr">
                    <a:lnB w="8255" cap="flat" cmpd="sng" algn="ctr">
                      <a:solidFill>
                        <a:srgbClr val="E1E3F0"/>
                      </a:solidFill>
                      <a:prstDash val="solid"/>
                    </a:lnB>
                    <a:solidFill>
                      <a:srgbClr val="10101B"/>
                    </a:solidFill>
                  </a:tcPr>
                </a:tc>
                <a:tc>
                  <a:txBody>
                    <a:bodyPr/>
                    <a:lstStyle/>
                    <a:p>
                      <a:pPr algn="ctr"/>
                      <a:r>
                        <a:rPr sz="1200" b="1">
                          <a:solidFill>
                            <a:srgbClr val="FFFFFF"/>
                          </a:solidFill>
                          <a:latin typeface="Arial"/>
                        </a:rPr>
                        <a:t>q2 FPR*</a:t>
                      </a:r>
                    </a:p>
                  </a:txBody>
                  <a:tcPr marL="68580" marR="68580" marT="18288" marB="18288" anchor="ctr">
                    <a:lnB w="8255" cap="flat" cmpd="sng" algn="ctr">
                      <a:solidFill>
                        <a:srgbClr val="E1E3F0"/>
                      </a:solidFill>
                      <a:prstDash val="solid"/>
                    </a:lnB>
                    <a:solidFill>
                      <a:srgbClr val="10101B"/>
                    </a:solidFill>
                  </a:tcPr>
                </a:tc>
                <a:extLst>
                  <a:ext uri="{0D108BD9-81ED-4DB2-BD59-A6C34878D82A}">
                    <a16:rowId xmlns:a16="http://schemas.microsoft.com/office/drawing/2014/main" val="10000"/>
                  </a:ext>
                </a:extLst>
              </a:tr>
              <a:tr h="548640">
                <a:tc>
                  <a:txBody>
                    <a:bodyPr/>
                    <a:lstStyle/>
                    <a:p>
                      <a:pPr algn="l"/>
                      <a:r>
                        <a:rPr sz="1400" b="1">
                          <a:solidFill>
                            <a:srgbClr val="10101B"/>
                          </a:solidFill>
                          <a:latin typeface="Arial"/>
                        </a:rPr>
                        <a:t>Static (GuardDog)</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400" b="0">
                          <a:solidFill>
                            <a:srgbClr val="10101B"/>
                          </a:solidFill>
                          <a:latin typeface="Arial"/>
                        </a:rPr>
                        <a: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400" b="0">
                          <a:solidFill>
                            <a:srgbClr val="10101B"/>
                          </a:solidFill>
                          <a:latin typeface="Arial"/>
                        </a:rPr>
                        <a: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400" b="0">
                          <a:solidFill>
                            <a:srgbClr val="10101B"/>
                          </a:solidFill>
                          <a:latin typeface="Arial"/>
                        </a:rPr>
                        <a: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400" b="0">
                          <a:solidFill>
                            <a:srgbClr val="10101B"/>
                          </a:solidFill>
                          <a:latin typeface="Arial"/>
                        </a:rPr>
                        <a:t>Rule score</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400" b="0">
                          <a:solidFill>
                            <a:srgbClr val="10101B"/>
                          </a:solidFill>
                          <a:latin typeface="Arial"/>
                        </a:rPr>
                        <a:t>7.9%</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extLst>
                  <a:ext uri="{0D108BD9-81ED-4DB2-BD59-A6C34878D82A}">
                    <a16:rowId xmlns:a16="http://schemas.microsoft.com/office/drawing/2014/main" val="10001"/>
                  </a:ext>
                </a:extLst>
              </a:tr>
              <a:tr h="548640">
                <a:tc>
                  <a:txBody>
                    <a:bodyPr/>
                    <a:lstStyle/>
                    <a:p>
                      <a:pPr algn="l"/>
                      <a:r>
                        <a:rPr sz="1400" b="1">
                          <a:solidFill>
                            <a:srgbClr val="10101B"/>
                          </a:solidFill>
                          <a:latin typeface="Arial"/>
                        </a:rPr>
                        <a:t>ML (SAP)</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400" b="0">
                          <a:solidFill>
                            <a:srgbClr val="10101B"/>
                          </a:solidFill>
                          <a:latin typeface="Arial"/>
                        </a:rPr>
                        <a: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400" b="0">
                          <a:solidFill>
                            <a:srgbClr val="10101B"/>
                          </a:solidFill>
                          <a:latin typeface="Arial"/>
                        </a:rPr>
                        <a: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400" b="0">
                          <a:solidFill>
                            <a:srgbClr val="10101B"/>
                          </a:solidFill>
                          <a:latin typeface="Arial"/>
                        </a:rPr>
                        <a: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400" b="0">
                          <a:solidFill>
                            <a:srgbClr val="10101B"/>
                          </a:solidFill>
                          <a:latin typeface="Arial"/>
                        </a:rPr>
                        <a:t>Probability</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400" b="0">
                          <a:solidFill>
                            <a:srgbClr val="10101B"/>
                          </a:solidFill>
                          <a:latin typeface="Arial"/>
                        </a:rPr>
                        <a:t>n/a</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extLst>
                  <a:ext uri="{0D108BD9-81ED-4DB2-BD59-A6C34878D82A}">
                    <a16:rowId xmlns:a16="http://schemas.microsoft.com/office/drawing/2014/main" val="10002"/>
                  </a:ext>
                </a:extLst>
              </a:tr>
              <a:tr h="548640">
                <a:tc>
                  <a:txBody>
                    <a:bodyPr/>
                    <a:lstStyle/>
                    <a:p>
                      <a:pPr algn="l"/>
                      <a:r>
                        <a:rPr sz="1400" b="1">
                          <a:solidFill>
                            <a:srgbClr val="10101B"/>
                          </a:solidFill>
                          <a:latin typeface="Arial"/>
                        </a:rPr>
                        <a:t>Static + strace (Packj)</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400" b="0">
                          <a:solidFill>
                            <a:srgbClr val="10101B"/>
                          </a:solidFill>
                          <a:latin typeface="Arial"/>
                        </a:rPr>
                        <a:t>Partial</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400" b="0">
                          <a:solidFill>
                            <a:srgbClr val="10101B"/>
                          </a:solidFill>
                          <a:latin typeface="Arial"/>
                        </a:rPr>
                        <a: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400" b="0">
                          <a:solidFill>
                            <a:srgbClr val="10101B"/>
                          </a:solidFill>
                          <a:latin typeface="Arial"/>
                        </a:rPr>
                        <a: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400" b="0">
                          <a:solidFill>
                            <a:srgbClr val="10101B"/>
                          </a:solidFill>
                          <a:latin typeface="Arial"/>
                        </a:rPr>
                        <a:t>ptrace trace</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400" b="0">
                          <a:solidFill>
                            <a:srgbClr val="10101B"/>
                          </a:solidFill>
                          <a:latin typeface="Arial"/>
                        </a:rPr>
                        <a:t>6.1%*</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extLst>
                  <a:ext uri="{0D108BD9-81ED-4DB2-BD59-A6C34878D82A}">
                    <a16:rowId xmlns:a16="http://schemas.microsoft.com/office/drawing/2014/main" val="10003"/>
                  </a:ext>
                </a:extLst>
              </a:tr>
              <a:tr h="548640">
                <a:tc>
                  <a:txBody>
                    <a:bodyPr/>
                    <a:lstStyle/>
                    <a:p>
                      <a:pPr algn="l"/>
                      <a:r>
                        <a:rPr sz="1400" b="1">
                          <a:solidFill>
                            <a:srgbClr val="10101B"/>
                          </a:solidFill>
                          <a:latin typeface="Arial"/>
                        </a:rPr>
                        <a:t>Registry gate (Socket)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400" b="0">
                          <a:solidFill>
                            <a:srgbClr val="10101B"/>
                          </a:solidFill>
                          <a:latin typeface="Arial"/>
                        </a:rPr>
                        <a: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400" b="0">
                          <a:solidFill>
                            <a:srgbClr val="10101B"/>
                          </a:solidFill>
                          <a:latin typeface="Arial"/>
                        </a:rPr>
                        <a: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400" b="0">
                          <a:solidFill>
                            <a:srgbClr val="10101B"/>
                          </a:solidFill>
                          <a:latin typeface="Arial"/>
                        </a:rPr>
                        <a:t>Yes</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400" b="0">
                          <a:solidFill>
                            <a:srgbClr val="10101B"/>
                          </a:solidFill>
                          <a:latin typeface="Arial"/>
                        </a:rPr>
                        <a:t>Label</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tc>
                  <a:txBody>
                    <a:bodyPr/>
                    <a:lstStyle/>
                    <a:p>
                      <a:pPr algn="ctr"/>
                      <a:r>
                        <a:rPr sz="1400" b="0">
                          <a:solidFill>
                            <a:srgbClr val="10101B"/>
                          </a:solidFill>
                          <a:latin typeface="Arial"/>
                        </a:rPr>
                        <a:t>n/a</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4F5FC"/>
                    </a:solidFill>
                  </a:tcPr>
                </a:tc>
                <a:extLst>
                  <a:ext uri="{0D108BD9-81ED-4DB2-BD59-A6C34878D82A}">
                    <a16:rowId xmlns:a16="http://schemas.microsoft.com/office/drawing/2014/main" val="10004"/>
                  </a:ext>
                </a:extLst>
              </a:tr>
              <a:tr h="548640">
                <a:tc>
                  <a:txBody>
                    <a:bodyPr/>
                    <a:lstStyle/>
                    <a:p>
                      <a:pPr algn="l"/>
                      <a:r>
                        <a:rPr sz="1400" b="1">
                          <a:solidFill>
                            <a:srgbClr val="10101B"/>
                          </a:solidFill>
                          <a:latin typeface="Arial"/>
                        </a:rPr>
                        <a:t>eBPF (Tetragon/Bomfather)</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400" b="0">
                          <a:solidFill>
                            <a:srgbClr val="10101B"/>
                          </a:solidFill>
                          <a:latin typeface="Arial"/>
                        </a:rPr>
                        <a:t>—</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400" b="0">
                          <a:solidFill>
                            <a:srgbClr val="10101B"/>
                          </a:solidFill>
                          <a:latin typeface="Arial"/>
                        </a:rPr>
                        <a:t>Yes</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400" b="0">
                          <a:solidFill>
                            <a:srgbClr val="10101B"/>
                          </a:solidFill>
                          <a:latin typeface="Arial"/>
                        </a:rPr>
                        <a:t>Partial</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400" b="0">
                          <a:solidFill>
                            <a:srgbClr val="10101B"/>
                          </a:solidFill>
                          <a:latin typeface="Arial"/>
                        </a:rPr>
                        <a:t>Syscalls</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tc>
                  <a:txBody>
                    <a:bodyPr/>
                    <a:lstStyle/>
                    <a:p>
                      <a:pPr algn="ctr"/>
                      <a:r>
                        <a:rPr sz="1400" b="0">
                          <a:solidFill>
                            <a:srgbClr val="10101B"/>
                          </a:solidFill>
                          <a:latin typeface="Arial"/>
                        </a:rPr>
                        <a:t>n/a</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FFFFFF"/>
                    </a:solidFill>
                  </a:tcPr>
                </a:tc>
                <a:extLst>
                  <a:ext uri="{0D108BD9-81ED-4DB2-BD59-A6C34878D82A}">
                    <a16:rowId xmlns:a16="http://schemas.microsoft.com/office/drawing/2014/main" val="10005"/>
                  </a:ext>
                </a:extLst>
              </a:tr>
              <a:tr h="548640">
                <a:tc>
                  <a:txBody>
                    <a:bodyPr/>
                    <a:lstStyle/>
                    <a:p>
                      <a:pPr algn="l"/>
                      <a:r>
                        <a:rPr sz="1400" b="1">
                          <a:solidFill>
                            <a:srgbClr val="10101B"/>
                          </a:solidFill>
                          <a:latin typeface="Arial"/>
                        </a:rPr>
                        <a:t>HookGuard</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E8ECFF"/>
                    </a:solidFill>
                  </a:tcPr>
                </a:tc>
                <a:tc>
                  <a:txBody>
                    <a:bodyPr/>
                    <a:lstStyle/>
                    <a:p>
                      <a:pPr algn="ctr"/>
                      <a:r>
                        <a:rPr sz="1400" b="1">
                          <a:solidFill>
                            <a:srgbClr val="10101B"/>
                          </a:solidFill>
                          <a:latin typeface="Arial"/>
                        </a:rPr>
                        <a:t>Yes</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E8ECFF"/>
                    </a:solidFill>
                  </a:tcPr>
                </a:tc>
                <a:tc>
                  <a:txBody>
                    <a:bodyPr/>
                    <a:lstStyle/>
                    <a:p>
                      <a:pPr algn="ctr"/>
                      <a:r>
                        <a:rPr sz="1400" b="1">
                          <a:solidFill>
                            <a:srgbClr val="10101B"/>
                          </a:solidFill>
                          <a:latin typeface="Arial"/>
                        </a:rPr>
                        <a:t>Yes</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E8ECFF"/>
                    </a:solidFill>
                  </a:tcPr>
                </a:tc>
                <a:tc>
                  <a:txBody>
                    <a:bodyPr/>
                    <a:lstStyle/>
                    <a:p>
                      <a:pPr algn="ctr"/>
                      <a:r>
                        <a:rPr sz="1400" b="1">
                          <a:solidFill>
                            <a:srgbClr val="10101B"/>
                          </a:solidFill>
                          <a:latin typeface="Arial"/>
                        </a:rPr>
                        <a:t>Yes</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E8ECFF"/>
                    </a:solidFill>
                  </a:tcPr>
                </a:tc>
                <a:tc>
                  <a:txBody>
                    <a:bodyPr/>
                    <a:lstStyle/>
                    <a:p>
                      <a:pPr algn="ctr"/>
                      <a:r>
                        <a:rPr sz="1400" b="1">
                          <a:solidFill>
                            <a:srgbClr val="10101B"/>
                          </a:solidFill>
                          <a:latin typeface="Arial"/>
                        </a:rPr>
                        <a:t>Full chain</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E8ECFF"/>
                    </a:solidFill>
                  </a:tcPr>
                </a:tc>
                <a:tc>
                  <a:txBody>
                    <a:bodyPr/>
                    <a:lstStyle/>
                    <a:p>
                      <a:pPr algn="ctr"/>
                      <a:r>
                        <a:rPr sz="1400" b="1">
                          <a:solidFill>
                            <a:srgbClr val="10101B"/>
                          </a:solidFill>
                          <a:latin typeface="Arial"/>
                        </a:rPr>
                        <a:t>0.34%</a:t>
                      </a:r>
                    </a:p>
                  </a:txBody>
                  <a:tcPr marL="68580" marR="68580" marT="18288" marB="18288" anchor="ctr">
                    <a:lnT w="8255" cap="flat" cmpd="sng" algn="ctr">
                      <a:solidFill>
                        <a:srgbClr val="E1E3F0"/>
                      </a:solidFill>
                      <a:prstDash val="solid"/>
                      <a:round/>
                      <a:headEnd type="none" w="med" len="med"/>
                      <a:tailEnd type="none" w="med" len="med"/>
                    </a:lnT>
                    <a:lnB w="8255" cap="flat" cmpd="sng" algn="ctr">
                      <a:solidFill>
                        <a:srgbClr val="E1E3F0"/>
                      </a:solidFill>
                      <a:prstDash val="solid"/>
                    </a:lnB>
                    <a:solidFill>
                      <a:srgbClr val="E8ECFF"/>
                    </a:solidFill>
                  </a:tcPr>
                </a:tc>
                <a:extLst>
                  <a:ext uri="{0D108BD9-81ED-4DB2-BD59-A6C34878D82A}">
                    <a16:rowId xmlns:a16="http://schemas.microsoft.com/office/drawing/2014/main" val="10006"/>
                  </a:ext>
                </a:extLst>
              </a:tr>
            </a:tbl>
          </a:graphicData>
        </a:graphic>
      </p:graphicFrame>
      <p:sp>
        <p:nvSpPr>
          <p:cNvPr id="10" name="Rounded Rectangle 9"/>
          <p:cNvSpPr/>
          <p:nvPr/>
        </p:nvSpPr>
        <p:spPr>
          <a:xfrm>
            <a:off x="1051560" y="6656832"/>
            <a:ext cx="16194024" cy="1847088"/>
          </a:xfrm>
          <a:prstGeom prst="roundRect">
            <a:avLst>
              <a:gd name="adj" fmla="val 3500"/>
            </a:avLst>
          </a:prstGeom>
          <a:solidFill>
            <a:srgbClr val="F4F5FC"/>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1" name="TextBox 10"/>
          <p:cNvSpPr txBox="1"/>
          <p:nvPr/>
        </p:nvSpPr>
        <p:spPr>
          <a:xfrm>
            <a:off x="1325880" y="6784848"/>
            <a:ext cx="15544800" cy="274320"/>
          </a:xfrm>
          <a:prstGeom prst="rect">
            <a:avLst/>
          </a:prstGeom>
          <a:noFill/>
        </p:spPr>
        <p:txBody>
          <a:bodyPr wrap="square" lIns="0" tIns="0" rIns="0" bIns="0" anchor="t">
            <a:noAutofit/>
          </a:bodyPr>
          <a:lstStyle/>
          <a:p>
            <a:pPr algn="l"/>
            <a:r>
              <a:rPr sz="1150" b="1" i="0">
                <a:solidFill>
                  <a:srgbClr val="4A4A5C"/>
                </a:solidFill>
                <a:latin typeface="Arial"/>
              </a:rPr>
              <a:t>DISCUSSION</a:t>
            </a:r>
          </a:p>
        </p:txBody>
      </p:sp>
      <p:sp>
        <p:nvSpPr>
          <p:cNvPr id="12" name="TextBox 11"/>
          <p:cNvSpPr txBox="1"/>
          <p:nvPr/>
        </p:nvSpPr>
        <p:spPr>
          <a:xfrm>
            <a:off x="1325880" y="7114032"/>
            <a:ext cx="201168" cy="237744"/>
          </a:xfrm>
          <a:prstGeom prst="rect">
            <a:avLst/>
          </a:prstGeom>
          <a:noFill/>
        </p:spPr>
        <p:txBody>
          <a:bodyPr wrap="square" lIns="0" tIns="0" rIns="0" bIns="0" anchor="t">
            <a:noAutofit/>
          </a:bodyPr>
          <a:lstStyle/>
          <a:p>
            <a:pPr algn="l"/>
            <a:r>
              <a:rPr sz="1200" b="1" i="0">
                <a:solidFill>
                  <a:srgbClr val="1200FF"/>
                </a:solidFill>
                <a:latin typeface="Arial"/>
              </a:rPr>
              <a:t>•</a:t>
            </a:r>
          </a:p>
        </p:txBody>
      </p:sp>
      <p:sp>
        <p:nvSpPr>
          <p:cNvPr id="13" name="TextBox 12"/>
          <p:cNvSpPr txBox="1"/>
          <p:nvPr/>
        </p:nvSpPr>
        <p:spPr>
          <a:xfrm>
            <a:off x="1572768" y="7095744"/>
            <a:ext cx="15270480" cy="402336"/>
          </a:xfrm>
          <a:prstGeom prst="rect">
            <a:avLst/>
          </a:prstGeom>
          <a:noFill/>
        </p:spPr>
        <p:txBody>
          <a:bodyPr wrap="square" lIns="0" tIns="0" rIns="0" bIns="0" anchor="t">
            <a:noAutofit/>
          </a:bodyPr>
          <a:lstStyle/>
          <a:p>
            <a:pPr algn="l"/>
            <a:r>
              <a:rPr sz="1290" b="0" i="0">
                <a:solidFill>
                  <a:srgbClr val="10101B"/>
                </a:solidFill>
                <a:latin typeface="Arial"/>
              </a:rPr>
              <a:t>HookGuard does not win raw recall; it wins the precision/evidence trade-off at the blocking point.</a:t>
            </a:r>
          </a:p>
        </p:txBody>
      </p:sp>
      <p:sp>
        <p:nvSpPr>
          <p:cNvPr id="14" name="TextBox 13"/>
          <p:cNvSpPr txBox="1"/>
          <p:nvPr/>
        </p:nvSpPr>
        <p:spPr>
          <a:xfrm>
            <a:off x="1325880" y="7543800"/>
            <a:ext cx="201168" cy="237744"/>
          </a:xfrm>
          <a:prstGeom prst="rect">
            <a:avLst/>
          </a:prstGeom>
          <a:noFill/>
        </p:spPr>
        <p:txBody>
          <a:bodyPr wrap="square" lIns="0" tIns="0" rIns="0" bIns="0" anchor="t">
            <a:noAutofit/>
          </a:bodyPr>
          <a:lstStyle/>
          <a:p>
            <a:pPr algn="l"/>
            <a:r>
              <a:rPr sz="1200" b="1" i="0">
                <a:solidFill>
                  <a:srgbClr val="1200FF"/>
                </a:solidFill>
                <a:latin typeface="Arial"/>
              </a:rPr>
              <a:t>•</a:t>
            </a:r>
          </a:p>
        </p:txBody>
      </p:sp>
      <p:sp>
        <p:nvSpPr>
          <p:cNvPr id="15" name="TextBox 14"/>
          <p:cNvSpPr txBox="1"/>
          <p:nvPr/>
        </p:nvSpPr>
        <p:spPr>
          <a:xfrm>
            <a:off x="1572768" y="7525512"/>
            <a:ext cx="15270480" cy="402336"/>
          </a:xfrm>
          <a:prstGeom prst="rect">
            <a:avLst/>
          </a:prstGeom>
          <a:noFill/>
        </p:spPr>
        <p:txBody>
          <a:bodyPr wrap="square" lIns="0" tIns="0" rIns="0" bIns="0" anchor="t">
            <a:noAutofit/>
          </a:bodyPr>
          <a:lstStyle/>
          <a:p>
            <a:pPr algn="l"/>
            <a:r>
              <a:rPr sz="1290" b="0" i="0">
                <a:solidFill>
                  <a:srgbClr val="10101B"/>
                </a:solidFill>
                <a:latin typeface="Arial"/>
              </a:rPr>
              <a:t>Failure modes are asymmetric — compose review-only GuardDog alerts with HookGuard’s blocking gate.</a:t>
            </a:r>
          </a:p>
        </p:txBody>
      </p:sp>
      <p:sp>
        <p:nvSpPr>
          <p:cNvPr id="16" name="TextBox 15"/>
          <p:cNvSpPr txBox="1"/>
          <p:nvPr/>
        </p:nvSpPr>
        <p:spPr>
          <a:xfrm>
            <a:off x="1325880" y="7973568"/>
            <a:ext cx="201168" cy="237744"/>
          </a:xfrm>
          <a:prstGeom prst="rect">
            <a:avLst/>
          </a:prstGeom>
          <a:noFill/>
        </p:spPr>
        <p:txBody>
          <a:bodyPr wrap="square" lIns="0" tIns="0" rIns="0" bIns="0" anchor="t">
            <a:noAutofit/>
          </a:bodyPr>
          <a:lstStyle/>
          <a:p>
            <a:pPr algn="l"/>
            <a:r>
              <a:rPr sz="1200" b="1" i="0">
                <a:solidFill>
                  <a:srgbClr val="1200FF"/>
                </a:solidFill>
                <a:latin typeface="Arial"/>
              </a:rPr>
              <a:t>•</a:t>
            </a:r>
          </a:p>
        </p:txBody>
      </p:sp>
      <p:sp>
        <p:nvSpPr>
          <p:cNvPr id="17" name="TextBox 16"/>
          <p:cNvSpPr txBox="1"/>
          <p:nvPr/>
        </p:nvSpPr>
        <p:spPr>
          <a:xfrm>
            <a:off x="1572768" y="7955280"/>
            <a:ext cx="15270480" cy="402336"/>
          </a:xfrm>
          <a:prstGeom prst="rect">
            <a:avLst/>
          </a:prstGeom>
          <a:noFill/>
        </p:spPr>
        <p:txBody>
          <a:bodyPr wrap="square" lIns="0" tIns="0" rIns="0" bIns="0" anchor="t">
            <a:noAutofit/>
          </a:bodyPr>
          <a:lstStyle/>
          <a:p>
            <a:pPr algn="l"/>
            <a:r>
              <a:rPr sz="1290" b="0" i="0">
                <a:solidFill>
                  <a:srgbClr val="10101B"/>
                </a:solidFill>
                <a:latin typeface="Arial"/>
              </a:rPr>
              <a:t>Deployment argument: a double-digit FPR is hard to keep enabled; a sub-percent gate is operable.</a:t>
            </a:r>
          </a:p>
        </p:txBody>
      </p:sp>
      <p:sp>
        <p:nvSpPr>
          <p:cNvPr id="18" name="TextBox 17"/>
          <p:cNvSpPr txBox="1"/>
          <p:nvPr/>
        </p:nvSpPr>
        <p:spPr>
          <a:xfrm>
            <a:off x="1051560" y="6345936"/>
            <a:ext cx="14813280" cy="237744"/>
          </a:xfrm>
          <a:prstGeom prst="rect">
            <a:avLst/>
          </a:prstGeom>
          <a:noFill/>
        </p:spPr>
        <p:txBody>
          <a:bodyPr wrap="square" lIns="0" tIns="0" rIns="0" bIns="0" anchor="t">
            <a:spAutoFit/>
          </a:bodyPr>
          <a:lstStyle/>
          <a:p>
            <a:pPr algn="l">
              <a:lnSpc>
                <a:spcPct val="100000"/>
              </a:lnSpc>
              <a:spcBef>
                <a:spcPts val="0"/>
              </a:spcBef>
              <a:spcAft>
                <a:spcPts val="0"/>
              </a:spcAft>
            </a:pPr>
            <a:r>
              <a:rPr sz="830" b="0" i="0">
                <a:solidFill>
                  <a:srgbClr val="5C677D"/>
                </a:solidFill>
                <a:latin typeface="Arial"/>
              </a:rPr>
              <a:t>q2 FPR measured in this study. Packj 6.1% is its offline static component; Packj_dynamic/MalOSS were not rerun on q2. Tetragon enforces; Bomfather observes. Sources: [4], [7], [8], [9], [13].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11 — LIMITATIONS</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Limitations &amp; Threats to Validity</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18 / 22</a:t>
            </a:r>
          </a:p>
        </p:txBody>
      </p:sp>
      <p:sp>
        <p:nvSpPr>
          <p:cNvPr id="9" name="Rounded Rectangle 8"/>
          <p:cNvSpPr/>
          <p:nvPr/>
        </p:nvSpPr>
        <p:spPr>
          <a:xfrm>
            <a:off x="1051560" y="2578608"/>
            <a:ext cx="7909560" cy="2286000"/>
          </a:xfrm>
          <a:prstGeom prst="roundRect">
            <a:avLst>
              <a:gd name="adj" fmla="val 4000"/>
            </a:avLst>
          </a:prstGeom>
          <a:solidFill>
            <a:srgbClr val="FBECE9"/>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0" name="TextBox 9"/>
          <p:cNvSpPr txBox="1"/>
          <p:nvPr/>
        </p:nvSpPr>
        <p:spPr>
          <a:xfrm>
            <a:off x="1307592" y="2743200"/>
            <a:ext cx="7132320" cy="274320"/>
          </a:xfrm>
          <a:prstGeom prst="rect">
            <a:avLst/>
          </a:prstGeom>
          <a:noFill/>
        </p:spPr>
        <p:txBody>
          <a:bodyPr wrap="square" lIns="0" tIns="0" rIns="0" bIns="0" anchor="t">
            <a:noAutofit/>
          </a:bodyPr>
          <a:lstStyle/>
          <a:p>
            <a:pPr algn="l"/>
            <a:r>
              <a:rPr sz="1200" b="1" i="0">
                <a:solidFill>
                  <a:srgbClr val="D95D45"/>
                </a:solidFill>
                <a:latin typeface="Arial"/>
              </a:rPr>
              <a:t>SCOPE</a:t>
            </a:r>
          </a:p>
        </p:txBody>
      </p:sp>
      <p:sp>
        <p:nvSpPr>
          <p:cNvPr id="11" name="TextBox 10"/>
          <p:cNvSpPr txBox="1"/>
          <p:nvPr/>
        </p:nvSpPr>
        <p:spPr>
          <a:xfrm>
            <a:off x="1307592" y="3145536"/>
            <a:ext cx="201168" cy="228600"/>
          </a:xfrm>
          <a:prstGeom prst="rect">
            <a:avLst/>
          </a:prstGeom>
          <a:noFill/>
        </p:spPr>
        <p:txBody>
          <a:bodyPr wrap="square" lIns="0" tIns="0" rIns="0" bIns="0" anchor="t">
            <a:noAutofit/>
          </a:bodyPr>
          <a:lstStyle/>
          <a:p>
            <a:pPr algn="l"/>
            <a:r>
              <a:rPr sz="1100" b="1" i="0">
                <a:solidFill>
                  <a:srgbClr val="D95D45"/>
                </a:solidFill>
                <a:latin typeface="Arial"/>
              </a:rPr>
              <a:t>•</a:t>
            </a:r>
          </a:p>
        </p:txBody>
      </p:sp>
      <p:sp>
        <p:nvSpPr>
          <p:cNvPr id="12" name="TextBox 11"/>
          <p:cNvSpPr txBox="1"/>
          <p:nvPr/>
        </p:nvSpPr>
        <p:spPr>
          <a:xfrm>
            <a:off x="1545336" y="3127248"/>
            <a:ext cx="7086600" cy="502920"/>
          </a:xfrm>
          <a:prstGeom prst="rect">
            <a:avLst/>
          </a:prstGeom>
          <a:noFill/>
        </p:spPr>
        <p:txBody>
          <a:bodyPr wrap="square" lIns="0" tIns="0" rIns="0" bIns="0" anchor="t">
            <a:noAutofit/>
          </a:bodyPr>
          <a:lstStyle/>
          <a:p>
            <a:pPr algn="l">
              <a:lnSpc>
                <a:spcPct val="100000"/>
              </a:lnSpc>
            </a:pPr>
            <a:r>
              <a:rPr sz="1240" b="0" i="0">
                <a:solidFill>
                  <a:srgbClr val="10101B"/>
                </a:solidFill>
                <a:latin typeface="Arial"/>
              </a:rPr>
              <a:t>Install phase only: 0/9 require-time samples caught.</a:t>
            </a:r>
          </a:p>
        </p:txBody>
      </p:sp>
      <p:sp>
        <p:nvSpPr>
          <p:cNvPr id="13" name="TextBox 12"/>
          <p:cNvSpPr txBox="1"/>
          <p:nvPr/>
        </p:nvSpPr>
        <p:spPr>
          <a:xfrm>
            <a:off x="1307592" y="3694176"/>
            <a:ext cx="201168" cy="228600"/>
          </a:xfrm>
          <a:prstGeom prst="rect">
            <a:avLst/>
          </a:prstGeom>
          <a:noFill/>
        </p:spPr>
        <p:txBody>
          <a:bodyPr wrap="square" lIns="0" tIns="0" rIns="0" bIns="0" anchor="t">
            <a:noAutofit/>
          </a:bodyPr>
          <a:lstStyle/>
          <a:p>
            <a:pPr algn="l"/>
            <a:r>
              <a:rPr sz="1100" b="1" i="0">
                <a:solidFill>
                  <a:srgbClr val="D95D45"/>
                </a:solidFill>
                <a:latin typeface="Arial"/>
              </a:rPr>
              <a:t>•</a:t>
            </a:r>
          </a:p>
        </p:txBody>
      </p:sp>
      <p:sp>
        <p:nvSpPr>
          <p:cNvPr id="14" name="TextBox 13"/>
          <p:cNvSpPr txBox="1"/>
          <p:nvPr/>
        </p:nvSpPr>
        <p:spPr>
          <a:xfrm>
            <a:off x="1545336" y="3675888"/>
            <a:ext cx="7086600" cy="502920"/>
          </a:xfrm>
          <a:prstGeom prst="rect">
            <a:avLst/>
          </a:prstGeom>
          <a:noFill/>
        </p:spPr>
        <p:txBody>
          <a:bodyPr wrap="square" lIns="0" tIns="0" rIns="0" bIns="0" anchor="t">
            <a:noAutofit/>
          </a:bodyPr>
          <a:lstStyle/>
          <a:p>
            <a:pPr algn="l">
              <a:lnSpc>
                <a:spcPct val="100000"/>
              </a:lnSpc>
            </a:pPr>
            <a:r>
              <a:rPr sz="1240" b="0" i="0">
                <a:solidFill>
                  <a:srgbClr val="10101B"/>
                </a:solidFill>
                <a:latin typeface="Arial"/>
              </a:rPr>
              <a:t>Dependency-relay attacks are outside the threat model.</a:t>
            </a:r>
          </a:p>
        </p:txBody>
      </p:sp>
      <p:sp>
        <p:nvSpPr>
          <p:cNvPr id="15" name="TextBox 14"/>
          <p:cNvSpPr txBox="1"/>
          <p:nvPr/>
        </p:nvSpPr>
        <p:spPr>
          <a:xfrm>
            <a:off x="1307592" y="4242816"/>
            <a:ext cx="201168" cy="228600"/>
          </a:xfrm>
          <a:prstGeom prst="rect">
            <a:avLst/>
          </a:prstGeom>
          <a:noFill/>
        </p:spPr>
        <p:txBody>
          <a:bodyPr wrap="square" lIns="0" tIns="0" rIns="0" bIns="0" anchor="t">
            <a:noAutofit/>
          </a:bodyPr>
          <a:lstStyle/>
          <a:p>
            <a:pPr algn="l"/>
            <a:r>
              <a:rPr sz="1100" b="1" i="0">
                <a:solidFill>
                  <a:srgbClr val="D95D45"/>
                </a:solidFill>
                <a:latin typeface="Arial"/>
              </a:rPr>
              <a:t>•</a:t>
            </a:r>
          </a:p>
        </p:txBody>
      </p:sp>
      <p:sp>
        <p:nvSpPr>
          <p:cNvPr id="16" name="TextBox 15"/>
          <p:cNvSpPr txBox="1"/>
          <p:nvPr/>
        </p:nvSpPr>
        <p:spPr>
          <a:xfrm>
            <a:off x="1545336" y="4224528"/>
            <a:ext cx="7086600" cy="502920"/>
          </a:xfrm>
          <a:prstGeom prst="rect">
            <a:avLst/>
          </a:prstGeom>
          <a:noFill/>
        </p:spPr>
        <p:txBody>
          <a:bodyPr wrap="square" lIns="0" tIns="0" rIns="0" bIns="0" anchor="t">
            <a:noAutofit/>
          </a:bodyPr>
          <a:lstStyle/>
          <a:p>
            <a:pPr algn="l">
              <a:lnSpc>
                <a:spcPct val="100000"/>
              </a:lnSpc>
            </a:pPr>
            <a:r>
              <a:rPr sz="1240" b="0" i="0">
                <a:solidFill>
                  <a:srgbClr val="10101B"/>
                </a:solidFill>
                <a:latin typeface="Arial"/>
              </a:rPr>
              <a:t>Windows payloads were exercised through emulation, not natively.</a:t>
            </a:r>
          </a:p>
        </p:txBody>
      </p:sp>
      <p:sp>
        <p:nvSpPr>
          <p:cNvPr id="17" name="Rounded Rectangle 16"/>
          <p:cNvSpPr/>
          <p:nvPr/>
        </p:nvSpPr>
        <p:spPr>
          <a:xfrm>
            <a:off x="9326880" y="2578608"/>
            <a:ext cx="7909560" cy="2286000"/>
          </a:xfrm>
          <a:prstGeom prst="roundRect">
            <a:avLst>
              <a:gd name="adj" fmla="val 4000"/>
            </a:avLst>
          </a:prstGeom>
          <a:solidFill>
            <a:srgbClr val="FDF4E4"/>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8" name="TextBox 17"/>
          <p:cNvSpPr txBox="1"/>
          <p:nvPr/>
        </p:nvSpPr>
        <p:spPr>
          <a:xfrm>
            <a:off x="9582912" y="2743200"/>
            <a:ext cx="7132320" cy="274320"/>
          </a:xfrm>
          <a:prstGeom prst="rect">
            <a:avLst/>
          </a:prstGeom>
          <a:noFill/>
        </p:spPr>
        <p:txBody>
          <a:bodyPr wrap="square" lIns="0" tIns="0" rIns="0" bIns="0" anchor="t">
            <a:noAutofit/>
          </a:bodyPr>
          <a:lstStyle/>
          <a:p>
            <a:pPr algn="l"/>
            <a:r>
              <a:rPr sz="1200" b="1" i="0">
                <a:solidFill>
                  <a:srgbClr val="D98E2B"/>
                </a:solidFill>
                <a:latin typeface="Arial"/>
              </a:rPr>
              <a:t>CORPORA &amp; PROTOCOL</a:t>
            </a:r>
          </a:p>
        </p:txBody>
      </p:sp>
      <p:sp>
        <p:nvSpPr>
          <p:cNvPr id="19" name="TextBox 18"/>
          <p:cNvSpPr txBox="1"/>
          <p:nvPr/>
        </p:nvSpPr>
        <p:spPr>
          <a:xfrm>
            <a:off x="9582912" y="3145536"/>
            <a:ext cx="201168" cy="228600"/>
          </a:xfrm>
          <a:prstGeom prst="rect">
            <a:avLst/>
          </a:prstGeom>
          <a:noFill/>
        </p:spPr>
        <p:txBody>
          <a:bodyPr wrap="square" lIns="0" tIns="0" rIns="0" bIns="0" anchor="t">
            <a:noAutofit/>
          </a:bodyPr>
          <a:lstStyle/>
          <a:p>
            <a:pPr algn="l"/>
            <a:r>
              <a:rPr sz="1100" b="1" i="0">
                <a:solidFill>
                  <a:srgbClr val="D98E2B"/>
                </a:solidFill>
                <a:latin typeface="Arial"/>
              </a:rPr>
              <a:t>•</a:t>
            </a:r>
          </a:p>
        </p:txBody>
      </p:sp>
      <p:sp>
        <p:nvSpPr>
          <p:cNvPr id="20" name="TextBox 19"/>
          <p:cNvSpPr txBox="1"/>
          <p:nvPr/>
        </p:nvSpPr>
        <p:spPr>
          <a:xfrm>
            <a:off x="9820656" y="3127248"/>
            <a:ext cx="7086600" cy="502920"/>
          </a:xfrm>
          <a:prstGeom prst="rect">
            <a:avLst/>
          </a:prstGeom>
          <a:noFill/>
        </p:spPr>
        <p:txBody>
          <a:bodyPr wrap="square" lIns="0" tIns="0" rIns="0" bIns="0" anchor="t">
            <a:noAutofit/>
          </a:bodyPr>
          <a:lstStyle/>
          <a:p>
            <a:pPr algn="l">
              <a:lnSpc>
                <a:spcPct val="100000"/>
              </a:lnSpc>
            </a:pPr>
            <a:r>
              <a:rPr sz="1240" b="0" i="0">
                <a:solidFill>
                  <a:srgbClr val="10101B"/>
                </a:solidFill>
                <a:latin typeface="Arial"/>
              </a:rPr>
              <a:t>357 and 2,210 packages are not random registry samples.</a:t>
            </a:r>
          </a:p>
        </p:txBody>
      </p:sp>
      <p:sp>
        <p:nvSpPr>
          <p:cNvPr id="21" name="TextBox 20"/>
          <p:cNvSpPr txBox="1"/>
          <p:nvPr/>
        </p:nvSpPr>
        <p:spPr>
          <a:xfrm>
            <a:off x="9582912" y="3694176"/>
            <a:ext cx="201168" cy="228600"/>
          </a:xfrm>
          <a:prstGeom prst="rect">
            <a:avLst/>
          </a:prstGeom>
          <a:noFill/>
        </p:spPr>
        <p:txBody>
          <a:bodyPr wrap="square" lIns="0" tIns="0" rIns="0" bIns="0" anchor="t">
            <a:noAutofit/>
          </a:bodyPr>
          <a:lstStyle/>
          <a:p>
            <a:pPr algn="l"/>
            <a:r>
              <a:rPr sz="1100" b="1" i="0">
                <a:solidFill>
                  <a:srgbClr val="D98E2B"/>
                </a:solidFill>
                <a:latin typeface="Arial"/>
              </a:rPr>
              <a:t>•</a:t>
            </a:r>
          </a:p>
        </p:txBody>
      </p:sp>
      <p:sp>
        <p:nvSpPr>
          <p:cNvPr id="22" name="TextBox 21"/>
          <p:cNvSpPr txBox="1"/>
          <p:nvPr/>
        </p:nvSpPr>
        <p:spPr>
          <a:xfrm>
            <a:off x="9820656" y="3675888"/>
            <a:ext cx="7086600" cy="502920"/>
          </a:xfrm>
          <a:prstGeom prst="rect">
            <a:avLst/>
          </a:prstGeom>
          <a:noFill/>
        </p:spPr>
        <p:txBody>
          <a:bodyPr wrap="square" lIns="0" tIns="0" rIns="0" bIns="0" anchor="t">
            <a:noAutofit/>
          </a:bodyPr>
          <a:lstStyle/>
          <a:p>
            <a:pPr algn="l">
              <a:lnSpc>
                <a:spcPct val="100000"/>
              </a:lnSpc>
            </a:pPr>
            <a:r>
              <a:rPr sz="1240" b="0" i="0">
                <a:solidFill>
                  <a:srgbClr val="10101B"/>
                </a:solidFill>
                <a:latin typeface="Arial"/>
              </a:rPr>
              <a:t>Baselines were re-measured offline, without metadata rules.</a:t>
            </a:r>
          </a:p>
        </p:txBody>
      </p:sp>
      <p:sp>
        <p:nvSpPr>
          <p:cNvPr id="23" name="TextBox 22"/>
          <p:cNvSpPr txBox="1"/>
          <p:nvPr/>
        </p:nvSpPr>
        <p:spPr>
          <a:xfrm>
            <a:off x="9582912" y="4242816"/>
            <a:ext cx="201168" cy="228600"/>
          </a:xfrm>
          <a:prstGeom prst="rect">
            <a:avLst/>
          </a:prstGeom>
          <a:noFill/>
        </p:spPr>
        <p:txBody>
          <a:bodyPr wrap="square" lIns="0" tIns="0" rIns="0" bIns="0" anchor="t">
            <a:noAutofit/>
          </a:bodyPr>
          <a:lstStyle/>
          <a:p>
            <a:pPr algn="l"/>
            <a:r>
              <a:rPr sz="1100" b="1" i="0">
                <a:solidFill>
                  <a:srgbClr val="D98E2B"/>
                </a:solidFill>
                <a:latin typeface="Arial"/>
              </a:rPr>
              <a:t>•</a:t>
            </a:r>
          </a:p>
        </p:txBody>
      </p:sp>
      <p:sp>
        <p:nvSpPr>
          <p:cNvPr id="24" name="TextBox 23"/>
          <p:cNvSpPr txBox="1"/>
          <p:nvPr/>
        </p:nvSpPr>
        <p:spPr>
          <a:xfrm>
            <a:off x="9820656" y="4224528"/>
            <a:ext cx="7086600" cy="502920"/>
          </a:xfrm>
          <a:prstGeom prst="rect">
            <a:avLst/>
          </a:prstGeom>
          <a:noFill/>
        </p:spPr>
        <p:txBody>
          <a:bodyPr wrap="square" lIns="0" tIns="0" rIns="0" bIns="0" anchor="t">
            <a:noAutofit/>
          </a:bodyPr>
          <a:lstStyle/>
          <a:p>
            <a:pPr algn="l">
              <a:lnSpc>
                <a:spcPct val="100000"/>
              </a:lnSpc>
            </a:pPr>
            <a:r>
              <a:rPr sz="1240" b="0" i="0">
                <a:solidFill>
                  <a:srgbClr val="10101B"/>
                </a:solidFill>
                <a:latin typeface="Arial"/>
              </a:rPr>
              <a:t>No full dynamic ablation at Guo-holdout scale.</a:t>
            </a:r>
          </a:p>
        </p:txBody>
      </p:sp>
      <p:sp>
        <p:nvSpPr>
          <p:cNvPr id="25" name="Rounded Rectangle 24"/>
          <p:cNvSpPr/>
          <p:nvPr/>
        </p:nvSpPr>
        <p:spPr>
          <a:xfrm>
            <a:off x="1051560" y="5120640"/>
            <a:ext cx="7909560" cy="2286000"/>
          </a:xfrm>
          <a:prstGeom prst="roundRect">
            <a:avLst>
              <a:gd name="adj" fmla="val 4000"/>
            </a:avLst>
          </a:prstGeom>
          <a:solidFill>
            <a:srgbClr val="F4F5FC"/>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6" name="TextBox 25"/>
          <p:cNvSpPr txBox="1"/>
          <p:nvPr/>
        </p:nvSpPr>
        <p:spPr>
          <a:xfrm>
            <a:off x="1307592" y="5285231"/>
            <a:ext cx="7132320" cy="274320"/>
          </a:xfrm>
          <a:prstGeom prst="rect">
            <a:avLst/>
          </a:prstGeom>
          <a:noFill/>
        </p:spPr>
        <p:txBody>
          <a:bodyPr wrap="square" lIns="0" tIns="0" rIns="0" bIns="0" anchor="t">
            <a:noAutofit/>
          </a:bodyPr>
          <a:lstStyle/>
          <a:p>
            <a:pPr algn="l"/>
            <a:r>
              <a:rPr sz="1200" b="1" i="0">
                <a:solidFill>
                  <a:srgbClr val="1200FF"/>
                </a:solidFill>
                <a:latin typeface="Arial"/>
              </a:rPr>
              <a:t>PLATFORM</a:t>
            </a:r>
          </a:p>
        </p:txBody>
      </p:sp>
      <p:sp>
        <p:nvSpPr>
          <p:cNvPr id="27" name="TextBox 26"/>
          <p:cNvSpPr txBox="1"/>
          <p:nvPr/>
        </p:nvSpPr>
        <p:spPr>
          <a:xfrm>
            <a:off x="1307592" y="5687568"/>
            <a:ext cx="201168" cy="228600"/>
          </a:xfrm>
          <a:prstGeom prst="rect">
            <a:avLst/>
          </a:prstGeom>
          <a:noFill/>
        </p:spPr>
        <p:txBody>
          <a:bodyPr wrap="square" lIns="0" tIns="0" rIns="0" bIns="0" anchor="t">
            <a:noAutofit/>
          </a:bodyPr>
          <a:lstStyle/>
          <a:p>
            <a:pPr algn="l"/>
            <a:r>
              <a:rPr sz="1100" b="1" i="0">
                <a:solidFill>
                  <a:srgbClr val="1200FF"/>
                </a:solidFill>
                <a:latin typeface="Arial"/>
              </a:rPr>
              <a:t>•</a:t>
            </a:r>
          </a:p>
        </p:txBody>
      </p:sp>
      <p:sp>
        <p:nvSpPr>
          <p:cNvPr id="28" name="TextBox 27"/>
          <p:cNvSpPr txBox="1"/>
          <p:nvPr/>
        </p:nvSpPr>
        <p:spPr>
          <a:xfrm>
            <a:off x="1545336" y="5669280"/>
            <a:ext cx="7086600" cy="502920"/>
          </a:xfrm>
          <a:prstGeom prst="rect">
            <a:avLst/>
          </a:prstGeom>
          <a:noFill/>
        </p:spPr>
        <p:txBody>
          <a:bodyPr wrap="square" lIns="0" tIns="0" rIns="0" bIns="0" anchor="t">
            <a:noAutofit/>
          </a:bodyPr>
          <a:lstStyle/>
          <a:p>
            <a:pPr algn="l">
              <a:lnSpc>
                <a:spcPct val="100000"/>
              </a:lnSpc>
            </a:pPr>
            <a:r>
              <a:rPr sz="1240" b="0" i="0">
                <a:solidFill>
                  <a:srgbClr val="10101B"/>
                </a:solidFill>
                <a:latin typeface="Arial"/>
              </a:rPr>
              <a:t>eBPF requires Linux 5.15+ and root or CAP_BPF.</a:t>
            </a:r>
          </a:p>
        </p:txBody>
      </p:sp>
      <p:sp>
        <p:nvSpPr>
          <p:cNvPr id="29" name="TextBox 28"/>
          <p:cNvSpPr txBox="1"/>
          <p:nvPr/>
        </p:nvSpPr>
        <p:spPr>
          <a:xfrm>
            <a:off x="1307592" y="6236207"/>
            <a:ext cx="201168" cy="228600"/>
          </a:xfrm>
          <a:prstGeom prst="rect">
            <a:avLst/>
          </a:prstGeom>
          <a:noFill/>
        </p:spPr>
        <p:txBody>
          <a:bodyPr wrap="square" lIns="0" tIns="0" rIns="0" bIns="0" anchor="t">
            <a:noAutofit/>
          </a:bodyPr>
          <a:lstStyle/>
          <a:p>
            <a:pPr algn="l"/>
            <a:r>
              <a:rPr sz="1100" b="1" i="0">
                <a:solidFill>
                  <a:srgbClr val="1200FF"/>
                </a:solidFill>
                <a:latin typeface="Arial"/>
              </a:rPr>
              <a:t>•</a:t>
            </a:r>
          </a:p>
        </p:txBody>
      </p:sp>
      <p:sp>
        <p:nvSpPr>
          <p:cNvPr id="30" name="TextBox 29"/>
          <p:cNvSpPr txBox="1"/>
          <p:nvPr/>
        </p:nvSpPr>
        <p:spPr>
          <a:xfrm>
            <a:off x="1545336" y="6217920"/>
            <a:ext cx="7086600" cy="502920"/>
          </a:xfrm>
          <a:prstGeom prst="rect">
            <a:avLst/>
          </a:prstGeom>
          <a:noFill/>
        </p:spPr>
        <p:txBody>
          <a:bodyPr wrap="square" lIns="0" tIns="0" rIns="0" bIns="0" anchor="t">
            <a:noAutofit/>
          </a:bodyPr>
          <a:lstStyle/>
          <a:p>
            <a:pPr algn="l">
              <a:lnSpc>
                <a:spcPct val="100000"/>
              </a:lnSpc>
            </a:pPr>
            <a:r>
              <a:rPr sz="1240" b="0" i="0">
                <a:solidFill>
                  <a:srgbClr val="10101B"/>
                </a:solidFill>
                <a:latin typeface="Arial"/>
              </a:rPr>
              <a:t>Host compromise is outside the containment boundary.</a:t>
            </a:r>
          </a:p>
        </p:txBody>
      </p:sp>
      <p:sp>
        <p:nvSpPr>
          <p:cNvPr id="31" name="TextBox 30"/>
          <p:cNvSpPr txBox="1"/>
          <p:nvPr/>
        </p:nvSpPr>
        <p:spPr>
          <a:xfrm>
            <a:off x="1307592" y="6784848"/>
            <a:ext cx="201168" cy="228600"/>
          </a:xfrm>
          <a:prstGeom prst="rect">
            <a:avLst/>
          </a:prstGeom>
          <a:noFill/>
        </p:spPr>
        <p:txBody>
          <a:bodyPr wrap="square" lIns="0" tIns="0" rIns="0" bIns="0" anchor="t">
            <a:noAutofit/>
          </a:bodyPr>
          <a:lstStyle/>
          <a:p>
            <a:pPr algn="l"/>
            <a:r>
              <a:rPr sz="1100" b="1" i="0">
                <a:solidFill>
                  <a:srgbClr val="1200FF"/>
                </a:solidFill>
                <a:latin typeface="Arial"/>
              </a:rPr>
              <a:t>•</a:t>
            </a:r>
          </a:p>
        </p:txBody>
      </p:sp>
      <p:sp>
        <p:nvSpPr>
          <p:cNvPr id="32" name="TextBox 31"/>
          <p:cNvSpPr txBox="1"/>
          <p:nvPr/>
        </p:nvSpPr>
        <p:spPr>
          <a:xfrm>
            <a:off x="1545336" y="6766560"/>
            <a:ext cx="7086600" cy="502920"/>
          </a:xfrm>
          <a:prstGeom prst="rect">
            <a:avLst/>
          </a:prstGeom>
          <a:noFill/>
        </p:spPr>
        <p:txBody>
          <a:bodyPr wrap="square" lIns="0" tIns="0" rIns="0" bIns="0" anchor="t">
            <a:noAutofit/>
          </a:bodyPr>
          <a:lstStyle/>
          <a:p>
            <a:pPr algn="l">
              <a:lnSpc>
                <a:spcPct val="100000"/>
              </a:lnSpc>
            </a:pPr>
            <a:r>
              <a:rPr sz="1240" b="0" i="0">
                <a:solidFill>
                  <a:srgbClr val="10101B"/>
                </a:solidFill>
                <a:latin typeface="Arial"/>
              </a:rPr>
              <a:t>Six canary paths are fixed, not user-configurable yet.</a:t>
            </a:r>
          </a:p>
        </p:txBody>
      </p:sp>
      <p:sp>
        <p:nvSpPr>
          <p:cNvPr id="33" name="Rounded Rectangle 32"/>
          <p:cNvSpPr/>
          <p:nvPr/>
        </p:nvSpPr>
        <p:spPr>
          <a:xfrm>
            <a:off x="9326880" y="5120640"/>
            <a:ext cx="7909560" cy="2286000"/>
          </a:xfrm>
          <a:prstGeom prst="roundRect">
            <a:avLst>
              <a:gd name="adj" fmla="val 4000"/>
            </a:avLst>
          </a:prstGeom>
          <a:solidFill>
            <a:srgbClr val="E7F5F6"/>
          </a:solidFill>
          <a:ln w="12700">
            <a:solidFill>
              <a:srgbClr val="E1E3F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34" name="TextBox 33"/>
          <p:cNvSpPr txBox="1"/>
          <p:nvPr/>
        </p:nvSpPr>
        <p:spPr>
          <a:xfrm>
            <a:off x="9582912" y="5285231"/>
            <a:ext cx="7132320" cy="274320"/>
          </a:xfrm>
          <a:prstGeom prst="rect">
            <a:avLst/>
          </a:prstGeom>
          <a:noFill/>
        </p:spPr>
        <p:txBody>
          <a:bodyPr wrap="square" lIns="0" tIns="0" rIns="0" bIns="0" anchor="t">
            <a:noAutofit/>
          </a:bodyPr>
          <a:lstStyle/>
          <a:p>
            <a:pPr algn="l"/>
            <a:r>
              <a:rPr sz="1200" b="1" i="0">
                <a:solidFill>
                  <a:srgbClr val="0E7C86"/>
                </a:solidFill>
                <a:latin typeface="Arial"/>
              </a:rPr>
              <a:t>EVIDENCE QUALITY</a:t>
            </a:r>
          </a:p>
        </p:txBody>
      </p:sp>
      <p:sp>
        <p:nvSpPr>
          <p:cNvPr id="35" name="TextBox 34"/>
          <p:cNvSpPr txBox="1"/>
          <p:nvPr/>
        </p:nvSpPr>
        <p:spPr>
          <a:xfrm>
            <a:off x="9582912" y="5687568"/>
            <a:ext cx="201168" cy="228600"/>
          </a:xfrm>
          <a:prstGeom prst="rect">
            <a:avLst/>
          </a:prstGeom>
          <a:noFill/>
        </p:spPr>
        <p:txBody>
          <a:bodyPr wrap="square" lIns="0" tIns="0" rIns="0" bIns="0" anchor="t">
            <a:noAutofit/>
          </a:bodyPr>
          <a:lstStyle/>
          <a:p>
            <a:pPr algn="l"/>
            <a:r>
              <a:rPr sz="1100" b="1" i="0">
                <a:solidFill>
                  <a:srgbClr val="0E7C86"/>
                </a:solidFill>
                <a:latin typeface="Arial"/>
              </a:rPr>
              <a:t>•</a:t>
            </a:r>
          </a:p>
        </p:txBody>
      </p:sp>
      <p:sp>
        <p:nvSpPr>
          <p:cNvPr id="36" name="TextBox 35"/>
          <p:cNvSpPr txBox="1"/>
          <p:nvPr/>
        </p:nvSpPr>
        <p:spPr>
          <a:xfrm>
            <a:off x="9820656" y="5669280"/>
            <a:ext cx="7086600" cy="502920"/>
          </a:xfrm>
          <a:prstGeom prst="rect">
            <a:avLst/>
          </a:prstGeom>
          <a:noFill/>
        </p:spPr>
        <p:txBody>
          <a:bodyPr wrap="square" lIns="0" tIns="0" rIns="0" bIns="0" anchor="t">
            <a:noAutofit/>
          </a:bodyPr>
          <a:lstStyle/>
          <a:p>
            <a:pPr algn="l">
              <a:lnSpc>
                <a:spcPct val="100000"/>
              </a:lnSpc>
            </a:pPr>
            <a:r>
              <a:rPr sz="1240" b="0" i="0">
                <a:solidFill>
                  <a:srgbClr val="10101B"/>
                </a:solidFill>
                <a:latin typeface="Arial"/>
              </a:rPr>
              <a:t>Original ML training leakage is disclosed, not hidden.</a:t>
            </a:r>
          </a:p>
        </p:txBody>
      </p:sp>
      <p:sp>
        <p:nvSpPr>
          <p:cNvPr id="37" name="TextBox 36"/>
          <p:cNvSpPr txBox="1"/>
          <p:nvPr/>
        </p:nvSpPr>
        <p:spPr>
          <a:xfrm>
            <a:off x="9582912" y="6236207"/>
            <a:ext cx="201168" cy="228600"/>
          </a:xfrm>
          <a:prstGeom prst="rect">
            <a:avLst/>
          </a:prstGeom>
          <a:noFill/>
        </p:spPr>
        <p:txBody>
          <a:bodyPr wrap="square" lIns="0" tIns="0" rIns="0" bIns="0" anchor="t">
            <a:noAutofit/>
          </a:bodyPr>
          <a:lstStyle/>
          <a:p>
            <a:pPr algn="l"/>
            <a:r>
              <a:rPr sz="1100" b="1" i="0">
                <a:solidFill>
                  <a:srgbClr val="0E7C86"/>
                </a:solidFill>
                <a:latin typeface="Arial"/>
              </a:rPr>
              <a:t>•</a:t>
            </a:r>
          </a:p>
        </p:txBody>
      </p:sp>
      <p:sp>
        <p:nvSpPr>
          <p:cNvPr id="38" name="TextBox 37"/>
          <p:cNvSpPr txBox="1"/>
          <p:nvPr/>
        </p:nvSpPr>
        <p:spPr>
          <a:xfrm>
            <a:off x="9820656" y="6217920"/>
            <a:ext cx="7086600" cy="502920"/>
          </a:xfrm>
          <a:prstGeom prst="rect">
            <a:avLst/>
          </a:prstGeom>
          <a:noFill/>
        </p:spPr>
        <p:txBody>
          <a:bodyPr wrap="square" lIns="0" tIns="0" rIns="0" bIns="0" anchor="t">
            <a:noAutofit/>
          </a:bodyPr>
          <a:lstStyle/>
          <a:p>
            <a:pPr algn="l">
              <a:lnSpc>
                <a:spcPct val="100000"/>
              </a:lnSpc>
            </a:pPr>
            <a:r>
              <a:rPr sz="1240" b="0" i="0">
                <a:solidFill>
                  <a:srgbClr val="10101B"/>
                </a:solidFill>
                <a:latin typeface="Arial"/>
              </a:rPr>
              <a:t>Generated benign covers collapse to six feature vectors.</a:t>
            </a:r>
          </a:p>
        </p:txBody>
      </p:sp>
      <p:sp>
        <p:nvSpPr>
          <p:cNvPr id="39" name="TextBox 38"/>
          <p:cNvSpPr txBox="1"/>
          <p:nvPr/>
        </p:nvSpPr>
        <p:spPr>
          <a:xfrm>
            <a:off x="9582912" y="6784848"/>
            <a:ext cx="201168" cy="228600"/>
          </a:xfrm>
          <a:prstGeom prst="rect">
            <a:avLst/>
          </a:prstGeom>
          <a:noFill/>
        </p:spPr>
        <p:txBody>
          <a:bodyPr wrap="square" lIns="0" tIns="0" rIns="0" bIns="0" anchor="t">
            <a:noAutofit/>
          </a:bodyPr>
          <a:lstStyle/>
          <a:p>
            <a:pPr algn="l"/>
            <a:r>
              <a:rPr sz="1100" b="1" i="0">
                <a:solidFill>
                  <a:srgbClr val="0E7C86"/>
                </a:solidFill>
                <a:latin typeface="Arial"/>
              </a:rPr>
              <a:t>•</a:t>
            </a:r>
          </a:p>
        </p:txBody>
      </p:sp>
      <p:sp>
        <p:nvSpPr>
          <p:cNvPr id="40" name="TextBox 39"/>
          <p:cNvSpPr txBox="1"/>
          <p:nvPr/>
        </p:nvSpPr>
        <p:spPr>
          <a:xfrm>
            <a:off x="9820656" y="6766560"/>
            <a:ext cx="7086600" cy="502920"/>
          </a:xfrm>
          <a:prstGeom prst="rect">
            <a:avLst/>
          </a:prstGeom>
          <a:noFill/>
        </p:spPr>
        <p:txBody>
          <a:bodyPr wrap="square" lIns="0" tIns="0" rIns="0" bIns="0" anchor="t">
            <a:noAutofit/>
          </a:bodyPr>
          <a:lstStyle/>
          <a:p>
            <a:pPr algn="l">
              <a:lnSpc>
                <a:spcPct val="100000"/>
              </a:lnSpc>
            </a:pPr>
            <a:r>
              <a:rPr sz="1240" b="0" i="0">
                <a:solidFill>
                  <a:srgbClr val="10101B"/>
                </a:solidFill>
                <a:latin typeface="Arial"/>
              </a:rPr>
              <a:t>Timing is from one host; the mutator shares our design intuitions.</a:t>
            </a:r>
          </a:p>
        </p:txBody>
      </p:sp>
      <p:sp>
        <p:nvSpPr>
          <p:cNvPr id="41" name="Rounded Rectangle 40"/>
          <p:cNvSpPr/>
          <p:nvPr/>
        </p:nvSpPr>
        <p:spPr>
          <a:xfrm>
            <a:off x="1051560" y="7699248"/>
            <a:ext cx="16194024" cy="731520"/>
          </a:xfrm>
          <a:prstGeom prst="roundRect">
            <a:avLst>
              <a:gd name="adj" fmla="val 5000"/>
            </a:avLst>
          </a:prstGeom>
          <a:solidFill>
            <a:srgbClr val="10101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42" name="TextBox 41"/>
          <p:cNvSpPr txBox="1"/>
          <p:nvPr/>
        </p:nvSpPr>
        <p:spPr>
          <a:xfrm>
            <a:off x="1325880" y="7790688"/>
            <a:ext cx="15544800" cy="548640"/>
          </a:xfrm>
          <a:prstGeom prst="rect">
            <a:avLst/>
          </a:prstGeom>
          <a:noFill/>
        </p:spPr>
        <p:txBody>
          <a:bodyPr wrap="square" lIns="0" tIns="0" rIns="0" bIns="0" anchor="ctr">
            <a:noAutofit/>
          </a:bodyPr>
          <a:lstStyle/>
          <a:p>
            <a:pPr algn="l"/>
            <a:r>
              <a:rPr sz="1560" b="1" i="0">
                <a:solidFill>
                  <a:srgbClr val="FFFFFF"/>
                </a:solidFill>
                <a:latin typeface="Arial"/>
              </a:rPr>
              <a:t>Claim boundary: install-hook malware on Linux, evidenced by these corpora — not a registry-wide operating point.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12 — CONCLUSION &amp; FUTURE WORK</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Conclusion &amp; Future Work</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19 / 22</a:t>
            </a:r>
          </a:p>
        </p:txBody>
      </p:sp>
      <p:sp>
        <p:nvSpPr>
          <p:cNvPr id="9" name="TextBox 8"/>
          <p:cNvSpPr txBox="1"/>
          <p:nvPr/>
        </p:nvSpPr>
        <p:spPr>
          <a:xfrm>
            <a:off x="1051560" y="2377440"/>
            <a:ext cx="7955279" cy="274320"/>
          </a:xfrm>
          <a:prstGeom prst="rect">
            <a:avLst/>
          </a:prstGeom>
          <a:noFill/>
        </p:spPr>
        <p:txBody>
          <a:bodyPr wrap="square" lIns="0" tIns="0" rIns="0" bIns="0" anchor="t">
            <a:noAutofit/>
          </a:bodyPr>
          <a:lstStyle/>
          <a:p>
            <a:pPr algn="l"/>
            <a:r>
              <a:rPr sz="1150" b="1" i="0">
                <a:solidFill>
                  <a:srgbClr val="1200FF"/>
                </a:solidFill>
                <a:latin typeface="Arial"/>
              </a:rPr>
              <a:t>CONCLUSION</a:t>
            </a:r>
          </a:p>
        </p:txBody>
      </p:sp>
      <p:sp>
        <p:nvSpPr>
          <p:cNvPr id="10" name="Rectangle 9"/>
          <p:cNvSpPr/>
          <p:nvPr/>
        </p:nvSpPr>
        <p:spPr>
          <a:xfrm>
            <a:off x="1051560" y="2807208"/>
            <a:ext cx="64008" cy="6858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1" name="TextBox 10"/>
          <p:cNvSpPr txBox="1"/>
          <p:nvPr/>
        </p:nvSpPr>
        <p:spPr>
          <a:xfrm>
            <a:off x="1298448" y="2743200"/>
            <a:ext cx="7680960" cy="868680"/>
          </a:xfrm>
          <a:prstGeom prst="rect">
            <a:avLst/>
          </a:prstGeom>
          <a:noFill/>
        </p:spPr>
        <p:txBody>
          <a:bodyPr wrap="square" lIns="0" tIns="0" rIns="0" bIns="0" anchor="t">
            <a:noAutofit/>
          </a:bodyPr>
          <a:lstStyle/>
          <a:p>
            <a:pPr algn="l">
              <a:lnSpc>
                <a:spcPct val="105000"/>
              </a:lnSpc>
            </a:pPr>
            <a:r>
              <a:rPr sz="1580" b="0" i="0">
                <a:solidFill>
                  <a:srgbClr val="10101B"/>
                </a:solidFill>
                <a:latin typeface="Arial"/>
              </a:rPr>
              <a:t>Seven layers turn the install phase into an observed, enforceable boundary.</a:t>
            </a:r>
          </a:p>
        </p:txBody>
      </p:sp>
      <p:sp>
        <p:nvSpPr>
          <p:cNvPr id="12" name="Rectangle 11"/>
          <p:cNvSpPr/>
          <p:nvPr/>
        </p:nvSpPr>
        <p:spPr>
          <a:xfrm>
            <a:off x="1051560" y="3739896"/>
            <a:ext cx="64008" cy="6858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3" name="TextBox 12"/>
          <p:cNvSpPr txBox="1"/>
          <p:nvPr/>
        </p:nvSpPr>
        <p:spPr>
          <a:xfrm>
            <a:off x="1298448" y="3675888"/>
            <a:ext cx="7680960" cy="868680"/>
          </a:xfrm>
          <a:prstGeom prst="rect">
            <a:avLst/>
          </a:prstGeom>
          <a:noFill/>
        </p:spPr>
        <p:txBody>
          <a:bodyPr wrap="square" lIns="0" tIns="0" rIns="0" bIns="0" anchor="t">
            <a:noAutofit/>
          </a:bodyPr>
          <a:lstStyle/>
          <a:p>
            <a:pPr algn="l">
              <a:lnSpc>
                <a:spcPct val="105000"/>
              </a:lnSpc>
            </a:pPr>
            <a:r>
              <a:rPr sz="1580" b="0" i="0">
                <a:solidFill>
                  <a:srgbClr val="10101B"/>
                </a:solidFill>
                <a:latin typeface="Arial"/>
              </a:rPr>
              <a:t>q2: 53.1% TPR at 0.34% FPR; Guo: 72.6% at 1.36%; 34/35 hook carriers.</a:t>
            </a:r>
          </a:p>
        </p:txBody>
      </p:sp>
      <p:sp>
        <p:nvSpPr>
          <p:cNvPr id="14" name="Rectangle 13"/>
          <p:cNvSpPr/>
          <p:nvPr/>
        </p:nvSpPr>
        <p:spPr>
          <a:xfrm>
            <a:off x="1051560" y="4672584"/>
            <a:ext cx="64008" cy="6858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5" name="TextBox 14"/>
          <p:cNvSpPr txBox="1"/>
          <p:nvPr/>
        </p:nvSpPr>
        <p:spPr>
          <a:xfrm>
            <a:off x="1298448" y="4608576"/>
            <a:ext cx="7680960" cy="868680"/>
          </a:xfrm>
          <a:prstGeom prst="rect">
            <a:avLst/>
          </a:prstGeom>
          <a:noFill/>
        </p:spPr>
        <p:txBody>
          <a:bodyPr wrap="square" lIns="0" tIns="0" rIns="0" bIns="0" anchor="t">
            <a:noAutofit/>
          </a:bodyPr>
          <a:lstStyle/>
          <a:p>
            <a:pPr algn="l">
              <a:lnSpc>
                <a:spcPct val="105000"/>
              </a:lnSpc>
            </a:pPr>
            <a:r>
              <a:rPr sz="1580" b="0" i="0">
                <a:solidFill>
                  <a:srgbClr val="10101B"/>
                </a:solidFill>
                <a:latin typeface="Arial"/>
              </a:rPr>
              <a:t>Mutation: 98.7% vs GuardDog’s 23.1% — the kernel sees behavior, not text.</a:t>
            </a:r>
          </a:p>
        </p:txBody>
      </p:sp>
      <p:sp>
        <p:nvSpPr>
          <p:cNvPr id="16" name="Rectangle 15"/>
          <p:cNvSpPr/>
          <p:nvPr/>
        </p:nvSpPr>
        <p:spPr>
          <a:xfrm>
            <a:off x="1051560" y="5605272"/>
            <a:ext cx="64008" cy="6858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7" name="TextBox 16"/>
          <p:cNvSpPr txBox="1"/>
          <p:nvPr/>
        </p:nvSpPr>
        <p:spPr>
          <a:xfrm>
            <a:off x="1298448" y="5541264"/>
            <a:ext cx="7680960" cy="868680"/>
          </a:xfrm>
          <a:prstGeom prst="rect">
            <a:avLst/>
          </a:prstGeom>
          <a:noFill/>
        </p:spPr>
        <p:txBody>
          <a:bodyPr wrap="square" lIns="0" tIns="0" rIns="0" bIns="0" anchor="t">
            <a:noAutofit/>
          </a:bodyPr>
          <a:lstStyle/>
          <a:p>
            <a:pPr algn="l">
              <a:lnSpc>
                <a:spcPct val="105000"/>
              </a:lnSpc>
            </a:pPr>
            <a:r>
              <a:rPr sz="1580" b="0" i="0">
                <a:solidFill>
                  <a:srgbClr val="10101B"/>
                </a:solidFill>
                <a:latin typeface="Arial"/>
              </a:rPr>
              <a:t>Every verdict retains its evidence record; dynamic verdicts add syscall chains.</a:t>
            </a:r>
          </a:p>
        </p:txBody>
      </p:sp>
      <p:sp>
        <p:nvSpPr>
          <p:cNvPr id="18" name="TextBox 17"/>
          <p:cNvSpPr txBox="1"/>
          <p:nvPr/>
        </p:nvSpPr>
        <p:spPr>
          <a:xfrm>
            <a:off x="10104120" y="2377440"/>
            <a:ext cx="7132320" cy="274320"/>
          </a:xfrm>
          <a:prstGeom prst="rect">
            <a:avLst/>
          </a:prstGeom>
          <a:noFill/>
        </p:spPr>
        <p:txBody>
          <a:bodyPr wrap="square" lIns="0" tIns="0" rIns="0" bIns="0" anchor="t">
            <a:noAutofit/>
          </a:bodyPr>
          <a:lstStyle/>
          <a:p>
            <a:pPr algn="l"/>
            <a:r>
              <a:rPr sz="1150" b="1" i="0">
                <a:solidFill>
                  <a:srgbClr val="D95D45"/>
                </a:solidFill>
                <a:latin typeface="Arial"/>
              </a:rPr>
              <a:t>FUTURE WORK</a:t>
            </a:r>
          </a:p>
        </p:txBody>
      </p:sp>
      <p:sp>
        <p:nvSpPr>
          <p:cNvPr id="19" name="Rectangle 18"/>
          <p:cNvSpPr/>
          <p:nvPr/>
        </p:nvSpPr>
        <p:spPr>
          <a:xfrm>
            <a:off x="10104120" y="2807208"/>
            <a:ext cx="64008" cy="685800"/>
          </a:xfrm>
          <a:prstGeom prst="rect">
            <a:avLst/>
          </a:prstGeom>
          <a:solidFill>
            <a:srgbClr val="D95D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0" name="TextBox 19"/>
          <p:cNvSpPr txBox="1"/>
          <p:nvPr/>
        </p:nvSpPr>
        <p:spPr>
          <a:xfrm>
            <a:off x="10351008" y="2743200"/>
            <a:ext cx="6903720" cy="868680"/>
          </a:xfrm>
          <a:prstGeom prst="rect">
            <a:avLst/>
          </a:prstGeom>
          <a:noFill/>
        </p:spPr>
        <p:txBody>
          <a:bodyPr wrap="square" lIns="0" tIns="0" rIns="0" bIns="0" anchor="t">
            <a:noAutofit/>
          </a:bodyPr>
          <a:lstStyle/>
          <a:p>
            <a:pPr algn="l">
              <a:lnSpc>
                <a:spcPct val="105000"/>
              </a:lnSpc>
            </a:pPr>
            <a:r>
              <a:rPr sz="1540" b="0" i="0">
                <a:solidFill>
                  <a:srgbClr val="10101B"/>
                </a:solidFill>
                <a:latin typeface="Arial"/>
              </a:rPr>
              <a:t>Full dynamic ablations at Guo scale and a complete 13,708-package run.</a:t>
            </a:r>
          </a:p>
        </p:txBody>
      </p:sp>
      <p:sp>
        <p:nvSpPr>
          <p:cNvPr id="21" name="Rectangle 20"/>
          <p:cNvSpPr/>
          <p:nvPr/>
        </p:nvSpPr>
        <p:spPr>
          <a:xfrm>
            <a:off x="10104120" y="3739896"/>
            <a:ext cx="64008" cy="685800"/>
          </a:xfrm>
          <a:prstGeom prst="rect">
            <a:avLst/>
          </a:prstGeom>
          <a:solidFill>
            <a:srgbClr val="D95D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2" name="TextBox 21"/>
          <p:cNvSpPr txBox="1"/>
          <p:nvPr/>
        </p:nvSpPr>
        <p:spPr>
          <a:xfrm>
            <a:off x="10351008" y="3675888"/>
            <a:ext cx="6903720" cy="868680"/>
          </a:xfrm>
          <a:prstGeom prst="rect">
            <a:avLst/>
          </a:prstGeom>
          <a:noFill/>
        </p:spPr>
        <p:txBody>
          <a:bodyPr wrap="square" lIns="0" tIns="0" rIns="0" bIns="0" anchor="t">
            <a:noAutofit/>
          </a:bodyPr>
          <a:lstStyle/>
          <a:p>
            <a:pPr algn="l">
              <a:lnSpc>
                <a:spcPct val="105000"/>
              </a:lnSpc>
            </a:pPr>
            <a:r>
              <a:rPr sz="1540" b="0" i="0">
                <a:solidFill>
                  <a:srgbClr val="10101B"/>
                </a:solidFill>
                <a:latin typeface="Arial"/>
              </a:rPr>
              <a:t>User-configurable canaries and unprivileged eBPF.</a:t>
            </a:r>
          </a:p>
        </p:txBody>
      </p:sp>
      <p:sp>
        <p:nvSpPr>
          <p:cNvPr id="23" name="Rectangle 22"/>
          <p:cNvSpPr/>
          <p:nvPr/>
        </p:nvSpPr>
        <p:spPr>
          <a:xfrm>
            <a:off x="10104120" y="4672584"/>
            <a:ext cx="64008" cy="685800"/>
          </a:xfrm>
          <a:prstGeom prst="rect">
            <a:avLst/>
          </a:prstGeom>
          <a:solidFill>
            <a:srgbClr val="D95D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4" name="TextBox 23"/>
          <p:cNvSpPr txBox="1"/>
          <p:nvPr/>
        </p:nvSpPr>
        <p:spPr>
          <a:xfrm>
            <a:off x="10351008" y="4608576"/>
            <a:ext cx="6903720" cy="868680"/>
          </a:xfrm>
          <a:prstGeom prst="rect">
            <a:avLst/>
          </a:prstGeom>
          <a:noFill/>
        </p:spPr>
        <p:txBody>
          <a:bodyPr wrap="square" lIns="0" tIns="0" rIns="0" bIns="0" anchor="t">
            <a:noAutofit/>
          </a:bodyPr>
          <a:lstStyle/>
          <a:p>
            <a:pPr algn="l">
              <a:lnSpc>
                <a:spcPct val="105000"/>
              </a:lnSpc>
            </a:pPr>
            <a:r>
              <a:rPr sz="1540" b="0" i="0">
                <a:solidFill>
                  <a:srgbClr val="10101B"/>
                </a:solidFill>
                <a:latin typeface="Arial"/>
              </a:rPr>
              <a:t>BPF LSM hardening; extend coverage to require-time code.</a:t>
            </a:r>
          </a:p>
        </p:txBody>
      </p:sp>
      <p:sp>
        <p:nvSpPr>
          <p:cNvPr id="25" name="Rectangle 24"/>
          <p:cNvSpPr/>
          <p:nvPr/>
        </p:nvSpPr>
        <p:spPr>
          <a:xfrm>
            <a:off x="10104120" y="5605272"/>
            <a:ext cx="64008" cy="685800"/>
          </a:xfrm>
          <a:prstGeom prst="rect">
            <a:avLst/>
          </a:prstGeom>
          <a:solidFill>
            <a:srgbClr val="D95D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26" name="TextBox 25"/>
          <p:cNvSpPr txBox="1"/>
          <p:nvPr/>
        </p:nvSpPr>
        <p:spPr>
          <a:xfrm>
            <a:off x="10351008" y="5541264"/>
            <a:ext cx="6903720" cy="868680"/>
          </a:xfrm>
          <a:prstGeom prst="rect">
            <a:avLst/>
          </a:prstGeom>
          <a:noFill/>
        </p:spPr>
        <p:txBody>
          <a:bodyPr wrap="square" lIns="0" tIns="0" rIns="0" bIns="0" anchor="t">
            <a:noAutofit/>
          </a:bodyPr>
          <a:lstStyle/>
          <a:p>
            <a:pPr algn="l">
              <a:lnSpc>
                <a:spcPct val="105000"/>
              </a:lnSpc>
            </a:pPr>
            <a:r>
              <a:rPr sz="1540" b="0" i="0">
                <a:solidFill>
                  <a:srgbClr val="10101B"/>
                </a:solidFill>
                <a:latin typeface="Arial"/>
              </a:rPr>
              <a:t>Native Windows execution and a longitudinal campaign study.</a:t>
            </a:r>
          </a:p>
        </p:txBody>
      </p:sp>
      <p:sp>
        <p:nvSpPr>
          <p:cNvPr id="27" name="Rectangle 26"/>
          <p:cNvSpPr/>
          <p:nvPr/>
        </p:nvSpPr>
        <p:spPr>
          <a:xfrm>
            <a:off x="1051560" y="6912864"/>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51560" y="7114032"/>
            <a:ext cx="16093440" cy="475488"/>
          </a:xfrm>
          <a:prstGeom prst="rect">
            <a:avLst/>
          </a:prstGeom>
          <a:noFill/>
        </p:spPr>
        <p:txBody>
          <a:bodyPr wrap="square" lIns="0" tIns="0" rIns="0" bIns="0" anchor="t">
            <a:noAutofit/>
          </a:bodyPr>
          <a:lstStyle/>
          <a:p>
            <a:pPr algn="l"/>
            <a:r>
              <a:rPr sz="2400" b="1" i="0">
                <a:solidFill>
                  <a:srgbClr val="1200FF"/>
                </a:solidFill>
                <a:latin typeface="Arial"/>
              </a:rPr>
              <a:t>Precision and evidence are deployment requirements, not afterthoughts.</a:t>
            </a:r>
          </a:p>
        </p:txBody>
      </p:sp>
      <p:sp>
        <p:nvSpPr>
          <p:cNvPr id="29" name="TextBox 28"/>
          <p:cNvSpPr txBox="1"/>
          <p:nvPr/>
        </p:nvSpPr>
        <p:spPr>
          <a:xfrm>
            <a:off x="1051560" y="7699248"/>
            <a:ext cx="16093440" cy="502920"/>
          </a:xfrm>
          <a:prstGeom prst="rect">
            <a:avLst/>
          </a:prstGeom>
          <a:noFill/>
        </p:spPr>
        <p:txBody>
          <a:bodyPr wrap="square" lIns="0" tIns="0" rIns="0" bIns="0" anchor="t">
            <a:noAutofit/>
          </a:bodyPr>
          <a:lstStyle/>
          <a:p>
            <a:pPr algn="l"/>
            <a:r>
              <a:rPr sz="1260" b="0" i="1">
                <a:solidFill>
                  <a:srgbClr val="4A4A5C"/>
                </a:solidFill>
                <a:latin typeface="Arial"/>
              </a:rPr>
              <a:t>The implementation, corpora, and evaluation scripts are released so the claims can be reproduced, challenged, and extended.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REFERENCES</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References</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20 / 22</a:t>
            </a:r>
          </a:p>
        </p:txBody>
      </p:sp>
      <p:sp>
        <p:nvSpPr>
          <p:cNvPr id="19" name="TextBox 18"/>
          <p:cNvSpPr txBox="1"/>
          <p:nvPr/>
        </p:nvSpPr>
        <p:spPr>
          <a:xfrm>
            <a:off x="1051560" y="7744968"/>
            <a:ext cx="15910559" cy="329184"/>
          </a:xfrm>
          <a:prstGeom prst="rect">
            <a:avLst/>
          </a:prstGeom>
          <a:noFill/>
        </p:spPr>
        <p:txBody>
          <a:bodyPr wrap="square" lIns="0" tIns="0" rIns="0" bIns="0" anchor="t">
            <a:noAutofit/>
          </a:bodyPr>
          <a:lstStyle/>
          <a:p>
            <a:pPr algn="l"/>
            <a:r>
              <a:rPr sz="1050" b="0" i="1">
                <a:solidFill>
                  <a:srgbClr val="4A4A5C"/>
                </a:solidFill>
                <a:latin typeface="Arial"/>
              </a:rPr>
              <a:t>Full reference list: thesis References section and paper references.bib.</a:t>
            </a:r>
          </a:p>
        </p:txBody>
      </p:sp>
      <p:sp>
        <p:nvSpPr>
          <p:cNvPr id="20" name="TextBox 19"/>
          <p:cNvSpPr txBox="1"/>
          <p:nvPr/>
        </p:nvSpPr>
        <p:spPr>
          <a:xfrm>
            <a:off x="1051560" y="2212848"/>
            <a:ext cx="7132320" cy="630936"/>
          </a:xfrm>
          <a:prstGeom prst="rect">
            <a:avLst/>
          </a:prstGeom>
          <a:noFill/>
        </p:spPr>
        <p:txBody>
          <a:bodyPr wrap="square" lIns="0" tIns="0" rIns="0" bIns="0" anchor="t">
            <a:noAutofit/>
          </a:bodyPr>
          <a:lstStyle/>
          <a:p>
            <a:pPr algn="l">
              <a:lnSpc>
                <a:spcPct val="100000"/>
              </a:lnSpc>
              <a:spcBef>
                <a:spcPts val="0"/>
              </a:spcBef>
              <a:spcAft>
                <a:spcPts val="0"/>
              </a:spcAft>
            </a:pPr>
            <a:r>
              <a:rPr sz="1120" b="0">
                <a:solidFill>
                  <a:srgbClr val="10101B"/>
                </a:solidFill>
                <a:latin typeface="Arial"/>
              </a:rPr>
              <a:t>[1] W. Guo et al., “How Effective Are NPM Malicious Package Detectors? A Large-Scale Empirical Study,” ASE, 2026. doi:10.1145/3832783.3837427.</a:t>
            </a:r>
          </a:p>
        </p:txBody>
      </p:sp>
      <p:sp>
        <p:nvSpPr>
          <p:cNvPr id="21" name="TextBox 20"/>
          <p:cNvSpPr txBox="1"/>
          <p:nvPr/>
        </p:nvSpPr>
        <p:spPr>
          <a:xfrm>
            <a:off x="1051560" y="2880360"/>
            <a:ext cx="7132320" cy="630936"/>
          </a:xfrm>
          <a:prstGeom prst="rect">
            <a:avLst/>
          </a:prstGeom>
          <a:noFill/>
        </p:spPr>
        <p:txBody>
          <a:bodyPr wrap="square" lIns="0" tIns="0" rIns="0" bIns="0" anchor="t">
            <a:noAutofit/>
          </a:bodyPr>
          <a:lstStyle/>
          <a:p>
            <a:pPr algn="l">
              <a:lnSpc>
                <a:spcPct val="100000"/>
              </a:lnSpc>
              <a:spcBef>
                <a:spcPts val="0"/>
              </a:spcBef>
              <a:spcAft>
                <a:spcPts val="0"/>
              </a:spcAft>
            </a:pPr>
            <a:r>
              <a:rPr sz="1120" b="0">
                <a:solidFill>
                  <a:srgbClr val="10101B"/>
                </a:solidFill>
                <a:latin typeface="Arial"/>
              </a:rPr>
              <a:t>[2] M. Ohm, H. Plate, A. Sykosch, and M. Meier, “Backstabber’s Knife Collection: A Review of Open Source Supply Chain Attacks,” DIMVA, 2020, pp. 23–43.</a:t>
            </a:r>
          </a:p>
        </p:txBody>
      </p:sp>
      <p:sp>
        <p:nvSpPr>
          <p:cNvPr id="22" name="TextBox 21"/>
          <p:cNvSpPr txBox="1"/>
          <p:nvPr/>
        </p:nvSpPr>
        <p:spPr>
          <a:xfrm>
            <a:off x="1051560" y="3547872"/>
            <a:ext cx="7132320" cy="630936"/>
          </a:xfrm>
          <a:prstGeom prst="rect">
            <a:avLst/>
          </a:prstGeom>
          <a:noFill/>
        </p:spPr>
        <p:txBody>
          <a:bodyPr wrap="square" lIns="0" tIns="0" rIns="0" bIns="0" anchor="t">
            <a:noAutofit/>
          </a:bodyPr>
          <a:lstStyle/>
          <a:p>
            <a:pPr algn="l">
              <a:lnSpc>
                <a:spcPct val="100000"/>
              </a:lnSpc>
              <a:spcBef>
                <a:spcPts val="0"/>
              </a:spcBef>
              <a:spcAft>
                <a:spcPts val="0"/>
              </a:spcAft>
            </a:pPr>
            <a:r>
              <a:rPr sz="1120" b="0">
                <a:solidFill>
                  <a:srgbClr val="10101B"/>
                </a:solidFill>
                <a:latin typeface="Arial"/>
              </a:rPr>
              <a:t>[3] OpenSSF Package Analysis Team, “Malicious-Packages,” 2026. github.com/ossf/malicious-packages.</a:t>
            </a:r>
          </a:p>
        </p:txBody>
      </p:sp>
      <p:sp>
        <p:nvSpPr>
          <p:cNvPr id="23" name="TextBox 22"/>
          <p:cNvSpPr txBox="1"/>
          <p:nvPr/>
        </p:nvSpPr>
        <p:spPr>
          <a:xfrm>
            <a:off x="1051560" y="4215383"/>
            <a:ext cx="7132320" cy="630936"/>
          </a:xfrm>
          <a:prstGeom prst="rect">
            <a:avLst/>
          </a:prstGeom>
          <a:noFill/>
        </p:spPr>
        <p:txBody>
          <a:bodyPr wrap="square" lIns="0" tIns="0" rIns="0" bIns="0" anchor="t">
            <a:noAutofit/>
          </a:bodyPr>
          <a:lstStyle/>
          <a:p>
            <a:pPr algn="l">
              <a:lnSpc>
                <a:spcPct val="100000"/>
              </a:lnSpc>
              <a:spcBef>
                <a:spcPts val="0"/>
              </a:spcBef>
              <a:spcAft>
                <a:spcPts val="0"/>
              </a:spcAft>
            </a:pPr>
            <a:r>
              <a:rPr sz="1120" b="0">
                <a:solidFill>
                  <a:srgbClr val="10101B"/>
                </a:solidFill>
                <a:latin typeface="Arial"/>
              </a:rPr>
              <a:t>[4] DataDog, “GuardDog: A Threat Detection Tool,” v3.2.0, 2024. github.com/DataDog/guarddog.</a:t>
            </a:r>
          </a:p>
        </p:txBody>
      </p:sp>
      <p:sp>
        <p:nvSpPr>
          <p:cNvPr id="24" name="TextBox 23"/>
          <p:cNvSpPr txBox="1"/>
          <p:nvPr/>
        </p:nvSpPr>
        <p:spPr>
          <a:xfrm>
            <a:off x="1051560" y="4882896"/>
            <a:ext cx="7132320" cy="630936"/>
          </a:xfrm>
          <a:prstGeom prst="rect">
            <a:avLst/>
          </a:prstGeom>
          <a:noFill/>
        </p:spPr>
        <p:txBody>
          <a:bodyPr wrap="square" lIns="0" tIns="0" rIns="0" bIns="0" anchor="t">
            <a:noAutofit/>
          </a:bodyPr>
          <a:lstStyle/>
          <a:p>
            <a:pPr algn="l">
              <a:lnSpc>
                <a:spcPct val="100000"/>
              </a:lnSpc>
              <a:spcBef>
                <a:spcPts val="0"/>
              </a:spcBef>
              <a:spcAft>
                <a:spcPts val="0"/>
              </a:spcAft>
            </a:pPr>
            <a:r>
              <a:rPr sz="1120" b="0">
                <a:solidFill>
                  <a:srgbClr val="10101B"/>
                </a:solidFill>
                <a:latin typeface="Arial"/>
              </a:rPr>
              <a:t>[5] P. Ladisa et al., “On the Feasibility of Cross-Language Detection of Malicious Packages in npm and PyPI,” ACSAC, 2023. doi:10.1145/3627106.3627138.</a:t>
            </a:r>
          </a:p>
        </p:txBody>
      </p:sp>
      <p:sp>
        <p:nvSpPr>
          <p:cNvPr id="25" name="TextBox 24"/>
          <p:cNvSpPr txBox="1"/>
          <p:nvPr/>
        </p:nvSpPr>
        <p:spPr>
          <a:xfrm>
            <a:off x="1051560" y="5550408"/>
            <a:ext cx="7132320" cy="630936"/>
          </a:xfrm>
          <a:prstGeom prst="rect">
            <a:avLst/>
          </a:prstGeom>
          <a:noFill/>
        </p:spPr>
        <p:txBody>
          <a:bodyPr wrap="square" lIns="0" tIns="0" rIns="0" bIns="0" anchor="t">
            <a:noAutofit/>
          </a:bodyPr>
          <a:lstStyle/>
          <a:p>
            <a:pPr algn="l">
              <a:lnSpc>
                <a:spcPct val="100000"/>
              </a:lnSpc>
              <a:spcBef>
                <a:spcPts val="0"/>
              </a:spcBef>
              <a:spcAft>
                <a:spcPts val="0"/>
              </a:spcAft>
            </a:pPr>
            <a:r>
              <a:rPr sz="1120" b="0" dirty="0">
                <a:solidFill>
                  <a:srgbClr val="10101B"/>
                </a:solidFill>
                <a:latin typeface="Arial"/>
              </a:rPr>
              <a:t>[6] R. Duan et al., “Towards Measuring Supply Chain Attacks on Package Managers for Interpreted Languages,” NDSS, 2021. doi:10.14722/ndss.2021.23055.</a:t>
            </a:r>
          </a:p>
        </p:txBody>
      </p:sp>
      <p:sp>
        <p:nvSpPr>
          <p:cNvPr id="26" name="TextBox 25"/>
          <p:cNvSpPr txBox="1"/>
          <p:nvPr/>
        </p:nvSpPr>
        <p:spPr>
          <a:xfrm>
            <a:off x="1051560" y="6217920"/>
            <a:ext cx="7132320" cy="630936"/>
          </a:xfrm>
          <a:prstGeom prst="rect">
            <a:avLst/>
          </a:prstGeom>
          <a:noFill/>
        </p:spPr>
        <p:txBody>
          <a:bodyPr wrap="square" lIns="0" tIns="0" rIns="0" bIns="0" anchor="t">
            <a:noAutofit/>
          </a:bodyPr>
          <a:lstStyle/>
          <a:p>
            <a:pPr algn="l">
              <a:lnSpc>
                <a:spcPct val="100000"/>
              </a:lnSpc>
              <a:spcBef>
                <a:spcPts val="0"/>
              </a:spcBef>
              <a:spcAft>
                <a:spcPts val="0"/>
              </a:spcAft>
            </a:pPr>
            <a:r>
              <a:rPr sz="1120" b="0">
                <a:solidFill>
                  <a:srgbClr val="10101B"/>
                </a:solidFill>
                <a:latin typeface="Arial"/>
              </a:rPr>
              <a:t>[7] Packj, “Packj: Find Malicious Open-Source Packages,” 2024. github.com/ossf/packj.</a:t>
            </a:r>
          </a:p>
        </p:txBody>
      </p:sp>
      <p:sp>
        <p:nvSpPr>
          <p:cNvPr id="27" name="TextBox 26"/>
          <p:cNvSpPr txBox="1"/>
          <p:nvPr/>
        </p:nvSpPr>
        <p:spPr>
          <a:xfrm>
            <a:off x="9418320" y="2212848"/>
            <a:ext cx="7132320" cy="630936"/>
          </a:xfrm>
          <a:prstGeom prst="rect">
            <a:avLst/>
          </a:prstGeom>
          <a:noFill/>
        </p:spPr>
        <p:txBody>
          <a:bodyPr wrap="square" lIns="0" tIns="0" rIns="0" bIns="0" anchor="t">
            <a:noAutofit/>
          </a:bodyPr>
          <a:lstStyle/>
          <a:p>
            <a:pPr algn="l">
              <a:lnSpc>
                <a:spcPct val="100000"/>
              </a:lnSpc>
              <a:spcBef>
                <a:spcPts val="0"/>
              </a:spcBef>
              <a:spcAft>
                <a:spcPts val="0"/>
              </a:spcAft>
            </a:pPr>
            <a:r>
              <a:rPr sz="1120" b="0">
                <a:solidFill>
                  <a:srgbClr val="10101B"/>
                </a:solidFill>
                <a:latin typeface="Arial"/>
              </a:rPr>
              <a:t>[8] Socket Security, “Socket: Proactive Supply Chain Security,” 2024. socket.dev.</a:t>
            </a:r>
          </a:p>
        </p:txBody>
      </p:sp>
      <p:sp>
        <p:nvSpPr>
          <p:cNvPr id="28" name="TextBox 27"/>
          <p:cNvSpPr txBox="1"/>
          <p:nvPr/>
        </p:nvSpPr>
        <p:spPr>
          <a:xfrm>
            <a:off x="9418320" y="2880360"/>
            <a:ext cx="7132320" cy="630936"/>
          </a:xfrm>
          <a:prstGeom prst="rect">
            <a:avLst/>
          </a:prstGeom>
          <a:noFill/>
        </p:spPr>
        <p:txBody>
          <a:bodyPr wrap="square" lIns="0" tIns="0" rIns="0" bIns="0" anchor="t">
            <a:noAutofit/>
          </a:bodyPr>
          <a:lstStyle/>
          <a:p>
            <a:pPr algn="l">
              <a:lnSpc>
                <a:spcPct val="100000"/>
              </a:lnSpc>
              <a:spcBef>
                <a:spcPts val="0"/>
              </a:spcBef>
              <a:spcAft>
                <a:spcPts val="0"/>
              </a:spcAft>
            </a:pPr>
            <a:r>
              <a:rPr sz="1120" b="0">
                <a:solidFill>
                  <a:srgbClr val="10101B"/>
                </a:solidFill>
                <a:latin typeface="Arial"/>
              </a:rPr>
              <a:t>[9] Isovalent, “Tetragon: eBPF-based Security Observability and Runtime Enforcement,” 2022. cilium.io/tetragon/.</a:t>
            </a:r>
          </a:p>
        </p:txBody>
      </p:sp>
      <p:sp>
        <p:nvSpPr>
          <p:cNvPr id="29" name="TextBox 28"/>
          <p:cNvSpPr txBox="1"/>
          <p:nvPr/>
        </p:nvSpPr>
        <p:spPr>
          <a:xfrm>
            <a:off x="9418320" y="3547872"/>
            <a:ext cx="7132320" cy="630936"/>
          </a:xfrm>
          <a:prstGeom prst="rect">
            <a:avLst/>
          </a:prstGeom>
          <a:noFill/>
        </p:spPr>
        <p:txBody>
          <a:bodyPr wrap="square" lIns="0" tIns="0" rIns="0" bIns="0" anchor="t">
            <a:noAutofit/>
          </a:bodyPr>
          <a:lstStyle/>
          <a:p>
            <a:pPr algn="l">
              <a:lnSpc>
                <a:spcPct val="100000"/>
              </a:lnSpc>
              <a:spcBef>
                <a:spcPts val="0"/>
              </a:spcBef>
              <a:spcAft>
                <a:spcPts val="0"/>
              </a:spcAft>
            </a:pPr>
            <a:r>
              <a:rPr sz="1120" b="0">
                <a:solidFill>
                  <a:srgbClr val="10101B"/>
                </a:solidFill>
                <a:latin typeface="Arial"/>
              </a:rPr>
              <a:t>[10] Snyk, “The Rising Trend of Malicious Packages in Open Source Ecosystems,” 2025. snyk.io/blog/malicious-packages-open-source-ecosystems.</a:t>
            </a:r>
          </a:p>
        </p:txBody>
      </p:sp>
      <p:sp>
        <p:nvSpPr>
          <p:cNvPr id="30" name="TextBox 29"/>
          <p:cNvSpPr txBox="1"/>
          <p:nvPr/>
        </p:nvSpPr>
        <p:spPr>
          <a:xfrm>
            <a:off x="9418320" y="4215383"/>
            <a:ext cx="7132320" cy="630936"/>
          </a:xfrm>
          <a:prstGeom prst="rect">
            <a:avLst/>
          </a:prstGeom>
          <a:noFill/>
        </p:spPr>
        <p:txBody>
          <a:bodyPr wrap="square" lIns="0" tIns="0" rIns="0" bIns="0" anchor="t">
            <a:noAutofit/>
          </a:bodyPr>
          <a:lstStyle/>
          <a:p>
            <a:pPr algn="l">
              <a:lnSpc>
                <a:spcPct val="100000"/>
              </a:lnSpc>
              <a:spcBef>
                <a:spcPts val="0"/>
              </a:spcBef>
              <a:spcAft>
                <a:spcPts val="0"/>
              </a:spcAft>
            </a:pPr>
            <a:r>
              <a:rPr sz="1120" b="0">
                <a:solidFill>
                  <a:srgbClr val="10101B"/>
                </a:solidFill>
                <a:latin typeface="Arial"/>
              </a:rPr>
              <a:t>[11] Phoenix Security, “Miasma Wave 2: npm Worm Bypasses Postinstall via binding.gyp,” 2026. phoenix.security/miasma-wave2-npm-supply-chain-bindingyp-zero-cve-2026.</a:t>
            </a:r>
          </a:p>
        </p:txBody>
      </p:sp>
      <p:sp>
        <p:nvSpPr>
          <p:cNvPr id="31" name="TextBox 30"/>
          <p:cNvSpPr txBox="1"/>
          <p:nvPr/>
        </p:nvSpPr>
        <p:spPr>
          <a:xfrm>
            <a:off x="9418320" y="4882896"/>
            <a:ext cx="7132320" cy="630936"/>
          </a:xfrm>
          <a:prstGeom prst="rect">
            <a:avLst/>
          </a:prstGeom>
          <a:noFill/>
        </p:spPr>
        <p:txBody>
          <a:bodyPr wrap="square" lIns="0" tIns="0" rIns="0" bIns="0" anchor="t">
            <a:noAutofit/>
          </a:bodyPr>
          <a:lstStyle/>
          <a:p>
            <a:pPr algn="l">
              <a:lnSpc>
                <a:spcPct val="100000"/>
              </a:lnSpc>
              <a:spcBef>
                <a:spcPts val="0"/>
              </a:spcBef>
              <a:spcAft>
                <a:spcPts val="0"/>
              </a:spcAft>
            </a:pPr>
            <a:r>
              <a:rPr sz="1120" b="0">
                <a:solidFill>
                  <a:srgbClr val="10101B"/>
                </a:solidFill>
                <a:latin typeface="Arial"/>
              </a:rPr>
              <a:t>[12] S. Satou, “IronWorm Returns as jscrambler, Rustier Than Ever,” JFrog Security Research, 2026. research.jfrog.com/post/ironworm-returns-rustier-than-ever/.</a:t>
            </a:r>
          </a:p>
        </p:txBody>
      </p:sp>
      <p:sp>
        <p:nvSpPr>
          <p:cNvPr id="32" name="TextBox 31"/>
          <p:cNvSpPr txBox="1"/>
          <p:nvPr/>
        </p:nvSpPr>
        <p:spPr>
          <a:xfrm>
            <a:off x="9418320" y="5550408"/>
            <a:ext cx="7132320" cy="630936"/>
          </a:xfrm>
          <a:prstGeom prst="rect">
            <a:avLst/>
          </a:prstGeom>
          <a:noFill/>
        </p:spPr>
        <p:txBody>
          <a:bodyPr wrap="square" lIns="0" tIns="0" rIns="0" bIns="0" anchor="t">
            <a:noAutofit/>
          </a:bodyPr>
          <a:lstStyle/>
          <a:p>
            <a:pPr algn="l">
              <a:lnSpc>
                <a:spcPct val="100000"/>
              </a:lnSpc>
              <a:spcBef>
                <a:spcPts val="0"/>
              </a:spcBef>
              <a:spcAft>
                <a:spcPts val="0"/>
              </a:spcAft>
            </a:pPr>
            <a:r>
              <a:rPr sz="1120" b="0">
                <a:solidFill>
                  <a:srgbClr val="10101B"/>
                </a:solidFill>
                <a:latin typeface="Arial"/>
              </a:rPr>
              <a:t>[13] N. Srinivasan, N. Naveen, and N. Naveen, “Bomfather: An eBPF-based Kernel-level Monitoring Framework for Accurate Identification of Unknown, Unused, and Dynamically Loaded Dependencies in Modern Software Supply Chains,” arXiv:2503.02097, 2025.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824960" cy="329184"/>
          </a:xfrm>
          <a:prstGeom prst="rect">
            <a:avLst/>
          </a:prstGeom>
          <a:noFill/>
        </p:spPr>
        <p:txBody>
          <a:bodyPr wrap="square" lIns="0" tIns="0" rIns="0" bIns="0" anchor="t">
            <a:noAutofit/>
          </a:bodyPr>
          <a:lstStyle/>
          <a:p>
            <a:pPr algn="l"/>
            <a:r>
              <a:rPr sz="1875" b="1" i="0">
                <a:solidFill>
                  <a:srgbClr val="1200FF"/>
                </a:solidFill>
                <a:latin typeface="Arial"/>
              </a:rPr>
              <a:t>ACKNOWLEDGEMENT</a:t>
            </a:r>
          </a:p>
        </p:txBody>
      </p:sp>
      <p:sp>
        <p:nvSpPr>
          <p:cNvPr id="3" name="TextBox 2"/>
          <p:cNvSpPr txBox="1"/>
          <p:nvPr/>
        </p:nvSpPr>
        <p:spPr>
          <a:xfrm>
            <a:off x="1051560" y="1261872"/>
            <a:ext cx="16824960" cy="713232"/>
          </a:xfrm>
          <a:prstGeom prst="rect">
            <a:avLst/>
          </a:prstGeom>
          <a:noFill/>
        </p:spPr>
        <p:txBody>
          <a:bodyPr wrap="square" lIns="0" tIns="0" rIns="0" bIns="0" anchor="t">
            <a:noAutofit/>
          </a:bodyPr>
          <a:lstStyle/>
          <a:p>
            <a:pPr algn="l"/>
            <a:r>
              <a:rPr sz="4300" b="1" i="0">
                <a:solidFill>
                  <a:srgbClr val="10101B"/>
                </a:solidFill>
                <a:latin typeface="Arial"/>
              </a:rPr>
              <a:t>Acknowledgement</a:t>
            </a:r>
          </a:p>
        </p:txBody>
      </p:sp>
      <p:sp>
        <p:nvSpPr>
          <p:cNvPr id="4" name="Rectangle 3"/>
          <p:cNvSpPr/>
          <p:nvPr/>
        </p:nvSpPr>
        <p:spPr>
          <a:xfrm>
            <a:off x="1051560" y="2075688"/>
            <a:ext cx="1097280" cy="38100"/>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9043416"/>
            <a:ext cx="16194024" cy="12700"/>
          </a:xfrm>
          <a:prstGeom prst="rect">
            <a:avLst/>
          </a:prstGeom>
          <a:solidFill>
            <a:srgbClr val="E1E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051560" y="9308592"/>
            <a:ext cx="557784" cy="301752"/>
          </a:xfrm>
          <a:prstGeom prst="rect">
            <a:avLst/>
          </a:prstGeom>
        </p:spPr>
      </p:pic>
      <p:sp>
        <p:nvSpPr>
          <p:cNvPr id="7" name="TextBox 6"/>
          <p:cNvSpPr txBox="1"/>
          <p:nvPr/>
        </p:nvSpPr>
        <p:spPr>
          <a:xfrm>
            <a:off x="1737360" y="9345168"/>
            <a:ext cx="4206240" cy="283464"/>
          </a:xfrm>
          <a:prstGeom prst="rect">
            <a:avLst/>
          </a:prstGeom>
          <a:noFill/>
        </p:spPr>
        <p:txBody>
          <a:bodyPr wrap="square" lIns="0" tIns="0" rIns="0" bIns="0" anchor="t">
            <a:noAutofit/>
          </a:bodyPr>
          <a:lstStyle/>
          <a:p>
            <a:pPr algn="l"/>
            <a:r>
              <a:rPr sz="1650" b="0" i="0">
                <a:solidFill>
                  <a:srgbClr val="4A4A5C"/>
                </a:solidFill>
                <a:latin typeface="Arial"/>
              </a:rPr>
              <a:t>Department of CSE · Uttara University</a:t>
            </a:r>
          </a:p>
        </p:txBody>
      </p:sp>
      <p:sp>
        <p:nvSpPr>
          <p:cNvPr id="8" name="TextBox 7"/>
          <p:cNvSpPr txBox="1"/>
          <p:nvPr/>
        </p:nvSpPr>
        <p:spPr>
          <a:xfrm>
            <a:off x="16047720" y="9345168"/>
            <a:ext cx="1188720" cy="283464"/>
          </a:xfrm>
          <a:prstGeom prst="rect">
            <a:avLst/>
          </a:prstGeom>
          <a:noFill/>
        </p:spPr>
        <p:txBody>
          <a:bodyPr wrap="square" lIns="0" tIns="0" rIns="0" bIns="0" anchor="t">
            <a:noAutofit/>
          </a:bodyPr>
          <a:lstStyle/>
          <a:p>
            <a:pPr algn="r"/>
            <a:r>
              <a:rPr sz="1650" b="0" i="0">
                <a:solidFill>
                  <a:srgbClr val="4A4A5C"/>
                </a:solidFill>
                <a:latin typeface="Arial"/>
              </a:rPr>
              <a:t>21 / 22</a:t>
            </a:r>
          </a:p>
        </p:txBody>
      </p:sp>
      <p:sp>
        <p:nvSpPr>
          <p:cNvPr id="9" name="TextBox 8"/>
          <p:cNvSpPr txBox="1"/>
          <p:nvPr/>
        </p:nvSpPr>
        <p:spPr>
          <a:xfrm>
            <a:off x="1051560" y="2697480"/>
            <a:ext cx="15544800" cy="530352"/>
          </a:xfrm>
          <a:prstGeom prst="rect">
            <a:avLst/>
          </a:prstGeom>
          <a:noFill/>
        </p:spPr>
        <p:txBody>
          <a:bodyPr wrap="square" lIns="0" tIns="0" rIns="0" bIns="0" anchor="t">
            <a:noAutofit/>
          </a:bodyPr>
          <a:lstStyle/>
          <a:p>
            <a:pPr algn="l"/>
            <a:r>
              <a:rPr sz="2500" b="1" i="0">
                <a:solidFill>
                  <a:srgbClr val="10101B"/>
                </a:solidFill>
                <a:latin typeface="Arial"/>
              </a:rPr>
              <a:t>Thank you to the people who made this work possible.</a:t>
            </a:r>
          </a:p>
        </p:txBody>
      </p:sp>
      <p:sp>
        <p:nvSpPr>
          <p:cNvPr id="10" name="TextBox 9"/>
          <p:cNvSpPr txBox="1"/>
          <p:nvPr/>
        </p:nvSpPr>
        <p:spPr>
          <a:xfrm>
            <a:off x="1051560" y="3670300"/>
            <a:ext cx="13533120" cy="3009900"/>
          </a:xfrm>
          <a:prstGeom prst="rect">
            <a:avLst/>
          </a:prstGeom>
          <a:noFill/>
        </p:spPr>
        <p:txBody>
          <a:bodyPr wrap="square" lIns="0" tIns="0" rIns="0" bIns="0" anchor="t">
            <a:noAutofit/>
          </a:bodyPr>
          <a:lstStyle/>
          <a:p>
            <a:r>
              <a:rPr lang="en-GB" sz="2000" dirty="0">
                <a:latin typeface="Arial" panose="020B0604020202020204" pitchFamily="34" charset="0"/>
                <a:cs typeface="Arial" panose="020B0604020202020204" pitchFamily="34" charset="0"/>
              </a:rPr>
              <a:t>I would like to express my sincere gratitude to my supervisor, </a:t>
            </a:r>
            <a:r>
              <a:rPr lang="en-GB" sz="2000" b="1" dirty="0">
                <a:latin typeface="Arial" panose="020B0604020202020204" pitchFamily="34" charset="0"/>
                <a:cs typeface="Arial" panose="020B0604020202020204" pitchFamily="34" charset="0"/>
              </a:rPr>
              <a:t>Zarin Tasnim</a:t>
            </a:r>
            <a:r>
              <a:rPr lang="en-GB" sz="2000" dirty="0">
                <a:latin typeface="Arial" panose="020B0604020202020204" pitchFamily="34" charset="0"/>
                <a:cs typeface="Arial" panose="020B0604020202020204" pitchFamily="34" charset="0"/>
              </a:rPr>
              <a:t>, for her invaluable guidance, constructive feedback, and continued support throughout this research. Her insights and academic guidance have been instrumental in shaping this work.</a:t>
            </a:r>
          </a:p>
          <a:p>
            <a:r>
              <a:rPr lang="en-GB" sz="2000" dirty="0">
                <a:latin typeface="Arial" panose="020B0604020202020204" pitchFamily="34" charset="0"/>
                <a:cs typeface="Arial" panose="020B0604020202020204" pitchFamily="34" charset="0"/>
              </a:rPr>
              <a:t>I also extend my sincere appreciation to my teammate, </a:t>
            </a:r>
            <a:r>
              <a:rPr lang="en-GB" sz="2000" b="1" dirty="0">
                <a:latin typeface="Arial" panose="020B0604020202020204" pitchFamily="34" charset="0"/>
                <a:cs typeface="Arial" panose="020B0604020202020204" pitchFamily="34" charset="0"/>
              </a:rPr>
              <a:t>Ayesha Akter</a:t>
            </a:r>
            <a:r>
              <a:rPr lang="en-GB" sz="2000" dirty="0">
                <a:latin typeface="Arial" panose="020B0604020202020204" pitchFamily="34" charset="0"/>
                <a:cs typeface="Arial" panose="020B0604020202020204" pitchFamily="34" charset="0"/>
              </a:rPr>
              <a:t>, for her collaboration, dedication, and contributions to the development of </a:t>
            </a:r>
            <a:r>
              <a:rPr lang="en-GB" sz="2000" b="1" dirty="0" err="1">
                <a:latin typeface="Arial" panose="020B0604020202020204" pitchFamily="34" charset="0"/>
                <a:cs typeface="Arial" panose="020B0604020202020204" pitchFamily="34" charset="0"/>
              </a:rPr>
              <a:t>HookGuard</a:t>
            </a:r>
            <a:r>
              <a:rPr lang="en-GB" sz="2000" b="1" dirty="0">
                <a:latin typeface="Arial" panose="020B0604020202020204" pitchFamily="34" charset="0"/>
                <a:cs typeface="Arial" panose="020B0604020202020204" pitchFamily="34" charset="0"/>
              </a:rPr>
              <a:t>: Runtime-Verified Detection of </a:t>
            </a:r>
            <a:r>
              <a:rPr lang="en-GB" sz="2000" b="1" dirty="0" err="1">
                <a:latin typeface="Arial" panose="020B0604020202020204" pitchFamily="34" charset="0"/>
                <a:cs typeface="Arial" panose="020B0604020202020204" pitchFamily="34" charset="0"/>
              </a:rPr>
              <a:t>npm</a:t>
            </a:r>
            <a:r>
              <a:rPr lang="en-GB" sz="2000" b="1" dirty="0">
                <a:latin typeface="Arial" panose="020B0604020202020204" pitchFamily="34" charset="0"/>
                <a:cs typeface="Arial" panose="020B0604020202020204" pitchFamily="34" charset="0"/>
              </a:rPr>
              <a:t> Malicious Packages</a:t>
            </a:r>
            <a:r>
              <a:rPr lang="en-GB" sz="2000" dirty="0">
                <a:latin typeface="Arial" panose="020B0604020202020204" pitchFamily="34" charset="0"/>
                <a:cs typeface="Arial" panose="020B0604020202020204" pitchFamily="34" charset="0"/>
              </a:rPr>
              <a:t>.</a:t>
            </a:r>
          </a:p>
          <a:p>
            <a:r>
              <a:rPr lang="en-GB" sz="2000" dirty="0">
                <a:latin typeface="Arial" panose="020B0604020202020204" pitchFamily="34" charset="0"/>
                <a:cs typeface="Arial" panose="020B0604020202020204" pitchFamily="34" charset="0"/>
              </a:rPr>
              <a:t>Furthermore, I am grateful to the faculty and staff of the Department of Computer Science and Engineering at Uttara University for providing an academic environment that supported this research. Finally, I would like to thank my family and friends for their unwavering encouragement and support throughout this journey.</a:t>
            </a:r>
          </a:p>
          <a:p>
            <a:pPr algn="l">
              <a:lnSpc>
                <a:spcPct val="118000"/>
              </a:lnSpc>
              <a:spcAft>
                <a:spcPts val="800"/>
              </a:spcAft>
            </a:pPr>
            <a:endParaRPr lang="en-GB" sz="1800" b="0" i="0" dirty="0">
              <a:solidFill>
                <a:srgbClr val="4A4A5C"/>
              </a:solidFill>
              <a:latin typeface="Arial"/>
            </a:endParaRPr>
          </a:p>
        </p:txBody>
      </p:sp>
      <p:sp>
        <p:nvSpPr>
          <p:cNvPr id="11" name="Rectangle 10"/>
          <p:cNvSpPr/>
          <p:nvPr/>
        </p:nvSpPr>
        <p:spPr>
          <a:xfrm>
            <a:off x="1051560" y="7269480"/>
            <a:ext cx="64008" cy="658368"/>
          </a:xfrm>
          <a:prstGeom prst="rect">
            <a:avLst/>
          </a:prstGeom>
          <a:solidFill>
            <a:srgbClr val="1200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endParaRPr/>
          </a:p>
        </p:txBody>
      </p:sp>
      <p:sp>
        <p:nvSpPr>
          <p:cNvPr id="12" name="TextBox 11"/>
          <p:cNvSpPr txBox="1"/>
          <p:nvPr/>
        </p:nvSpPr>
        <p:spPr>
          <a:xfrm>
            <a:off x="1298448" y="7333488"/>
            <a:ext cx="9144000" cy="502920"/>
          </a:xfrm>
          <a:prstGeom prst="rect">
            <a:avLst/>
          </a:prstGeom>
          <a:noFill/>
        </p:spPr>
        <p:txBody>
          <a:bodyPr wrap="square" lIns="0" tIns="0" rIns="0" bIns="0" anchor="t">
            <a:noAutofit/>
          </a:bodyPr>
          <a:lstStyle/>
          <a:p>
            <a:pPr algn="l"/>
            <a:r>
              <a:rPr sz="1550" b="1" i="0" dirty="0">
                <a:solidFill>
                  <a:srgbClr val="1200FF"/>
                </a:solidFill>
                <a:latin typeface="Arial"/>
              </a:rPr>
              <a:t>All errors and limitations remain my own.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1200FF"/>
        </a:solidFill>
        <a:effectLst/>
      </p:bgPr>
    </p:bg>
    <p:spTree>
      <p:nvGrpSpPr>
        <p:cNvPr id="1" name=""/>
        <p:cNvGrpSpPr/>
        <p:nvPr/>
      </p:nvGrpSpPr>
      <p:grpSpPr>
        <a:xfrm>
          <a:off x="0" y="0"/>
          <a:ext cx="0" cy="0"/>
          <a:chOff x="0" y="0"/>
          <a:chExt cx="0" cy="0"/>
        </a:xfrm>
      </p:grpSpPr>
      <p:sp>
        <p:nvSpPr>
          <p:cNvPr id="2" name="Shape 0"/>
          <p:cNvSpPr/>
          <p:nvPr/>
        </p:nvSpPr>
        <p:spPr>
          <a:xfrm>
            <a:off x="14097000" y="6477000"/>
            <a:ext cx="5905500" cy="5905500"/>
          </a:xfrm>
          <a:prstGeom prst="ellipse">
            <a:avLst/>
          </a:prstGeom>
          <a:solidFill>
            <a:srgbClr val="FFFFFF">
              <a:alpha val="6000"/>
            </a:srgbClr>
          </a:solidFill>
          <a:ln/>
        </p:spPr>
        <p:txBody>
          <a:bodyPr/>
          <a:lstStyle/>
          <a:p>
            <a:endParaRPr/>
          </a:p>
        </p:txBody>
      </p:sp>
      <p:sp>
        <p:nvSpPr>
          <p:cNvPr id="3" name="Shape 1"/>
          <p:cNvSpPr/>
          <p:nvPr/>
        </p:nvSpPr>
        <p:spPr>
          <a:xfrm>
            <a:off x="-1524000" y="-1905000"/>
            <a:ext cx="4572000" cy="4572000"/>
          </a:xfrm>
          <a:prstGeom prst="ellipse">
            <a:avLst/>
          </a:prstGeom>
          <a:solidFill>
            <a:srgbClr val="FFFFFF">
              <a:alpha val="5000"/>
            </a:srgbClr>
          </a:solidFill>
          <a:ln/>
        </p:spPr>
        <p:txBody>
          <a:bodyPr/>
          <a:lstStyle/>
          <a:p>
            <a:endParaRPr/>
          </a:p>
        </p:txBody>
      </p:sp>
      <p:sp>
        <p:nvSpPr>
          <p:cNvPr id="5" name="Text 2"/>
          <p:cNvSpPr/>
          <p:nvPr/>
        </p:nvSpPr>
        <p:spPr>
          <a:xfrm>
            <a:off x="6714929" y="4480560"/>
            <a:ext cx="4858024" cy="1127760"/>
          </a:xfrm>
          <a:prstGeom prst="rect">
            <a:avLst/>
          </a:prstGeom>
          <a:noFill/>
          <a:ln/>
        </p:spPr>
        <p:txBody>
          <a:bodyPr wrap="square" lIns="25400" tIns="25400" rIns="25400" bIns="25400" rtlCol="0" anchor="t">
            <a:normAutofit lnSpcReduction="10000"/>
          </a:bodyPr>
          <a:lstStyle/>
          <a:p>
            <a:pPr marL="0" indent="0" algn="ctr">
              <a:buNone/>
            </a:pPr>
            <a:r>
              <a:rPr lang="en-US" sz="7500" b="1" kern="0" spc="-75" dirty="0">
                <a:solidFill>
                  <a:srgbClr val="FFFFFF"/>
                </a:solidFill>
                <a:latin typeface="Arial" pitchFamily="34" charset="0"/>
                <a:ea typeface="Arial" pitchFamily="34" charset="-122"/>
                <a:cs typeface="Arial" pitchFamily="34" charset="-120"/>
              </a:rPr>
              <a:t>Thank You</a:t>
            </a:r>
            <a:endParaRPr lang="en-US" sz="7500" dirty="0"/>
          </a:p>
        </p:txBody>
      </p:sp>
      <p:sp>
        <p:nvSpPr>
          <p:cNvPr id="6" name="Text 3"/>
          <p:cNvSpPr/>
          <p:nvPr/>
        </p:nvSpPr>
        <p:spPr>
          <a:xfrm>
            <a:off x="7041696" y="5760720"/>
            <a:ext cx="4204490" cy="457200"/>
          </a:xfrm>
          <a:prstGeom prst="rect">
            <a:avLst/>
          </a:prstGeom>
          <a:noFill/>
          <a:ln/>
        </p:spPr>
        <p:txBody>
          <a:bodyPr wrap="square" lIns="25400" tIns="25400" rIns="25400" bIns="25400" rtlCol="0" anchor="t">
            <a:normAutofit lnSpcReduction="10000"/>
          </a:bodyPr>
          <a:lstStyle/>
          <a:p>
            <a:pPr marL="0" indent="0" algn="ctr">
              <a:buNone/>
            </a:pPr>
            <a:r>
              <a:rPr lang="en-US" sz="2850" dirty="0">
                <a:solidFill>
                  <a:srgbClr val="FFFFFF">
                    <a:alpha val="82000"/>
                  </a:srgbClr>
                </a:solidFill>
                <a:latin typeface="Arial" pitchFamily="34" charset="0"/>
                <a:ea typeface="Arial" pitchFamily="34" charset="-122"/>
                <a:cs typeface="Arial" pitchFamily="34" charset="-120"/>
              </a:rPr>
              <a:t>Questions &amp; Discussion</a:t>
            </a:r>
            <a:endParaRPr lang="en-US" sz="2850" dirty="0"/>
          </a:p>
        </p:txBody>
      </p:sp>
      <p:sp>
        <p:nvSpPr>
          <p:cNvPr id="7" name="Text 4"/>
          <p:cNvSpPr/>
          <p:nvPr/>
        </p:nvSpPr>
        <p:spPr>
          <a:xfrm>
            <a:off x="4849091" y="6439593"/>
            <a:ext cx="8132619" cy="681644"/>
          </a:xfrm>
          <a:prstGeom prst="rect">
            <a:avLst/>
          </a:prstGeom>
          <a:noFill/>
          <a:ln/>
        </p:spPr>
        <p:txBody>
          <a:bodyPr wrap="square" lIns="25400" tIns="25400" rIns="25400" bIns="25400" rtlCol="0" anchor="t">
            <a:normAutofit/>
          </a:bodyPr>
          <a:lstStyle/>
          <a:p>
            <a:pPr marL="0" indent="0" algn="ctr">
              <a:buNone/>
            </a:pPr>
            <a:r>
              <a:rPr lang="en-US" sz="1875" dirty="0">
                <a:solidFill>
                  <a:srgbClr val="FFFFFF">
                    <a:alpha val="72000"/>
                  </a:srgbClr>
                </a:solidFill>
                <a:latin typeface="Arial" pitchFamily="34" charset="0"/>
                <a:ea typeface="Arial" pitchFamily="34" charset="-122"/>
                <a:cs typeface="Arial" pitchFamily="34" charset="-120"/>
              </a:rPr>
              <a:t>[</a:t>
            </a:r>
            <a:r>
              <a:rPr lang="en-US" sz="1875" dirty="0" err="1">
                <a:solidFill>
                  <a:srgbClr val="FFFFFF">
                    <a:alpha val="72000"/>
                  </a:srgbClr>
                </a:solidFill>
                <a:latin typeface="Arial" pitchFamily="34" charset="0"/>
                <a:ea typeface="Arial" pitchFamily="34" charset="-122"/>
                <a:cs typeface="Arial" pitchFamily="34" charset="-120"/>
              </a:rPr>
              <a:t>Ashiqur</a:t>
            </a:r>
            <a:r>
              <a:rPr lang="en-US" sz="1875" dirty="0">
                <a:solidFill>
                  <a:srgbClr val="FFFFFF">
                    <a:alpha val="72000"/>
                  </a:srgbClr>
                </a:solidFill>
                <a:latin typeface="Arial" pitchFamily="34" charset="0"/>
                <a:ea typeface="Arial" pitchFamily="34" charset="-122"/>
                <a:cs typeface="Arial" pitchFamily="34" charset="-120"/>
              </a:rPr>
              <a:t> Rahman Bhuiyan ] · [2223081147@uttarauniversity.edu.bd]</a:t>
            </a:r>
            <a:endParaRPr lang="en-US" sz="1875" dirty="0"/>
          </a:p>
        </p:txBody>
      </p:sp>
      <p:pic>
        <p:nvPicPr>
          <p:cNvPr id="8" name="Picture 7" descr="image.png"/>
          <p:cNvPicPr>
            <a:picLocks noChangeAspect="1"/>
          </p:cNvPicPr>
          <p:nvPr/>
        </p:nvPicPr>
        <p:blipFill>
          <a:blip r:embed="rId3"/>
          <a:stretch>
            <a:fillRect/>
          </a:stretch>
        </p:blipFill>
        <p:spPr>
          <a:xfrm>
            <a:off x="8556070" y="3394710"/>
            <a:ext cx="1175742" cy="647700"/>
          </a:xfrm>
          <a:prstGeom prst="rect">
            <a:avLst/>
          </a:prstGeom>
        </p:spPr>
      </p:pic>
      <p:sp>
        <p:nvSpPr>
          <p:cNvPr id="11" name="TextBox 10">
            <a:extLst>
              <a:ext uri="{FF2B5EF4-FFF2-40B4-BE49-F238E27FC236}">
                <a16:creationId xmlns:a16="http://schemas.microsoft.com/office/drawing/2014/main" id="{02C65AE3-A385-E041-CC28-9B9479A70F07}"/>
              </a:ext>
            </a:extLst>
          </p:cNvPr>
          <p:cNvSpPr txBox="1"/>
          <p:nvPr/>
        </p:nvSpPr>
        <p:spPr>
          <a:xfrm>
            <a:off x="5384494" y="7292467"/>
            <a:ext cx="10764982" cy="380873"/>
          </a:xfrm>
          <a:prstGeom prst="rect">
            <a:avLst/>
          </a:prstGeom>
          <a:noFill/>
        </p:spPr>
        <p:txBody>
          <a:bodyPr wrap="square">
            <a:spAutoFit/>
          </a:bodyPr>
          <a:lstStyle/>
          <a:p>
            <a:r>
              <a:rPr kumimoji="0" lang="en-US" sz="1875" b="0" i="0" u="none" strike="noStrike" kern="1200" cap="none" spc="0" normalizeH="0" baseline="0" noProof="0" dirty="0">
                <a:ln>
                  <a:noFill/>
                </a:ln>
                <a:solidFill>
                  <a:srgbClr val="FFFFFF">
                    <a:alpha val="72000"/>
                  </a:srgbClr>
                </a:solidFill>
                <a:effectLst/>
                <a:uLnTx/>
                <a:uFillTx/>
                <a:latin typeface="Arial" pitchFamily="34" charset="0"/>
                <a:ea typeface="Arial" pitchFamily="34" charset="-122"/>
                <a:cs typeface="Arial" pitchFamily="34" charset="-120"/>
              </a:rPr>
              <a:t>[Ayesha Akter] · [</a:t>
            </a:r>
            <a:r>
              <a:rPr lang="en-US" sz="1875" dirty="0">
                <a:solidFill>
                  <a:srgbClr val="FFFFFF">
                    <a:alpha val="72000"/>
                  </a:srgbClr>
                </a:solidFill>
                <a:latin typeface="Arial" pitchFamily="34" charset="0"/>
                <a:ea typeface="Arial" pitchFamily="34" charset="-122"/>
                <a:cs typeface="Arial" pitchFamily="34" charset="-120"/>
              </a:rPr>
              <a:t>2223081110</a:t>
            </a:r>
            <a:r>
              <a:rPr kumimoji="0" lang="en-US" sz="1875" b="0" i="0" u="none" strike="noStrike" kern="1200" cap="none" spc="0" normalizeH="0" baseline="0" noProof="0" dirty="0">
                <a:ln>
                  <a:noFill/>
                </a:ln>
                <a:solidFill>
                  <a:srgbClr val="FFFFFF">
                    <a:alpha val="72000"/>
                  </a:srgbClr>
                </a:solidFill>
                <a:effectLst/>
                <a:uLnTx/>
                <a:uFillTx/>
                <a:latin typeface="Arial" pitchFamily="34" charset="0"/>
                <a:ea typeface="Arial" pitchFamily="34" charset="-122"/>
                <a:cs typeface="Arial" pitchFamily="34" charset="-120"/>
              </a:rPr>
              <a:t>@uttarauniversity.edu.bd ]</a:t>
            </a:r>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4744</Words>
  <Application>Microsoft Office PowerPoint</Application>
  <PresentationFormat>Custom</PresentationFormat>
  <Paragraphs>613</Paragraphs>
  <Slides>22</Slides>
  <Notes>22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22</vt:i4>
      </vt:variant>
    </vt:vector>
  </HeadingPairs>
  <TitlesOfParts>
    <vt:vector size="2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HookGuard: Runtime-Verified Detection of npm Malicious Packages</dc:title>
  <dc:subject>Thesis defense — Uttara University, Department of CSE</dc:subject>
  <dc:creator>HookGuard thesis author</dc:creator>
  <cp:keywords>npm; supply chain; eBPF; canary; malware detection; thesis defense</cp:keywords>
  <cp:lastModifiedBy>sys_root</cp:lastModifiedBy>
  <cp:revision>10</cp:revision>
  <dcterms:created xsi:type="dcterms:W3CDTF">2026-07-14T10:42:10Z</dcterms:created>
  <dcterms:modified xsi:type="dcterms:W3CDTF">2026-10-26T16:34:49Z</dcterms:modified>
</cp:coreProperties>
</file>